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bubble3D val="0"/>
            <c:spPr>
              <a:solidFill>
                <a:srgbClr val="2C7A7B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bubble3D val="0"/>
            <c:spPr>
              <a:solidFill>
                <a:srgbClr val="C9CFD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Must</c:v>
                </c:pt>
                <c:pt idx="1">
                  <c:v>Should</c:v>
                </c:pt>
                <c:pt idx="2">
                  <c:v>Could</c:v>
                </c:pt>
                <c:pt idx="3">
                  <c:v>Won't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16</c:v>
                </c:pt>
                <c:pt idx="1">
                  <c:v>14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NFR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bubble3D val="0"/>
            <c:spPr>
              <a:solidFill>
                <a:srgbClr val="2C7A7B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bubble3D val="0"/>
            <c:spPr>
              <a:solidFill>
                <a:srgbClr val="C9CFD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Must</c:v>
                </c:pt>
                <c:pt idx="1">
                  <c:v>Should</c:v>
                </c:pt>
                <c:pt idx="2">
                  <c:v>Could</c:v>
                </c:pt>
                <c:pt idx="3">
                  <c:v>Won't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16</c:v>
                </c:pt>
                <c:pt idx="1">
                  <c:v>13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13203A"/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663440"/>
            <a:ext cx="4206240" cy="4206240"/>
          </a:xfrm>
          <a:prstGeom prst="ellipse">
            <a:avLst/>
          </a:prstGeom>
          <a:solidFill>
            <a:srgbClr val="2C7A7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17352" y="548640"/>
            <a:ext cx="1463040" cy="1463040"/>
          </a:xfrm>
          <a:prstGeom prst="ellipse">
            <a:avLst/>
          </a:prstGeom>
          <a:solidFill>
            <a:srgbClr val="E8A33D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فاز اول پروژه مهندسی نرم‌افزار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سامانه یکپارچه آموزش آنلین مدارس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تحلیل و مهندسی نیازمندی‌ها بر پایه استاندارد IEEE 830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71516" y="4343400"/>
            <a:ext cx="164592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ارائه گروهی  •  نمودار هدف/مسئله  •  تحلیل ذی‌نفعان  •  SRS  •  ماتریس FR/NFR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فهرست مطالب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نقشه راه ارائه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72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۰۱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40827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مقدمه، هدف و دامنه سیستم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3076" y="1874520"/>
            <a:ext cx="53172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1676" y="201168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۰۲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28916" y="1874520"/>
            <a:ext cx="40827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معماری خدمت‌گرا (SOA)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172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0632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۰۳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40827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نمودار هدف و نمودار مسئله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23076" y="2926080"/>
            <a:ext cx="53172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1676" y="30632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۰۴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28916" y="2926080"/>
            <a:ext cx="40827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تحلیل ذی‌نفعان (Power–Interest)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172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1148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۰۵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3977640"/>
            <a:ext cx="40827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طبقه‌بندی کاربران و توابع اصلی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23076" y="3977640"/>
            <a:ext cx="53172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51676" y="41148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۰۶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28916" y="3977640"/>
            <a:ext cx="40827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نیازمندی‌های کارکردی (FR)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53172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16636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۰۷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554480" y="5029200"/>
            <a:ext cx="40827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نیازمندی‌های غیرکارکردی (NFR)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23076" y="5029200"/>
            <a:ext cx="53172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51676" y="516636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۰۸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28916" y="5029200"/>
            <a:ext cx="40827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ماتریس ردیابی و جمع‌بندی فاز اول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هدف و دامنه سند نیازمندی‌ها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این سند با الهام از سامانه‌های آموزشی ملی (مانند شبکه «شاد») و بر پایه معماری خدمت‌گرا (SOA) تدوین شده تا نیازمندی‌های نرم‌افزاری «سامانه یکپارچه آموزش آنلین مدارس» را به‌صورت دقیق، بدون ابهام و قابل ردیابی مستند کند.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532888" cy="2834640"/>
          </a:xfrm>
          <a:prstGeom prst="roundRect">
            <a:avLst>
              <a:gd name="adj" fmla="val 3610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522476" y="3200400"/>
            <a:ext cx="585216" cy="585216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2476" y="32004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2167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بستری یکپارچه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216712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تمرکز فرآیندهای آموزشی، ارتباطی و اداری مدارس در یک پلتفرم واحد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2880360"/>
            <a:ext cx="2532888" cy="2834640"/>
          </a:xfrm>
          <a:prstGeom prst="roundRect">
            <a:avLst>
              <a:gd name="adj" fmla="val 3610"/>
            </a:avLst>
          </a:prstGeom>
          <a:solidFill>
            <a:srgbClr val="2C7A7B"/>
          </a:solidFill>
          <a:ln/>
        </p:spPr>
      </p:sp>
      <p:sp>
        <p:nvSpPr>
          <p:cNvPr id="11" name="Shape 9"/>
          <p:cNvSpPr/>
          <p:nvPr/>
        </p:nvSpPr>
        <p:spPr>
          <a:xfrm>
            <a:off x="4375404" y="3200400"/>
            <a:ext cx="585216" cy="585216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5404" y="32004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84448" y="3977640"/>
            <a:ext cx="2167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مرجع رسمی چرخه توسعه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4448" y="4663440"/>
            <a:ext cx="216712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مبنای تحلیل، طراحی، پیاده‌سازی، آزمون، استقرار و نگهداری سیستم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4496" y="2880360"/>
            <a:ext cx="2532888" cy="2834640"/>
          </a:xfrm>
          <a:prstGeom prst="roundRect">
            <a:avLst>
              <a:gd name="adj" fmla="val 3610"/>
            </a:avLst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8332" y="3200400"/>
            <a:ext cx="585216" cy="585216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8332" y="32004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37376" y="3977640"/>
            <a:ext cx="2167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انطباق با IEEE 830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4663440"/>
            <a:ext cx="216712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تعریف دقیق، قابل آزمون و قابل ردیابی نیازمندی‌ها برای همه ذی‌نفعان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07424" y="2880360"/>
            <a:ext cx="2532888" cy="2834640"/>
          </a:xfrm>
          <a:prstGeom prst="roundRect">
            <a:avLst>
              <a:gd name="adj" fmla="val 3610"/>
            </a:avLst>
          </a:prstGeom>
          <a:solidFill>
            <a:srgbClr val="2C7A7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81260" y="3200400"/>
            <a:ext cx="585216" cy="585216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81260" y="32004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90304" y="3977640"/>
            <a:ext cx="2167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زبان مشترک تیم‌ها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90304" y="4663440"/>
            <a:ext cx="216712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ابزار ارتباطی میان تحلیل‌گران، معماران، توسعه‌دهندگان و آزمون‌گران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دامنه سیستم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دامنه سیستم و معماری خدمت‌گرا (SOA)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به‌عنوان یک پلتفرم چندسکویی وب/موبایل طراحی شده که هر قابلیت اصلی آن به‌صورت یک سرویس مستقل و خودکفا پیاده‌سازی می‌شود و از طریق APIهای استاندارد (REST) با سایر سرویس‌ها تعامل دارد.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89320" y="331012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989320" y="3310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36976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مقیاس‌پذیری افقی سرویس‌ها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89320" y="387705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3877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0390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کاهش وابستگی بین ماژول‌ها (Loose Coupling)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89320" y="4443984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4443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70832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توسعه و استقرار مستقل هر سرویس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89320" y="5010912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5010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افزایش قابلیت نگهداری و تست‌پذیری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178040" y="1645920"/>
            <a:ext cx="4462272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645920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کلاینت وب / موبایل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09176" y="2286000"/>
            <a:ext cx="0" cy="320040"/>
          </a:xfrm>
          <a:prstGeom prst="line">
            <a:avLst/>
          </a:prstGeom>
          <a:noFill/>
          <a:ln w="19050">
            <a:solidFill>
              <a:srgbClr val="6B7A9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178040" y="2606040"/>
            <a:ext cx="4462272" cy="54864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2606040"/>
            <a:ext cx="4462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09176" y="3154680"/>
            <a:ext cx="0" cy="274320"/>
          </a:xfrm>
          <a:prstGeom prst="line">
            <a:avLst/>
          </a:prstGeom>
          <a:noFill/>
          <a:ln w="19050">
            <a:solidFill>
              <a:srgbClr val="6B7A9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78040" y="3429000"/>
            <a:ext cx="1395984" cy="502920"/>
          </a:xfrm>
          <a:prstGeom prst="roundRect">
            <a:avLst>
              <a:gd name="adj" fmla="val 10909"/>
            </a:avLst>
          </a:prstGeom>
          <a:solidFill>
            <a:srgbClr val="2C7A7B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3429000"/>
            <a:ext cx="1395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احراز هویت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711184" y="3429000"/>
            <a:ext cx="1395984" cy="502920"/>
          </a:xfrm>
          <a:prstGeom prst="roundRect">
            <a:avLst>
              <a:gd name="adj" fmla="val 10909"/>
            </a:avLst>
          </a:prstGeom>
          <a:solidFill>
            <a:srgbClr val="2C7A7B"/>
          </a:solidFill>
          <a:ln/>
        </p:spPr>
      </p:sp>
      <p:sp>
        <p:nvSpPr>
          <p:cNvPr id="26" name="Text 24"/>
          <p:cNvSpPr/>
          <p:nvPr/>
        </p:nvSpPr>
        <p:spPr>
          <a:xfrm>
            <a:off x="8711184" y="3429000"/>
            <a:ext cx="1395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کلاس‌ها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244328" y="3429000"/>
            <a:ext cx="1395984" cy="502920"/>
          </a:xfrm>
          <a:prstGeom prst="roundRect">
            <a:avLst>
              <a:gd name="adj" fmla="val 10909"/>
            </a:avLst>
          </a:prstGeom>
          <a:solidFill>
            <a:srgbClr val="2C7A7B"/>
          </a:solidFill>
          <a:ln/>
        </p:spPr>
      </p:sp>
      <p:sp>
        <p:nvSpPr>
          <p:cNvPr id="28" name="Text 26"/>
          <p:cNvSpPr/>
          <p:nvPr/>
        </p:nvSpPr>
        <p:spPr>
          <a:xfrm>
            <a:off x="10244328" y="3429000"/>
            <a:ext cx="1395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محتوا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78040" y="4069080"/>
            <a:ext cx="1395984" cy="502920"/>
          </a:xfrm>
          <a:prstGeom prst="roundRect">
            <a:avLst>
              <a:gd name="adj" fmla="val 10909"/>
            </a:avLst>
          </a:prstGeom>
          <a:solidFill>
            <a:srgbClr val="2C7A7B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4069080"/>
            <a:ext cx="1395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آزمون/تکالیف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11184" y="4069080"/>
            <a:ext cx="1395984" cy="502920"/>
          </a:xfrm>
          <a:prstGeom prst="roundRect">
            <a:avLst>
              <a:gd name="adj" fmla="val 10909"/>
            </a:avLst>
          </a:prstGeom>
          <a:solidFill>
            <a:srgbClr val="2C7A7B"/>
          </a:solidFill>
          <a:ln/>
        </p:spPr>
      </p:sp>
      <p:sp>
        <p:nvSpPr>
          <p:cNvPr id="32" name="Text 30"/>
          <p:cNvSpPr/>
          <p:nvPr/>
        </p:nvSpPr>
        <p:spPr>
          <a:xfrm>
            <a:off x="8711184" y="4069080"/>
            <a:ext cx="1395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گزارش‌گیری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244328" y="4069080"/>
            <a:ext cx="1395984" cy="502920"/>
          </a:xfrm>
          <a:prstGeom prst="roundRect">
            <a:avLst>
              <a:gd name="adj" fmla="val 10909"/>
            </a:avLst>
          </a:prstGeom>
          <a:solidFill>
            <a:srgbClr val="2C7A7B"/>
          </a:solidFill>
          <a:ln/>
        </p:spPr>
      </p:sp>
      <p:sp>
        <p:nvSpPr>
          <p:cNvPr id="34" name="Text 32"/>
          <p:cNvSpPr/>
          <p:nvPr/>
        </p:nvSpPr>
        <p:spPr>
          <a:xfrm>
            <a:off x="10244328" y="4069080"/>
            <a:ext cx="1395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پیام‌رسانی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409176" y="4709160"/>
            <a:ext cx="0" cy="274320"/>
          </a:xfrm>
          <a:prstGeom prst="line">
            <a:avLst/>
          </a:prstGeom>
          <a:noFill/>
          <a:ln w="19050">
            <a:solidFill>
              <a:srgbClr val="6B7A99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7178040" y="4983480"/>
            <a:ext cx="4462272" cy="548640"/>
          </a:xfrm>
          <a:prstGeom prst="roundRect">
            <a:avLst>
              <a:gd name="adj" fmla="val 13333"/>
            </a:avLst>
          </a:prstGeom>
          <a:solidFill>
            <a:srgbClr val="13203A"/>
          </a:solidFill>
          <a:ln/>
        </p:spPr>
      </p:sp>
      <p:sp>
        <p:nvSpPr>
          <p:cNvPr id="37" name="Text 35"/>
          <p:cNvSpPr/>
          <p:nvPr/>
        </p:nvSpPr>
        <p:spPr>
          <a:xfrm>
            <a:off x="7178040" y="4983480"/>
            <a:ext cx="4462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پایگاه داده مرکزی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نمودار هدف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نمودار هدف (Goal Diagram)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ساختار سلسله‌مراتبی «چه چیزی» باید ساخته شود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59836" y="1874520"/>
            <a:ext cx="566928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259836" y="18745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ارائه بستر کارآمد برای آموزش آنلین مدارس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4476" y="2468880"/>
            <a:ext cx="-4279392" cy="274320"/>
          </a:xfrm>
          <a:prstGeom prst="line">
            <a:avLst/>
          </a:prstGeom>
          <a:noFill/>
          <a:ln w="19050">
            <a:solidFill>
              <a:srgbClr val="C7D0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2532888" cy="502920"/>
          </a:xfrm>
          <a:prstGeom prst="roundRect">
            <a:avLst>
              <a:gd name="adj" fmla="val 12727"/>
            </a:avLst>
          </a:prstGeom>
          <a:solidFill>
            <a:srgbClr val="2C7A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کاربران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6118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ثبت‌نام و ورود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436168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2452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نقش کاربران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511149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97433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احراز هویت والدین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4476" y="2468880"/>
            <a:ext cx="-1426464" cy="274320"/>
          </a:xfrm>
          <a:prstGeom prst="line">
            <a:avLst/>
          </a:prstGeom>
          <a:noFill/>
          <a:ln w="19050">
            <a:solidFill>
              <a:srgbClr val="C7D0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2743200"/>
            <a:ext cx="2532888" cy="502920"/>
          </a:xfrm>
          <a:prstGeom prst="roundRect">
            <a:avLst>
              <a:gd name="adj" fmla="val 12727"/>
            </a:avLst>
          </a:prstGeom>
          <a:solidFill>
            <a:srgbClr val="2C7A7B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2743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کلاس‌ها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01568" y="342900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36118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3538728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و مدیریت دوره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436168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3538728" y="422452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بارگذاری محتوا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511149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3538728" y="497433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ثبت‌نام دانش‌آموز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4476" y="2468880"/>
            <a:ext cx="1426464" cy="274320"/>
          </a:xfrm>
          <a:prstGeom prst="line">
            <a:avLst/>
          </a:prstGeom>
          <a:noFill/>
          <a:ln w="19050">
            <a:solidFill>
              <a:srgbClr val="C7D0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54496" y="2743200"/>
            <a:ext cx="2532888" cy="502920"/>
          </a:xfrm>
          <a:prstGeom prst="roundRect">
            <a:avLst>
              <a:gd name="adj" fmla="val 12727"/>
            </a:avLst>
          </a:prstGeom>
          <a:solidFill>
            <a:srgbClr val="2C7A7B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2743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پشتیبانی ارزیابی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54496" y="342900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36118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6391656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تعریف و ارسال تکلیف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19088" y="436168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6391656" y="422452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آزمون آنلین و نمره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19088" y="511149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6391656" y="497433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به والدین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94476" y="2468880"/>
            <a:ext cx="4279392" cy="274320"/>
          </a:xfrm>
          <a:prstGeom prst="line">
            <a:avLst/>
          </a:prstGeom>
          <a:noFill/>
          <a:ln w="19050">
            <a:solidFill>
              <a:srgbClr val="C7D0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07424" y="2743200"/>
            <a:ext cx="2532888" cy="502920"/>
          </a:xfrm>
          <a:prstGeom prst="roundRect">
            <a:avLst>
              <a:gd name="adj" fmla="val 12727"/>
            </a:avLst>
          </a:prstGeom>
          <a:solidFill>
            <a:srgbClr val="2C7A7B"/>
          </a:solidFill>
          <a:ln/>
        </p:spPr>
      </p:sp>
      <p:sp>
        <p:nvSpPr>
          <p:cNvPr id="39" name="Text 37"/>
          <p:cNvSpPr/>
          <p:nvPr/>
        </p:nvSpPr>
        <p:spPr>
          <a:xfrm>
            <a:off x="9107424" y="2743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دسترسی امن و پایدار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07424" y="342900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72016" y="36118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2" name="Text 40"/>
          <p:cNvSpPr/>
          <p:nvPr/>
        </p:nvSpPr>
        <p:spPr>
          <a:xfrm>
            <a:off x="9244584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احراز هویت کاربران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272016" y="436168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4" name="Text 42"/>
          <p:cNvSpPr/>
          <p:nvPr/>
        </p:nvSpPr>
        <p:spPr>
          <a:xfrm>
            <a:off x="9244584" y="422452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نگهداری امن اطلاعات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272016" y="511149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6" name="Text 44"/>
          <p:cNvSpPr/>
          <p:nvPr/>
        </p:nvSpPr>
        <p:spPr>
          <a:xfrm>
            <a:off x="9244584" y="497433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دسترسی پایدار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نمودار مسئله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نمودار مسئله (Problem Diagram)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ساختار سلسله‌مراتبی «چرا» این سیستم لازم است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11196" y="1874520"/>
            <a:ext cx="6766560" cy="594360"/>
          </a:xfrm>
          <a:prstGeom prst="roundRect">
            <a:avLst>
              <a:gd name="adj" fmla="val 12308"/>
            </a:avLst>
          </a:prstGeom>
          <a:solidFill>
            <a:srgbClr val="7A1F2B"/>
          </a:solidFill>
          <a:ln/>
        </p:spPr>
      </p:sp>
      <p:sp>
        <p:nvSpPr>
          <p:cNvPr id="6" name="Text 4"/>
          <p:cNvSpPr/>
          <p:nvPr/>
        </p:nvSpPr>
        <p:spPr>
          <a:xfrm>
            <a:off x="2711196" y="187452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نبود سیستم یکپارچه برای مدیریت فرآیندهای آموزشی مدرسه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4476" y="2468880"/>
            <a:ext cx="-4279392" cy="274320"/>
          </a:xfrm>
          <a:prstGeom prst="line">
            <a:avLst/>
          </a:prstGeom>
          <a:noFill/>
          <a:ln w="19050">
            <a:solidFill>
              <a:srgbClr val="E3C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2532888" cy="502920"/>
          </a:xfrm>
          <a:prstGeom prst="roundRect">
            <a:avLst>
              <a:gd name="adj" fmla="val 12727"/>
            </a:avLst>
          </a:prstGeom>
          <a:solidFill>
            <a:srgbClr val="A33B4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دسترسی به منابع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0DC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611880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پراکندگی منابع آموزشی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4361688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2452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دشواری دسترسی به مطالب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5111496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97433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دسترسی دائمی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4476" y="2468880"/>
            <a:ext cx="-1426464" cy="274320"/>
          </a:xfrm>
          <a:prstGeom prst="line">
            <a:avLst/>
          </a:prstGeom>
          <a:noFill/>
          <a:ln w="19050">
            <a:solidFill>
              <a:srgbClr val="E3C4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2743200"/>
            <a:ext cx="2532888" cy="502920"/>
          </a:xfrm>
          <a:prstGeom prst="roundRect">
            <a:avLst>
              <a:gd name="adj" fmla="val 12727"/>
            </a:avLst>
          </a:prstGeom>
          <a:solidFill>
            <a:srgbClr val="A33B45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2743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کلاس‌ها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01568" y="342900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0DC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3611880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22" name="Text 20"/>
          <p:cNvSpPr/>
          <p:nvPr/>
        </p:nvSpPr>
        <p:spPr>
          <a:xfrm>
            <a:off x="3538728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دشواری مدیریت کلاس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4361688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24" name="Text 22"/>
          <p:cNvSpPr/>
          <p:nvPr/>
        </p:nvSpPr>
        <p:spPr>
          <a:xfrm>
            <a:off x="3538728" y="422452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دشواری تعامل معلم/دانش‌آموز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5111496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26" name="Text 24"/>
          <p:cNvSpPr/>
          <p:nvPr/>
        </p:nvSpPr>
        <p:spPr>
          <a:xfrm>
            <a:off x="3538728" y="497433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نبود سیستم متمرکز محتوا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4476" y="2468880"/>
            <a:ext cx="1426464" cy="274320"/>
          </a:xfrm>
          <a:prstGeom prst="line">
            <a:avLst/>
          </a:prstGeom>
          <a:noFill/>
          <a:ln w="19050">
            <a:solidFill>
              <a:srgbClr val="E3C4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54496" y="2743200"/>
            <a:ext cx="2532888" cy="502920"/>
          </a:xfrm>
          <a:prstGeom prst="roundRect">
            <a:avLst>
              <a:gd name="adj" fmla="val 12727"/>
            </a:avLst>
          </a:prstGeom>
          <a:solidFill>
            <a:srgbClr val="A33B45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2743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ارزیابی آموزشی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54496" y="342900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0DC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3611880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32" name="Text 30"/>
          <p:cNvSpPr/>
          <p:nvPr/>
        </p:nvSpPr>
        <p:spPr>
          <a:xfrm>
            <a:off x="6391656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زمان‌بر بودن تصحیح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19088" y="4361688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34" name="Text 32"/>
          <p:cNvSpPr/>
          <p:nvPr/>
        </p:nvSpPr>
        <p:spPr>
          <a:xfrm>
            <a:off x="6391656" y="422452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تأخیر در اعلام نمرات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19088" y="5111496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36" name="Text 34"/>
          <p:cNvSpPr/>
          <p:nvPr/>
        </p:nvSpPr>
        <p:spPr>
          <a:xfrm>
            <a:off x="6391656" y="497433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اطلاع آنی والدین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94476" y="2468880"/>
            <a:ext cx="4279392" cy="274320"/>
          </a:xfrm>
          <a:prstGeom prst="line">
            <a:avLst/>
          </a:prstGeom>
          <a:noFill/>
          <a:ln w="19050">
            <a:solidFill>
              <a:srgbClr val="E3C4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07424" y="2743200"/>
            <a:ext cx="2532888" cy="502920"/>
          </a:xfrm>
          <a:prstGeom prst="roundRect">
            <a:avLst>
              <a:gd name="adj" fmla="val 12727"/>
            </a:avLst>
          </a:prstGeom>
          <a:solidFill>
            <a:srgbClr val="A33B45"/>
          </a:solidFill>
          <a:ln/>
        </p:spPr>
      </p:sp>
      <p:sp>
        <p:nvSpPr>
          <p:cNvPr id="39" name="Text 37"/>
          <p:cNvSpPr/>
          <p:nvPr/>
        </p:nvSpPr>
        <p:spPr>
          <a:xfrm>
            <a:off x="9107424" y="2743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هماهنگی اطلاعات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07424" y="342900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0DC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72016" y="3611880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42" name="Text 40"/>
          <p:cNvSpPr/>
          <p:nvPr/>
        </p:nvSpPr>
        <p:spPr>
          <a:xfrm>
            <a:off x="9244584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پراکندگی اطلاعات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272016" y="4361688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44" name="Text 42"/>
          <p:cNvSpPr/>
          <p:nvPr/>
        </p:nvSpPr>
        <p:spPr>
          <a:xfrm>
            <a:off x="9244584" y="422452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نبود سیستم مرکزی داده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272016" y="5111496"/>
            <a:ext cx="128016" cy="128016"/>
          </a:xfrm>
          <a:prstGeom prst="ellipse">
            <a:avLst/>
          </a:prstGeom>
          <a:solidFill>
            <a:srgbClr val="A33B45"/>
          </a:solidFill>
          <a:ln/>
        </p:spPr>
      </p:sp>
      <p:sp>
        <p:nvSpPr>
          <p:cNvPr id="46" name="Text 44"/>
          <p:cNvSpPr/>
          <p:nvPr/>
        </p:nvSpPr>
        <p:spPr>
          <a:xfrm>
            <a:off x="9244584" y="497433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دسترسی والدین به وضعیت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تحلیل ذی‌نفعان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شناسایی ذی‌نفعان بر پایه مدل قدرت–علاقه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طراحی سیستمی متناسب با نیاز واقعی کاربران، ذی‌نفعان اصلی پلتفرم بر اساس مدل Interest–Power تحلیل شده‌اند تا میزان قدرت تأثیرگذاری و علاقه هر گروه نسبت به سیستم مشخص گردد.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1998878" cy="265176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2319" y="3246120"/>
            <a:ext cx="731520" cy="73152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7" name="Text 5"/>
          <p:cNvSpPr/>
          <p:nvPr/>
        </p:nvSpPr>
        <p:spPr>
          <a:xfrm>
            <a:off x="1182319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1815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دانش‌آموز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4572000"/>
            <a:ext cx="172455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کاربر اصلی و مصرف‌کننده نهایی سیستم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21838" y="2971800"/>
            <a:ext cx="1998878" cy="265176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55518" y="3246120"/>
            <a:ext cx="731520" cy="73152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2" name="Text 10"/>
          <p:cNvSpPr/>
          <p:nvPr/>
        </p:nvSpPr>
        <p:spPr>
          <a:xfrm>
            <a:off x="3455518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13278" y="4114800"/>
            <a:ext cx="1815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معلم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58998" y="4572000"/>
            <a:ext cx="172455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تولیدکننده محتوا و مسئول ارزیابی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95037" y="2971800"/>
            <a:ext cx="1998878" cy="265176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28716" y="3246120"/>
            <a:ext cx="731520" cy="73152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7" name="Text 15"/>
          <p:cNvSpPr/>
          <p:nvPr/>
        </p:nvSpPr>
        <p:spPr>
          <a:xfrm>
            <a:off x="5728716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86477" y="4114800"/>
            <a:ext cx="1815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والدین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32197" y="4572000"/>
            <a:ext cx="172455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نقش نظارتی بر روند تحصیلی فرزند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8235" y="2971800"/>
            <a:ext cx="1998878" cy="265176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01914" y="32461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914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59675" y="4114800"/>
            <a:ext cx="1815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 مدرسه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05395" y="4572000"/>
            <a:ext cx="172455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مالک پروژه و تصمیم‌گیرنده اصلی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41434" y="2971800"/>
            <a:ext cx="1998878" cy="265176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75113" y="32461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275113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732874" y="4114800"/>
            <a:ext cx="1815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 سیستم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778594" y="4572000"/>
            <a:ext cx="172455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مسئول فنی، امنیت و پایداری سامانه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تحلیل ذی‌نفعان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ماتریس قدرت–علاقه ذی‌نفعان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474720" cy="2286000"/>
          </a:xfrm>
          <a:prstGeom prst="rect">
            <a:avLst/>
          </a:prstGeom>
          <a:solidFill>
            <a:srgbClr val="EEF2F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691640"/>
            <a:ext cx="3474720" cy="2286000"/>
          </a:xfrm>
          <a:prstGeom prst="rect">
            <a:avLst/>
          </a:prstGeom>
          <a:solidFill>
            <a:srgbClr val="DCEE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977640"/>
            <a:ext cx="3474720" cy="2286000"/>
          </a:xfrm>
          <a:prstGeom prst="rect">
            <a:avLst/>
          </a:prstGeom>
          <a:solidFill>
            <a:srgbClr val="F5F6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3977640"/>
            <a:ext cx="3474720" cy="2286000"/>
          </a:xfrm>
          <a:prstGeom prst="rect">
            <a:avLst/>
          </a:prstGeom>
          <a:solidFill>
            <a:srgbClr val="FBEFD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راضی نگه دارید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کلیدی (بازیگران اصلی)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5897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پایش حداقلی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0" y="5897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مطلع نگه دارید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130759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علاقه (Interest) 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" y="3794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قدرت (Power) 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15998" y="2258568"/>
            <a:ext cx="237744" cy="237744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1910" y="25054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دانش‌آموز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78808" y="2121408"/>
            <a:ext cx="237744" cy="237744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3682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88920" y="2578608"/>
            <a:ext cx="237744" cy="237744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28254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والدین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41618" y="2029968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7530" y="22768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 مدرسه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9595" y="3172968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5507" y="34198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 سیستم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1783080"/>
            <a:ext cx="34107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1892808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دانش‌آموزان و معلمان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94192" y="228600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بیشترین تعامل روزانه با سامانه؛ نیازهای آن‌ها اولویت طراحی رابط کاربری است.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0" y="3291840"/>
            <a:ext cx="34107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3401568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مدیران مدرسه و سیستم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94192" y="379476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بالاترین قدرت تصمیم‌گیری؛ تأیید بودجه، معماری و سیاست‌های امنیتی.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4800600"/>
            <a:ext cx="34107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4910328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والدین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94192" y="530352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علاقه بالا برای نظارت بر وضعیت تحصیلی فرزند، قدرت تصمیم‌گیری محدود.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تحلیل ذی‌نفعان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جدول تحلیل ذی‌نفعان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1148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3108960"/>
                <a:gridCol w="1188720"/>
                <a:gridCol w="1188720"/>
              </a:tblGrid>
              <a:tr h="6858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ذی‌نفع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اهداف اصلی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نگرانی اصلی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قدرت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علاقه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دانش‌آموز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دسترسی آسان، ارسال تکالیف، مشاهده نمرات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کندی سیستم، از دست رفتن اطلاعات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کم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بالا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معلم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ایجاد و مدیریت کلاس، ارزیابی دانش‌آموزان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پیچیدگی سیستم، مشکل بارگذاری محتوا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متوسط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بالا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والدین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آگاهی از وضعیت تحصیلی فرزند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امنیت اطلاعات، کیفیت آموزش آنلین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کم تا متوسط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بالا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مدیر مدرسه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نظارت بر کیفیت کلاس‌ها و عملکرد آموزشی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کاهش کیفیت، نبود گزارش دقیق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بالا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بالا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مدیر سیستم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مدیریت فنی، امنیت و پایداری سامانه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حملات سایبری، خرابی سرور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بالا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بالا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توصیف کلی سیستم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طبقه‌بندی کاربران سیستم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98878" cy="4206240"/>
          </a:xfrm>
          <a:prstGeom prst="roundRect">
            <a:avLst>
              <a:gd name="adj" fmla="val 4575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136599" y="2286000"/>
            <a:ext cx="822960" cy="82296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6599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17245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دانش‌آموز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163311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در کلاس‌ها، مشاهده محتوا، انجام تکالیف و شرکت در آزمون‌ها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21838" y="1920240"/>
            <a:ext cx="1998878" cy="4206240"/>
          </a:xfrm>
          <a:prstGeom prst="roundRect">
            <a:avLst>
              <a:gd name="adj" fmla="val 4575"/>
            </a:avLst>
          </a:prstGeom>
          <a:solidFill>
            <a:srgbClr val="2C7A7B"/>
          </a:solidFill>
          <a:ln/>
        </p:spPr>
      </p:sp>
      <p:sp>
        <p:nvSpPr>
          <p:cNvPr id="10" name="Shape 8"/>
          <p:cNvSpPr/>
          <p:nvPr/>
        </p:nvSpPr>
        <p:spPr>
          <a:xfrm>
            <a:off x="3409798" y="2286000"/>
            <a:ext cx="822960" cy="82296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9798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58998" y="3291840"/>
            <a:ext cx="17245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04718" y="3886200"/>
            <a:ext cx="163311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تولید محتوا، برگزاری کلاس، طراحی تکالیف/آزمون و ارزیابی عملکرد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95037" y="1920240"/>
            <a:ext cx="1998878" cy="4206240"/>
          </a:xfrm>
          <a:prstGeom prst="roundRect">
            <a:avLst>
              <a:gd name="adj" fmla="val 4575"/>
            </a:avLst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5682996" y="2286000"/>
            <a:ext cx="822960" cy="82296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2996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232197" y="3291840"/>
            <a:ext cx="17245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والدین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77917" y="3886200"/>
            <a:ext cx="163311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مشاهده وضعیت تحصیلی فرزند و دریافت گزارش‌های آموزشی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8235" y="1920240"/>
            <a:ext cx="1998878" cy="4206240"/>
          </a:xfrm>
          <a:prstGeom prst="roundRect">
            <a:avLst>
              <a:gd name="adj" fmla="val 4575"/>
            </a:avLst>
          </a:prstGeom>
          <a:solidFill>
            <a:srgbClr val="2C7A7B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6194" y="2286000"/>
            <a:ext cx="822960" cy="82296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6194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05395" y="3291840"/>
            <a:ext cx="17245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 مدرسه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51115" y="3886200"/>
            <a:ext cx="163311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ساختار آموزشی، کلاس‌ها و نظارت کلی بر فرآیندها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41434" y="1920240"/>
            <a:ext cx="1998878" cy="4206240"/>
          </a:xfrm>
          <a:prstGeom prst="roundRect">
            <a:avLst>
              <a:gd name="adj" fmla="val 4575"/>
            </a:avLst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29393" y="2286000"/>
            <a:ext cx="822960" cy="82296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29393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778594" y="3291840"/>
            <a:ext cx="17245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 سیستم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24314" y="3886200"/>
            <a:ext cx="163311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زیرساخت فنی، امنیت، پایداری و سرویس‌های سامانه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توصیف کلی سیستم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توابع اصلی سیستم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1350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9362" y="214884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6" name="Text 4"/>
          <p:cNvSpPr/>
          <p:nvPr/>
        </p:nvSpPr>
        <p:spPr>
          <a:xfrm>
            <a:off x="1299362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هویت و دسترسی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18181" y="1965960"/>
            <a:ext cx="201350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8903" y="214884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10" name="Text 8"/>
          <p:cNvSpPr/>
          <p:nvPr/>
        </p:nvSpPr>
        <p:spPr>
          <a:xfrm>
            <a:off x="3568903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09621" y="27432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کلاس‌ها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87722" y="1965960"/>
            <a:ext cx="201350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38444" y="214884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14" name="Text 12"/>
          <p:cNvSpPr/>
          <p:nvPr/>
        </p:nvSpPr>
        <p:spPr>
          <a:xfrm>
            <a:off x="5838444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79162" y="27432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برگزاری کلاس آنلین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57262" y="1965960"/>
            <a:ext cx="201350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7985" y="214884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18" name="Text 16"/>
          <p:cNvSpPr/>
          <p:nvPr/>
        </p:nvSpPr>
        <p:spPr>
          <a:xfrm>
            <a:off x="8107985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48702" y="27432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محتوای آموزشی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26803" y="1965960"/>
            <a:ext cx="201350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377526" y="214884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22" name="Text 20"/>
          <p:cNvSpPr/>
          <p:nvPr/>
        </p:nvSpPr>
        <p:spPr>
          <a:xfrm>
            <a:off x="10377526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18243" y="27432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تکالیف و ارزیابی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01350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99362" y="40690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26" name="Text 24"/>
          <p:cNvSpPr/>
          <p:nvPr/>
        </p:nvSpPr>
        <p:spPr>
          <a:xfrm>
            <a:off x="1299362" y="4069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66344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آزمون آنلین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818181" y="3886200"/>
            <a:ext cx="201350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68903" y="40690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30" name="Text 28"/>
          <p:cNvSpPr/>
          <p:nvPr/>
        </p:nvSpPr>
        <p:spPr>
          <a:xfrm>
            <a:off x="3568903" y="4069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909621" y="466344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و غیاب الکترونیک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87722" y="3886200"/>
            <a:ext cx="201350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38444" y="40690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34" name="Text 32"/>
          <p:cNvSpPr/>
          <p:nvPr/>
        </p:nvSpPr>
        <p:spPr>
          <a:xfrm>
            <a:off x="5838444" y="4069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79162" y="466344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پیام‌رسان داخلی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57262" y="3886200"/>
            <a:ext cx="201350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07985" y="40690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38" name="Text 36"/>
          <p:cNvSpPr/>
          <p:nvPr/>
        </p:nvSpPr>
        <p:spPr>
          <a:xfrm>
            <a:off x="8107985" y="4069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48702" y="466344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اعلان‌ها و اطلاع‌رسانی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626803" y="3886200"/>
            <a:ext cx="2013509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377526" y="40690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42" name="Text 40"/>
          <p:cNvSpPr/>
          <p:nvPr/>
        </p:nvSpPr>
        <p:spPr>
          <a:xfrm>
            <a:off x="10377526" y="4069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718243" y="466344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گزارش‌گیری و تحلیل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نیازمندی‌های کارکردی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نیازمندی‌های کارکردی (FR) — نگاه کلی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CEEEE"/>
          </a:solidFill>
          <a:ln/>
        </p:spPr>
      </p:sp>
      <p:sp>
        <p:nvSpPr>
          <p:cNvPr id="5" name="Shape 3"/>
          <p:cNvSpPr/>
          <p:nvPr/>
        </p:nvSpPr>
        <p:spPr>
          <a:xfrm>
            <a:off x="3410712" y="1911096"/>
            <a:ext cx="292608" cy="292608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6" name="Text 4"/>
          <p:cNvSpPr/>
          <p:nvPr/>
        </p:nvSpPr>
        <p:spPr>
          <a:xfrm>
            <a:off x="3410712" y="1911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کاربران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82880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CEEEE"/>
          </a:solidFill>
          <a:ln/>
        </p:spPr>
      </p:sp>
      <p:sp>
        <p:nvSpPr>
          <p:cNvPr id="9" name="Shape 7"/>
          <p:cNvSpPr/>
          <p:nvPr/>
        </p:nvSpPr>
        <p:spPr>
          <a:xfrm>
            <a:off x="6885432" y="1911096"/>
            <a:ext cx="292608" cy="292608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0" name="Text 8"/>
          <p:cNvSpPr/>
          <p:nvPr/>
        </p:nvSpPr>
        <p:spPr>
          <a:xfrm>
            <a:off x="6885432" y="1911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کلاس‌ها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C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3410712" y="2514600"/>
            <a:ext cx="292608" cy="292608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4323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آموزش آنلین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023360" y="2432304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C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885432" y="2514600"/>
            <a:ext cx="292608" cy="292608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8" name="Text 16"/>
          <p:cNvSpPr/>
          <p:nvPr/>
        </p:nvSpPr>
        <p:spPr>
          <a:xfrm>
            <a:off x="6885432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24323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محتوا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035808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CEEEE"/>
          </a:solidFill>
          <a:ln/>
        </p:spPr>
      </p:sp>
      <p:sp>
        <p:nvSpPr>
          <p:cNvPr id="21" name="Shape 19"/>
          <p:cNvSpPr/>
          <p:nvPr/>
        </p:nvSpPr>
        <p:spPr>
          <a:xfrm>
            <a:off x="3410712" y="3118104"/>
            <a:ext cx="292608" cy="292608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22" name="Text 20"/>
          <p:cNvSpPr/>
          <p:nvPr/>
        </p:nvSpPr>
        <p:spPr>
          <a:xfrm>
            <a:off x="3410712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035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تکالیف و ارزیابی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023360" y="3035808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CEEEE"/>
          </a:solidFill>
          <a:ln/>
        </p:spPr>
      </p:sp>
      <p:sp>
        <p:nvSpPr>
          <p:cNvPr id="25" name="Shape 23"/>
          <p:cNvSpPr/>
          <p:nvPr/>
        </p:nvSpPr>
        <p:spPr>
          <a:xfrm>
            <a:off x="6885432" y="3118104"/>
            <a:ext cx="292608" cy="292608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26" name="Text 24"/>
          <p:cNvSpPr/>
          <p:nvPr/>
        </p:nvSpPr>
        <p:spPr>
          <a:xfrm>
            <a:off x="6885432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3035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آزمون آنلین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639312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CEEEE"/>
          </a:solidFill>
          <a:ln/>
        </p:spPr>
      </p:sp>
      <p:sp>
        <p:nvSpPr>
          <p:cNvPr id="29" name="Shape 27"/>
          <p:cNvSpPr/>
          <p:nvPr/>
        </p:nvSpPr>
        <p:spPr>
          <a:xfrm>
            <a:off x="3410712" y="3721608"/>
            <a:ext cx="292608" cy="292608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30" name="Text 28"/>
          <p:cNvSpPr/>
          <p:nvPr/>
        </p:nvSpPr>
        <p:spPr>
          <a:xfrm>
            <a:off x="3410712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36393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و غیاب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023360" y="3639312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CEEEE"/>
          </a:solidFill>
          <a:ln/>
        </p:spPr>
      </p:sp>
      <p:sp>
        <p:nvSpPr>
          <p:cNvPr id="33" name="Shape 31"/>
          <p:cNvSpPr/>
          <p:nvPr/>
        </p:nvSpPr>
        <p:spPr>
          <a:xfrm>
            <a:off x="6885432" y="3721608"/>
            <a:ext cx="292608" cy="292608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34" name="Text 32"/>
          <p:cNvSpPr/>
          <p:nvPr/>
        </p:nvSpPr>
        <p:spPr>
          <a:xfrm>
            <a:off x="6885432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36393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پیام‌رسانی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242816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CEEEE"/>
          </a:solidFill>
          <a:ln/>
        </p:spPr>
      </p:sp>
      <p:sp>
        <p:nvSpPr>
          <p:cNvPr id="37" name="Shape 35"/>
          <p:cNvSpPr/>
          <p:nvPr/>
        </p:nvSpPr>
        <p:spPr>
          <a:xfrm>
            <a:off x="3410712" y="4325112"/>
            <a:ext cx="292608" cy="292608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38" name="Text 36"/>
          <p:cNvSpPr/>
          <p:nvPr/>
        </p:nvSpPr>
        <p:spPr>
          <a:xfrm>
            <a:off x="3410712" y="4325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424281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اعلان‌ها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023360" y="4242816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CEEEE"/>
          </a:solidFill>
          <a:ln/>
        </p:spPr>
      </p:sp>
      <p:sp>
        <p:nvSpPr>
          <p:cNvPr id="41" name="Shape 39"/>
          <p:cNvSpPr/>
          <p:nvPr/>
        </p:nvSpPr>
        <p:spPr>
          <a:xfrm>
            <a:off x="6885432" y="4325112"/>
            <a:ext cx="292608" cy="292608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2" name="Text 40"/>
          <p:cNvSpPr/>
          <p:nvPr/>
        </p:nvSpPr>
        <p:spPr>
          <a:xfrm>
            <a:off x="6885432" y="4325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60520" y="424281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گزارش‌گیری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452360" y="1783080"/>
            <a:ext cx="4187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توزیع اولویت (مجموع ۴۰ نیازمندی)</a:t>
            </a:r>
            <a:endParaRPr lang="en-US" sz="125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7452360" y="2194560"/>
          <a:ext cx="418795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نیازمندی‌های کارکردی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نمونه نیازمندی‌های کارکردی کلیدی (Must)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4023360"/>
        </p:xfrm>
        <a:graphic>
          <a:graphicData uri="http://schemas.openxmlformats.org/drawingml/2006/table">
            <a:tbl>
              <a:tblPr/>
              <a:tblGrid>
                <a:gridCol w="1188720"/>
                <a:gridCol w="6126480"/>
                <a:gridCol w="3291840"/>
                <a:gridCol w="1399032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نیازمندی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سرویس مرتبط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اولویت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امکان ثبت‌نام و احراز هویت کاربران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ایجاد، حذف و ویرایش کلاس آموزشی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Management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بارگذاری و دسته‌بندی محتوای آموزشی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Management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و برگزاری آزمون آنلین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تصحیح، ثبت و نمایش نمرات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Grading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برگزاری کلاس‌های آنلین و مدیریت جلسه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 Class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نیازمندی‌های غیرکارکردی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نیازمندی‌های غیرکارکردی (NFR) — نگاه کلی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537960" cy="512064"/>
          </a:xfrm>
          <a:prstGeom prst="roundRect">
            <a:avLst>
              <a:gd name="adj" fmla="val 10714"/>
            </a:avLst>
          </a:prstGeom>
          <a:solidFill>
            <a:srgbClr val="EFF3FA"/>
          </a:solidFill>
          <a:ln/>
        </p:spPr>
      </p:sp>
      <p:sp>
        <p:nvSpPr>
          <p:cNvPr id="5" name="Shape 3"/>
          <p:cNvSpPr/>
          <p:nvPr/>
        </p:nvSpPr>
        <p:spPr>
          <a:xfrm>
            <a:off x="6665976" y="192938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665976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کارایی (Performance)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6537960" cy="512064"/>
          </a:xfrm>
          <a:prstGeom prst="roundRect">
            <a:avLst>
              <a:gd name="adj" fmla="val 10714"/>
            </a:avLst>
          </a:prstGeom>
          <a:solidFill>
            <a:srgbClr val="DCEEEE"/>
          </a:solidFill>
          <a:ln/>
        </p:spPr>
      </p:sp>
      <p:sp>
        <p:nvSpPr>
          <p:cNvPr id="9" name="Shape 7"/>
          <p:cNvSpPr/>
          <p:nvPr/>
        </p:nvSpPr>
        <p:spPr>
          <a:xfrm>
            <a:off x="6665976" y="256946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665976" y="2569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امنیت (Security)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6537960" cy="512064"/>
          </a:xfrm>
          <a:prstGeom prst="roundRect">
            <a:avLst>
              <a:gd name="adj" fmla="val 10714"/>
            </a:avLst>
          </a:prstGeom>
          <a:solidFill>
            <a:srgbClr val="EFF3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65976" y="320954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665976" y="3209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108960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قابلیت اطمینان (Reliability)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6537960" cy="512064"/>
          </a:xfrm>
          <a:prstGeom prst="roundRect">
            <a:avLst>
              <a:gd name="adj" fmla="val 10714"/>
            </a:avLst>
          </a:prstGeom>
          <a:solidFill>
            <a:srgbClr val="DC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665976" y="384962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665976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749040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مقیاس‌پذیری (Scalability)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6537960" cy="512064"/>
          </a:xfrm>
          <a:prstGeom prst="roundRect">
            <a:avLst>
              <a:gd name="adj" fmla="val 10714"/>
            </a:avLst>
          </a:prstGeom>
          <a:solidFill>
            <a:srgbClr val="EFF3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65976" y="448970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665976" y="4489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389120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قابلیت استفاده (Usability)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6537960" cy="512064"/>
          </a:xfrm>
          <a:prstGeom prst="roundRect">
            <a:avLst>
              <a:gd name="adj" fmla="val 10714"/>
            </a:avLst>
          </a:prstGeom>
          <a:solidFill>
            <a:srgbClr val="DCEEEE"/>
          </a:solidFill>
          <a:ln/>
        </p:spPr>
      </p:sp>
      <p:sp>
        <p:nvSpPr>
          <p:cNvPr id="25" name="Shape 23"/>
          <p:cNvSpPr/>
          <p:nvPr/>
        </p:nvSpPr>
        <p:spPr>
          <a:xfrm>
            <a:off x="6665976" y="512978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665976" y="5129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5029200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نگهداری‌پذیری (Maintainability)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6537960" cy="512064"/>
          </a:xfrm>
          <a:prstGeom prst="roundRect">
            <a:avLst>
              <a:gd name="adj" fmla="val 10714"/>
            </a:avLst>
          </a:prstGeom>
          <a:solidFill>
            <a:srgbClr val="EFF3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665976" y="576986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665976" y="57698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5669280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سازگاری (Compatibility)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52360" y="1783080"/>
            <a:ext cx="4187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توزیع اولویت (مجموع ۳۶ نیازمندی)</a:t>
            </a:r>
            <a:endParaRPr lang="en-US" sz="12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7452360" y="2194560"/>
          <a:ext cx="418795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نیازمندی‌های غیرکارکردی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نمونه نیازمندی‌های غیرکارکردی کلیدی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4023360"/>
        </p:xfrm>
        <a:graphic>
          <a:graphicData uri="http://schemas.openxmlformats.org/drawingml/2006/table">
            <a:tbl>
              <a:tblPr/>
              <a:tblGrid>
                <a:gridCol w="2103120"/>
                <a:gridCol w="5669280"/>
                <a:gridCol w="2404872"/>
                <a:gridCol w="18288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ویژگی کیفی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نیازمندی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روش ارزیابی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اولویت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کارایی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زمان پاسخ سرویس‌های اصلی کمتر از ۳ ثانیه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تست کارایی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امنیت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ارتباطات امن مبتنی بر TLS/HTTPS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تست امنیت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مقیاس‌پذیری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پشتیبانی از حداقل ۱۰۰ هزار کاربر همزمان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تست بار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قابلیت اطمینان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دسترس‌پذیری حداقل ۹۹.۵٪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تست دسترس‌پذیری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استقرار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استقرار در زیرساخت‌های ابری و داخلی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بازبینی استقرار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سازگاری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پشتیبانی از مرورگرها و سیستم‌عامل‌های رایج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تست سازگاری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Should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7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ماتریس ردیابی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ماتریس ردیابی نیازمندی‌ها (Traceability)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نیازمندی کارکردی به یک سرویس مشخص در معماری SOA و ذی‌نفع اصلی آن مرتبط می‌شود؛ این ردیابی امکان اولویت‌بندی دقیق و پوشش کامل نیازها را در فازهای بعدی تضمین می‌کند.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2377440"/>
        </p:xfrm>
        <a:graphic>
          <a:graphicData uri="http://schemas.openxmlformats.org/drawingml/2006/table">
            <a:tbl>
              <a:tblPr/>
              <a:tblGrid>
                <a:gridCol w="1051560"/>
                <a:gridCol w="3291840"/>
                <a:gridCol w="3246120"/>
                <a:gridCol w="1965960"/>
                <a:gridCol w="15361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نیازمندی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سرویس مرتبط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ذی‌نفع اصلی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اولویت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FR-01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ثبت‌نام و احراز هویت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همه کاربران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FR-04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ایجاد و مدیریت کلاس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Management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معلم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طراحی و برگزاری آزمون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دانش‌آموز/معلم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FR-18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مشاهده وضعیت تحصیلی فرزند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 Portal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والدین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Should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گزارش تحلیلی عملکرد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مدیر مدرسه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Should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7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مسیر مشابه برای ماتریس NFR نیز تعریف شده: هر ویژگی کیفی → لایه معماری مرتبط → روش آزمون اختصاصی.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2" y="411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جمع‌بندی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جمع‌بندی دستاوردهای فاز اول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8581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48656" y="20848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248656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379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نمودار هدف و مسئله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9286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تعیین محدوده سیستم و ریشه‌یابی مسائل موجود در فرآیندهای آموزشی سنتی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4496" y="1828800"/>
            <a:ext cx="538581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54512" y="20848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095451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83096" y="2011680"/>
            <a:ext cx="4379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تحلیل ذی‌نفعان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83096" y="2514600"/>
            <a:ext cx="49286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شناسایی ۵ ذی‌نفع اصلی بر پایه مدل قدرت–علاقه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38581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48656" y="37764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248656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4379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سند SRS (IEEE 830)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49286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مستندسازی کامل دامنه، رابط‌ها، نیازمندی‌های کارکردی و غیرکارکردی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4496" y="3520440"/>
            <a:ext cx="538581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54512" y="37764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10954512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83096" y="3703320"/>
            <a:ext cx="4379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ماتریس FR/NFR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83096" y="4206240"/>
            <a:ext cx="49286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۴۰ نیازمندی کارکردی و ۳۶ نیازمندی غیرکارکردی با اولویت‌بندی MoSCoW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4924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گام بعدی: طراحی معماری تفصیلی سرویس‌ها و مدل داده بر پایه نیازمندی‌های مستندشده در این فاز.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3203A"/>
          </a:solidFill>
          <a:ln/>
        </p:spPr>
      </p:sp>
      <p:sp>
        <p:nvSpPr>
          <p:cNvPr id="3" name="Shape 1"/>
          <p:cNvSpPr/>
          <p:nvPr/>
        </p:nvSpPr>
        <p:spPr>
          <a:xfrm>
            <a:off x="10177272" y="-1828800"/>
            <a:ext cx="3840480" cy="3840480"/>
          </a:xfrm>
          <a:prstGeom prst="ellipse">
            <a:avLst/>
          </a:prstGeom>
          <a:solidFill>
            <a:srgbClr val="2C7A7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با تشکر از توجه شما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271516" y="3520440"/>
            <a:ext cx="164592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آماده پاسخ‌گویی به سوالات شما درباره فاز اول پروژه هستیم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آنلین مدارس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2026-07-10T05:18:34Z</dcterms:created>
  <dcterms:modified xsi:type="dcterms:W3CDTF">2026-07-10T05:18:34Z</dcterms:modified>
</cp:coreProperties>
</file>