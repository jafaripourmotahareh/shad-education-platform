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image" Target="../media/image11.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2" Type="http://schemas.openxmlformats.org/officeDocument/2006/relationships/notesSlide" Target="../notesSlides/notesSlide5.xml"/><Relationship Id="rId11" Type="http://schemas.openxmlformats.org/officeDocument/2006/relationships/slideLayout" Target="../slideLayouts/slideLayout1.xml"/><Relationship Id="rId10" Type="http://schemas.openxmlformats.org/officeDocument/2006/relationships/image" Target="../media/image1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21.png"/><Relationship Id="rId2" Type="http://schemas.openxmlformats.org/officeDocument/2006/relationships/image" Target="../media/image10.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22.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7.png"/><Relationship Id="rId3"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065A82">
              <a:alpha val="45000"/>
            </a:srgbClr>
          </a:solidFill>
        </p:spPr>
      </p:sp>
      <p:sp>
        <p:nvSpPr>
          <p:cNvPr id="3" name="Shape 1"/>
          <p:cNvSpPr/>
          <p:nvPr/>
        </p:nvSpPr>
        <p:spPr>
          <a:xfrm>
            <a:off x="-1645920" y="4754880"/>
            <a:ext cx="3291840" cy="3291840"/>
          </a:xfrm>
          <a:prstGeom prst="ellipse">
            <a:avLst/>
          </a:prstGeom>
          <a:solidFill>
            <a:srgbClr val="1C7293">
              <a:alpha val="45000"/>
            </a:srgbClr>
          </a:solidFill>
        </p:spPr>
      </p:sp>
      <p:sp>
        <p:nvSpPr>
          <p:cNvPr id="4" name="Shape 2"/>
          <p:cNvSpPr/>
          <p:nvPr/>
        </p:nvSpPr>
        <p:spPr>
          <a:xfrm>
            <a:off x="5568696" y="1074420"/>
            <a:ext cx="1051560" cy="1051560"/>
          </a:xfrm>
          <a:prstGeom prst="ellipse">
            <a:avLst/>
          </a:prstGeom>
          <a:solidFill>
            <a:srgbClr val="02C39A"/>
          </a:solidFill>
          <a:effectLst>
            <a:outerShdw blurRad="76200" dist="25400" dir="5400000" algn="bl" rotWithShape="0">
              <a:srgbClr val="1B2A4A">
                <a:alpha val="25000"/>
              </a:srgbClr>
            </a:outerShdw>
          </a:effectLst>
        </p:spPr>
      </p:sp>
      <p:pic>
        <p:nvPicPr>
          <p:cNvPr id="5" name="Image 0" descr="/home/claude/build/icons/diagram.png"/>
          <p:cNvPicPr>
            <a:picLocks noChangeAspect="1"/>
          </p:cNvPicPr>
          <p:nvPr/>
        </p:nvPicPr>
        <p:blipFill>
          <a:blip r:embed="rId1"/>
          <a:stretch>
            <a:fillRect/>
          </a:stretch>
        </p:blipFill>
        <p:spPr>
          <a:xfrm>
            <a:off x="5842102" y="1347826"/>
            <a:ext cx="504749" cy="504749"/>
          </a:xfrm>
          <a:prstGeom prst="rect">
            <a:avLst/>
          </a:prstGeom>
        </p:spPr>
      </p:pic>
      <p:sp>
        <p:nvSpPr>
          <p:cNvPr id="6" name="Text 3"/>
          <p:cNvSpPr/>
          <p:nvPr/>
        </p:nvSpPr>
        <p:spPr>
          <a:xfrm>
            <a:off x="914400" y="2514600"/>
            <a:ext cx="10360152" cy="1005840"/>
          </a:xfrm>
          <a:prstGeom prst="rect">
            <a:avLst/>
          </a:prstGeom>
          <a:noFill/>
        </p:spPr>
        <p:txBody>
          <a:bodyPr wrap="square" rtlCol="0" anchor="ctr"/>
          <a:lstStyle/>
          <a:p>
            <a:pPr marL="0" indent="0" algn="ctr" rtl="1">
              <a:buNone/>
            </a:pPr>
            <a:r>
              <a:rPr lang="en-US" sz="4000" b="1" dirty="0">
                <a:solidFill>
                  <a:srgbClr val="FFFFFF"/>
                </a:solidFill>
                <a:latin typeface="Arial" panose="020B0604020202020204" pitchFamily="34" charset="0"/>
                <a:ea typeface="Arial" panose="020B0604020202020204" pitchFamily="34" charset="-122"/>
                <a:cs typeface="Arial" panose="020B0604020202020204" pitchFamily="34" charset="-120"/>
              </a:rPr>
              <a:t>طراحی تفصیلی رابط‌های برنامه‌نویسی (API)</a:t>
            </a:r>
            <a:endParaRPr lang="en-US" sz="4000" dirty="0"/>
          </a:p>
        </p:txBody>
      </p:sp>
      <p:sp>
        <p:nvSpPr>
          <p:cNvPr id="7" name="Text 4"/>
          <p:cNvSpPr/>
          <p:nvPr/>
        </p:nvSpPr>
        <p:spPr>
          <a:xfrm>
            <a:off x="914400" y="3429000"/>
            <a:ext cx="10360152" cy="640080"/>
          </a:xfrm>
          <a:prstGeom prst="rect">
            <a:avLst/>
          </a:prstGeom>
          <a:noFill/>
        </p:spPr>
        <p:txBody>
          <a:bodyPr wrap="square" rtlCol="0" anchor="ctr"/>
          <a:lstStyle/>
          <a:p>
            <a:pPr marL="0" indent="0" algn="ctr" rtl="1">
              <a:buNone/>
            </a:pPr>
            <a:r>
              <a:rPr lang="en-US" sz="2200" dirty="0">
                <a:solidFill>
                  <a:srgbClr val="CADCFC"/>
                </a:solidFill>
                <a:latin typeface="Arial" panose="020B0604020202020204" pitchFamily="34" charset="0"/>
                <a:ea typeface="Arial" panose="020B0604020202020204" pitchFamily="34" charset="-122"/>
                <a:cs typeface="Arial" panose="020B0604020202020204" pitchFamily="34" charset="-120"/>
              </a:rPr>
              <a:t>سامانه یکپارچه آموزش آنلاین مدارس</a:t>
            </a:r>
            <a:endParaRPr lang="en-US" sz="2200" dirty="0"/>
          </a:p>
        </p:txBody>
      </p:sp>
      <p:sp>
        <p:nvSpPr>
          <p:cNvPr id="8" name="Shape 5"/>
          <p:cNvSpPr/>
          <p:nvPr/>
        </p:nvSpPr>
        <p:spPr>
          <a:xfrm>
            <a:off x="4937760" y="4160520"/>
            <a:ext cx="2286000" cy="0"/>
          </a:xfrm>
          <a:prstGeom prst="line">
            <a:avLst/>
          </a:prstGeom>
          <a:noFill/>
          <a:ln w="25400">
            <a:solidFill>
              <a:srgbClr val="02C39A"/>
            </a:solidFill>
            <a:prstDash val="solid"/>
          </a:ln>
        </p:spPr>
      </p:sp>
      <p:sp>
        <p:nvSpPr>
          <p:cNvPr id="9" name="Text 6"/>
          <p:cNvSpPr/>
          <p:nvPr/>
        </p:nvSpPr>
        <p:spPr>
          <a:xfrm>
            <a:off x="914400" y="4343400"/>
            <a:ext cx="10360152" cy="548640"/>
          </a:xfrm>
          <a:prstGeom prst="rect">
            <a:avLst/>
          </a:prstGeom>
          <a:noFill/>
        </p:spPr>
        <p:txBody>
          <a:bodyPr wrap="square" rtlCol="0" anchor="ctr"/>
          <a:lstStyle/>
          <a:p>
            <a:pPr marL="0" indent="0" algn="ctr" rtl="1">
              <a:buNone/>
            </a:pPr>
            <a:r>
              <a:rPr lang="en-US" sz="1500" dirty="0">
                <a:solidFill>
                  <a:srgbClr val="9FB8CE"/>
                </a:solidFill>
                <a:latin typeface="Arial" panose="020B0604020202020204" pitchFamily="34" charset="0"/>
                <a:ea typeface="Arial" panose="020B0604020202020204" pitchFamily="34" charset="-122"/>
                <a:cs typeface="Arial" panose="020B0604020202020204" pitchFamily="34" charset="-120"/>
              </a:rPr>
              <a:t>فاز پنجم: طراحی تفصیلی سیستم  |  ارزیابی اصول SOLID  |  الگوهای طراحی GoF</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908792" cy="731520"/>
          </a:xfrm>
          <a:prstGeom prst="rect">
            <a:avLst/>
          </a:prstGeom>
          <a:noFill/>
        </p:spPr>
        <p:txBody>
          <a:bodyPr wrap="square" rtlCol="0" anchor="ctr"/>
          <a:lstStyle/>
          <a:p>
            <a:pPr marL="0" indent="0" algn="r" rtl="1">
              <a:buNone/>
            </a:pPr>
            <a:r>
              <a:rPr lang="en-US" sz="3000" b="1" dirty="0">
                <a:solidFill>
                  <a:srgbClr val="13314D"/>
                </a:solidFill>
                <a:latin typeface="Arial" panose="020B0604020202020204" pitchFamily="34" charset="0"/>
                <a:ea typeface="Arial" panose="020B0604020202020204" pitchFamily="34" charset="-122"/>
                <a:cs typeface="Arial" panose="020B0604020202020204" pitchFamily="34" charset="-120"/>
              </a:rPr>
              <a:t>مقدمه و اهداف طراحی API</a:t>
            </a:r>
            <a:endParaRPr lang="en-US" sz="3000" dirty="0"/>
          </a:p>
        </p:txBody>
      </p:sp>
      <p:sp>
        <p:nvSpPr>
          <p:cNvPr id="3" name="Shape 1"/>
          <p:cNvSpPr/>
          <p:nvPr/>
        </p:nvSpPr>
        <p:spPr>
          <a:xfrm>
            <a:off x="640080" y="1371600"/>
            <a:ext cx="5212080" cy="4846320"/>
          </a:xfrm>
          <a:prstGeom prst="roundRect">
            <a:avLst>
              <a:gd name="adj" fmla="val 2264"/>
            </a:avLst>
          </a:prstGeom>
          <a:solidFill>
            <a:srgbClr val="065A82"/>
          </a:solidFill>
        </p:spPr>
      </p:sp>
      <p:sp>
        <p:nvSpPr>
          <p:cNvPr id="4" name="Text 2"/>
          <p:cNvSpPr/>
          <p:nvPr/>
        </p:nvSpPr>
        <p:spPr>
          <a:xfrm>
            <a:off x="960120" y="1691640"/>
            <a:ext cx="4572000" cy="4297680"/>
          </a:xfrm>
          <a:prstGeom prst="rect">
            <a:avLst/>
          </a:prstGeom>
          <a:noFill/>
        </p:spPr>
        <p:txBody>
          <a:bodyPr wrap="square" rtlCol="0" anchor="t"/>
          <a:lstStyle/>
          <a:p>
            <a:pPr marL="0" indent="0" algn="r" rtl="1">
              <a:lnSpc>
                <a:spcPct val="135000"/>
              </a:lnSpc>
              <a:buNone/>
            </a:pPr>
            <a:r>
              <a:rPr lang="en-US" sz="1550" dirty="0">
                <a:solidFill>
                  <a:srgbClr val="FFFFFF"/>
                </a:solidFill>
                <a:latin typeface="Arial" panose="020B0604020202020204" pitchFamily="34" charset="0"/>
                <a:ea typeface="Arial" panose="020B0604020202020204" pitchFamily="34" charset="-122"/>
                <a:cs typeface="Arial" panose="020B0604020202020204" pitchFamily="34" charset="-120"/>
              </a:rPr>
              <a:t>در فاز طراحی تفصیلی، معماری مفهومی سامانه (کلاینت–سرور، لایه‌ای، خدمت‌گرا و رویدادمحور) به مشخصات فنی قابل پیاده‌سازی تبدیل می‌شود. رابط‌های برنامه‌نویسی (API) تنها مسیر رسمی ارتباط میان سرویس‌های مستقل سامانه هستند و کیفیت طراحی آن‌ها مستقیماً بر امنیت، کارایی، توسعه‌پذیری و یکپارچگی کل سامانه اثرگذار است.</a:t>
            </a:r>
            <a:endParaRPr lang="en-US" sz="1550" dirty="0"/>
          </a:p>
        </p:txBody>
      </p:sp>
      <p:sp>
        <p:nvSpPr>
          <p:cNvPr id="5" name="Shape 3"/>
          <p:cNvSpPr/>
          <p:nvPr/>
        </p:nvSpPr>
        <p:spPr>
          <a:xfrm>
            <a:off x="10698480" y="1417320"/>
            <a:ext cx="640080" cy="640080"/>
          </a:xfrm>
          <a:prstGeom prst="ellipse">
            <a:avLst/>
          </a:prstGeom>
          <a:solidFill>
            <a:srgbClr val="1C7293"/>
          </a:solidFill>
          <a:effectLst>
            <a:outerShdw blurRad="76200" dist="25400" dir="5400000" algn="bl" rotWithShape="0">
              <a:srgbClr val="1B2A4A">
                <a:alpha val="25000"/>
              </a:srgbClr>
            </a:outerShdw>
          </a:effectLst>
        </p:spPr>
      </p:sp>
      <p:pic>
        <p:nvPicPr>
          <p:cNvPr id="6" name="Image 0" descr="/home/claude/build/icons/link.png"/>
          <p:cNvPicPr>
            <a:picLocks noChangeAspect="1"/>
          </p:cNvPicPr>
          <p:nvPr/>
        </p:nvPicPr>
        <p:blipFill>
          <a:blip r:embed="rId1"/>
          <a:stretch>
            <a:fillRect/>
          </a:stretch>
        </p:blipFill>
        <p:spPr>
          <a:xfrm>
            <a:off x="10864901" y="1583741"/>
            <a:ext cx="307238" cy="307238"/>
          </a:xfrm>
          <a:prstGeom prst="rect">
            <a:avLst/>
          </a:prstGeom>
        </p:spPr>
      </p:pic>
      <p:sp>
        <p:nvSpPr>
          <p:cNvPr id="7" name="Text 4"/>
          <p:cNvSpPr/>
          <p:nvPr/>
        </p:nvSpPr>
        <p:spPr>
          <a:xfrm>
            <a:off x="6126480" y="1417320"/>
            <a:ext cx="4434840" cy="777240"/>
          </a:xfrm>
          <a:prstGeom prst="rect">
            <a:avLst/>
          </a:prstGeom>
          <a:noFill/>
        </p:spPr>
        <p:txBody>
          <a:bodyPr wrap="square" rtlCol="0" anchor="ctr"/>
          <a:lstStyle/>
          <a:p>
            <a:pPr marL="0" indent="0" algn="r" rtl="1">
              <a:buNone/>
            </a:pPr>
            <a:r>
              <a:rPr lang="en-US" sz="1450" dirty="0">
                <a:solidFill>
                  <a:srgbClr val="13314D"/>
                </a:solidFill>
                <a:latin typeface="Arial" panose="020B0604020202020204" pitchFamily="34" charset="0"/>
                <a:ea typeface="Arial" panose="020B0604020202020204" pitchFamily="34" charset="-122"/>
                <a:cs typeface="Arial" panose="020B0604020202020204" pitchFamily="34" charset="-120"/>
              </a:rPr>
              <a:t>قرارداد ارتباطی استاندارد میان تمامی سرویس‌ها</a:t>
            </a:r>
            <a:endParaRPr lang="en-US" sz="1450" dirty="0"/>
          </a:p>
        </p:txBody>
      </p:sp>
      <p:sp>
        <p:nvSpPr>
          <p:cNvPr id="8" name="Shape 5"/>
          <p:cNvSpPr/>
          <p:nvPr/>
        </p:nvSpPr>
        <p:spPr>
          <a:xfrm>
            <a:off x="10698480" y="2331720"/>
            <a:ext cx="640080" cy="640080"/>
          </a:xfrm>
          <a:prstGeom prst="ellipse">
            <a:avLst/>
          </a:prstGeom>
          <a:solidFill>
            <a:srgbClr val="1C7293"/>
          </a:solidFill>
          <a:effectLst>
            <a:outerShdw blurRad="76200" dist="25400" dir="5400000" algn="bl" rotWithShape="0">
              <a:srgbClr val="1B2A4A">
                <a:alpha val="25000"/>
              </a:srgbClr>
            </a:outerShdw>
          </a:effectLst>
        </p:spPr>
      </p:sp>
      <p:pic>
        <p:nvPicPr>
          <p:cNvPr id="9" name="Image 1" descr="/home/claude/build/icons/puzzle.png"/>
          <p:cNvPicPr>
            <a:picLocks noChangeAspect="1"/>
          </p:cNvPicPr>
          <p:nvPr/>
        </p:nvPicPr>
        <p:blipFill>
          <a:blip r:embed="rId2"/>
          <a:stretch>
            <a:fillRect/>
          </a:stretch>
        </p:blipFill>
        <p:spPr>
          <a:xfrm>
            <a:off x="10864901" y="2498141"/>
            <a:ext cx="307238" cy="307238"/>
          </a:xfrm>
          <a:prstGeom prst="rect">
            <a:avLst/>
          </a:prstGeom>
        </p:spPr>
      </p:pic>
      <p:sp>
        <p:nvSpPr>
          <p:cNvPr id="10" name="Text 6"/>
          <p:cNvSpPr/>
          <p:nvPr/>
        </p:nvSpPr>
        <p:spPr>
          <a:xfrm>
            <a:off x="6126480" y="2331720"/>
            <a:ext cx="4434840" cy="777240"/>
          </a:xfrm>
          <a:prstGeom prst="rect">
            <a:avLst/>
          </a:prstGeom>
          <a:noFill/>
        </p:spPr>
        <p:txBody>
          <a:bodyPr wrap="square" rtlCol="0" anchor="ctr"/>
          <a:lstStyle/>
          <a:p>
            <a:pPr marL="0" indent="0" algn="r" rtl="1">
              <a:buNone/>
            </a:pPr>
            <a:r>
              <a:rPr lang="en-US" sz="1450" dirty="0">
                <a:solidFill>
                  <a:srgbClr val="13314D"/>
                </a:solidFill>
                <a:latin typeface="Arial" panose="020B0604020202020204" pitchFamily="34" charset="0"/>
                <a:ea typeface="Arial" panose="020B0604020202020204" pitchFamily="34" charset="-122"/>
                <a:cs typeface="Arial" panose="020B0604020202020204" pitchFamily="34" charset="-120"/>
              </a:rPr>
              <a:t>کاهش وابستگی میان زیرسیستم‌ها (Loose Coupling)</a:t>
            </a:r>
            <a:endParaRPr lang="en-US" sz="1450" dirty="0"/>
          </a:p>
        </p:txBody>
      </p:sp>
      <p:sp>
        <p:nvSpPr>
          <p:cNvPr id="11" name="Shape 7"/>
          <p:cNvSpPr/>
          <p:nvPr/>
        </p:nvSpPr>
        <p:spPr>
          <a:xfrm>
            <a:off x="10698480" y="3246120"/>
            <a:ext cx="640080" cy="640080"/>
          </a:xfrm>
          <a:prstGeom prst="ellipse">
            <a:avLst/>
          </a:prstGeom>
          <a:solidFill>
            <a:srgbClr val="1C7293"/>
          </a:solidFill>
          <a:effectLst>
            <a:outerShdw blurRad="76200" dist="25400" dir="5400000" algn="bl" rotWithShape="0">
              <a:srgbClr val="1B2A4A">
                <a:alpha val="25000"/>
              </a:srgbClr>
            </a:outerShdw>
          </a:effectLst>
        </p:spPr>
      </p:sp>
      <p:pic>
        <p:nvPicPr>
          <p:cNvPr id="12" name="Image 2" descr="/home/claude/build/icons/cogs.png"/>
          <p:cNvPicPr>
            <a:picLocks noChangeAspect="1"/>
          </p:cNvPicPr>
          <p:nvPr/>
        </p:nvPicPr>
        <p:blipFill>
          <a:blip r:embed="rId3"/>
          <a:stretch>
            <a:fillRect/>
          </a:stretch>
        </p:blipFill>
        <p:spPr>
          <a:xfrm>
            <a:off x="10864901" y="3412541"/>
            <a:ext cx="307238" cy="307238"/>
          </a:xfrm>
          <a:prstGeom prst="rect">
            <a:avLst/>
          </a:prstGeom>
        </p:spPr>
      </p:pic>
      <p:sp>
        <p:nvSpPr>
          <p:cNvPr id="13" name="Text 8"/>
          <p:cNvSpPr/>
          <p:nvPr/>
        </p:nvSpPr>
        <p:spPr>
          <a:xfrm>
            <a:off x="6126480" y="3246120"/>
            <a:ext cx="4434840" cy="777240"/>
          </a:xfrm>
          <a:prstGeom prst="rect">
            <a:avLst/>
          </a:prstGeom>
          <a:noFill/>
        </p:spPr>
        <p:txBody>
          <a:bodyPr wrap="square" rtlCol="0" anchor="ctr"/>
          <a:lstStyle/>
          <a:p>
            <a:pPr marL="0" indent="0" algn="r" rtl="1">
              <a:buNone/>
            </a:pPr>
            <a:r>
              <a:rPr lang="en-US" sz="1450" dirty="0">
                <a:solidFill>
                  <a:srgbClr val="13314D"/>
                </a:solidFill>
                <a:latin typeface="Arial" panose="020B0604020202020204" pitchFamily="34" charset="0"/>
                <a:ea typeface="Arial" panose="020B0604020202020204" pitchFamily="34" charset="-122"/>
                <a:cs typeface="Arial" panose="020B0604020202020204" pitchFamily="34" charset="-120"/>
              </a:rPr>
              <a:t>توسعه مستقل هر سرویس توسط تیم‌های مختلف</a:t>
            </a:r>
            <a:endParaRPr lang="en-US" sz="1450" dirty="0"/>
          </a:p>
        </p:txBody>
      </p:sp>
      <p:sp>
        <p:nvSpPr>
          <p:cNvPr id="14" name="Shape 9"/>
          <p:cNvSpPr/>
          <p:nvPr/>
        </p:nvSpPr>
        <p:spPr>
          <a:xfrm>
            <a:off x="10698480" y="4160520"/>
            <a:ext cx="640080" cy="640080"/>
          </a:xfrm>
          <a:prstGeom prst="ellipse">
            <a:avLst/>
          </a:prstGeom>
          <a:solidFill>
            <a:srgbClr val="1C7293"/>
          </a:solidFill>
          <a:effectLst>
            <a:outerShdw blurRad="76200" dist="25400" dir="5400000" algn="bl" rotWithShape="0">
              <a:srgbClr val="1B2A4A">
                <a:alpha val="25000"/>
              </a:srgbClr>
            </a:outerShdw>
          </a:effectLst>
        </p:spPr>
      </p:sp>
      <p:pic>
        <p:nvPicPr>
          <p:cNvPr id="15" name="Image 3" descr="/home/claude/build/icons/layer.png"/>
          <p:cNvPicPr>
            <a:picLocks noChangeAspect="1"/>
          </p:cNvPicPr>
          <p:nvPr/>
        </p:nvPicPr>
        <p:blipFill>
          <a:blip r:embed="rId4"/>
          <a:stretch>
            <a:fillRect/>
          </a:stretch>
        </p:blipFill>
        <p:spPr>
          <a:xfrm>
            <a:off x="10864901" y="4326941"/>
            <a:ext cx="307238" cy="307238"/>
          </a:xfrm>
          <a:prstGeom prst="rect">
            <a:avLst/>
          </a:prstGeom>
        </p:spPr>
      </p:pic>
      <p:sp>
        <p:nvSpPr>
          <p:cNvPr id="16" name="Text 10"/>
          <p:cNvSpPr/>
          <p:nvPr/>
        </p:nvSpPr>
        <p:spPr>
          <a:xfrm>
            <a:off x="6126480" y="4160520"/>
            <a:ext cx="4434840" cy="777240"/>
          </a:xfrm>
          <a:prstGeom prst="rect">
            <a:avLst/>
          </a:prstGeom>
          <a:noFill/>
        </p:spPr>
        <p:txBody>
          <a:bodyPr wrap="square" rtlCol="0" anchor="ctr"/>
          <a:lstStyle/>
          <a:p>
            <a:pPr marL="0" indent="0" algn="r" rtl="1">
              <a:buNone/>
            </a:pPr>
            <a:r>
              <a:rPr lang="en-US" sz="1450" dirty="0">
                <a:solidFill>
                  <a:srgbClr val="13314D"/>
                </a:solidFill>
                <a:latin typeface="Arial" panose="020B0604020202020204" pitchFamily="34" charset="0"/>
                <a:ea typeface="Arial" panose="020B0604020202020204" pitchFamily="34" charset="-122"/>
                <a:cs typeface="Arial" panose="020B0604020202020204" pitchFamily="34" charset="-120"/>
              </a:rPr>
              <a:t>قابلیت استفاده مجدد در ماژول‌ها و کلاینت‌های گوناگون</a:t>
            </a:r>
            <a:endParaRPr lang="en-US" sz="1450" dirty="0"/>
          </a:p>
        </p:txBody>
      </p:sp>
      <p:sp>
        <p:nvSpPr>
          <p:cNvPr id="17" name="Shape 11"/>
          <p:cNvSpPr/>
          <p:nvPr/>
        </p:nvSpPr>
        <p:spPr>
          <a:xfrm>
            <a:off x="10698480" y="5074920"/>
            <a:ext cx="640080" cy="640080"/>
          </a:xfrm>
          <a:prstGeom prst="ellipse">
            <a:avLst/>
          </a:prstGeom>
          <a:solidFill>
            <a:srgbClr val="1C7293"/>
          </a:solidFill>
          <a:effectLst>
            <a:outerShdw blurRad="76200" dist="25400" dir="5400000" algn="bl" rotWithShape="0">
              <a:srgbClr val="1B2A4A">
                <a:alpha val="25000"/>
              </a:srgbClr>
            </a:outerShdw>
          </a:effectLst>
        </p:spPr>
      </p:sp>
      <p:pic>
        <p:nvPicPr>
          <p:cNvPr id="18" name="Image 4" descr="/home/claude/build/icons/diagram.png"/>
          <p:cNvPicPr>
            <a:picLocks noChangeAspect="1"/>
          </p:cNvPicPr>
          <p:nvPr/>
        </p:nvPicPr>
        <p:blipFill>
          <a:blip r:embed="rId5"/>
          <a:stretch>
            <a:fillRect/>
          </a:stretch>
        </p:blipFill>
        <p:spPr>
          <a:xfrm>
            <a:off x="10864901" y="5241341"/>
            <a:ext cx="307238" cy="307238"/>
          </a:xfrm>
          <a:prstGeom prst="rect">
            <a:avLst/>
          </a:prstGeom>
        </p:spPr>
      </p:pic>
      <p:sp>
        <p:nvSpPr>
          <p:cNvPr id="19" name="Text 12"/>
          <p:cNvSpPr/>
          <p:nvPr/>
        </p:nvSpPr>
        <p:spPr>
          <a:xfrm>
            <a:off x="6126480" y="5074920"/>
            <a:ext cx="4434840" cy="777240"/>
          </a:xfrm>
          <a:prstGeom prst="rect">
            <a:avLst/>
          </a:prstGeom>
          <a:noFill/>
        </p:spPr>
        <p:txBody>
          <a:bodyPr wrap="square" rtlCol="0" anchor="ctr"/>
          <a:lstStyle/>
          <a:p>
            <a:pPr marL="0" indent="0" algn="r" rtl="1">
              <a:buNone/>
            </a:pPr>
            <a:r>
              <a:rPr lang="en-US" sz="1450" dirty="0">
                <a:solidFill>
                  <a:srgbClr val="13314D"/>
                </a:solidFill>
                <a:latin typeface="Arial" panose="020B0604020202020204" pitchFamily="34" charset="0"/>
                <a:ea typeface="Arial" panose="020B0604020202020204" pitchFamily="34" charset="-122"/>
                <a:cs typeface="Arial" panose="020B0604020202020204" pitchFamily="34" charset="-120"/>
              </a:rPr>
              <a:t>پشتیبانی از نسخه‌های آینده بدون ناسازگاری</a:t>
            </a:r>
            <a:endParaRPr lang="en-US" sz="1450" dirty="0"/>
          </a:p>
        </p:txBody>
      </p:sp>
      <p:sp>
        <p:nvSpPr>
          <p:cNvPr id="20" name="Text 13"/>
          <p:cNvSpPr/>
          <p:nvPr/>
        </p:nvSpPr>
        <p:spPr>
          <a:xfrm>
            <a:off x="11548872" y="6446520"/>
            <a:ext cx="365760" cy="274320"/>
          </a:xfrm>
          <a:prstGeom prst="rect">
            <a:avLst/>
          </a:prstGeom>
          <a:noFill/>
        </p:spPr>
        <p:txBody>
          <a:bodyPr wrap="square" rtlCol="0" anchor="ctr"/>
          <a:lstStyle/>
          <a:p>
            <a:pPr marL="0" indent="0" algn="l">
              <a:buNone/>
            </a:pPr>
            <a:r>
              <a:rPr lang="en-US" sz="1100" dirty="0">
                <a:solidFill>
                  <a:srgbClr val="5B7285"/>
                </a:solidFill>
                <a:latin typeface="Arial" panose="020B0604020202020204" pitchFamily="34" charset="0"/>
                <a:ea typeface="Arial" panose="020B0604020202020204" pitchFamily="34" charset="-122"/>
                <a:cs typeface="Arial" panose="020B0604020202020204"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908792" cy="731520"/>
          </a:xfrm>
          <a:prstGeom prst="rect">
            <a:avLst/>
          </a:prstGeom>
          <a:noFill/>
        </p:spPr>
        <p:txBody>
          <a:bodyPr wrap="square" rtlCol="0" anchor="ctr"/>
          <a:lstStyle/>
          <a:p>
            <a:pPr marL="0" indent="0" algn="r" rtl="1">
              <a:buNone/>
            </a:pPr>
            <a:r>
              <a:rPr lang="en-US" sz="3000" b="1" dirty="0">
                <a:solidFill>
                  <a:srgbClr val="13314D"/>
                </a:solidFill>
                <a:latin typeface="Arial" panose="020B0604020202020204" pitchFamily="34" charset="0"/>
                <a:ea typeface="Arial" panose="020B0604020202020204" pitchFamily="34" charset="-122"/>
                <a:cs typeface="Arial" panose="020B0604020202020204" pitchFamily="34" charset="-120"/>
              </a:rPr>
              <a:t>اصول طراحی رابط‌های برنامه‌نویسی</a:t>
            </a:r>
            <a:endParaRPr lang="en-US" sz="3000" dirty="0"/>
          </a:p>
        </p:txBody>
      </p:sp>
      <p:sp>
        <p:nvSpPr>
          <p:cNvPr id="3" name="Shape 1"/>
          <p:cNvSpPr/>
          <p:nvPr/>
        </p:nvSpPr>
        <p:spPr>
          <a:xfrm>
            <a:off x="640080" y="1508760"/>
            <a:ext cx="3453384" cy="2377440"/>
          </a:xfrm>
          <a:prstGeom prst="roundRect">
            <a:avLst>
              <a:gd name="adj" fmla="val 3846"/>
            </a:avLst>
          </a:prstGeom>
          <a:solidFill>
            <a:srgbClr val="FFFFFF"/>
          </a:solidFill>
          <a:ln w="12700">
            <a:solidFill>
              <a:srgbClr val="DCE6ED"/>
            </a:solidFill>
            <a:prstDash val="solid"/>
          </a:ln>
          <a:effectLst>
            <a:outerShdw blurRad="101600" dist="25400" dir="5400000" algn="bl" rotWithShape="0">
              <a:srgbClr val="1B2A4A">
                <a:alpha val="12000"/>
              </a:srgbClr>
            </a:outerShdw>
          </a:effectLst>
        </p:spPr>
      </p:sp>
      <p:sp>
        <p:nvSpPr>
          <p:cNvPr id="4" name="Shape 2"/>
          <p:cNvSpPr/>
          <p:nvPr/>
        </p:nvSpPr>
        <p:spPr>
          <a:xfrm>
            <a:off x="2023872" y="1714500"/>
            <a:ext cx="685800" cy="685800"/>
          </a:xfrm>
          <a:prstGeom prst="ellipse">
            <a:avLst/>
          </a:prstGeom>
          <a:solidFill>
            <a:srgbClr val="065A82"/>
          </a:solidFill>
          <a:effectLst>
            <a:outerShdw blurRad="76200" dist="25400" dir="5400000" algn="bl" rotWithShape="0">
              <a:srgbClr val="1B2A4A">
                <a:alpha val="25000"/>
              </a:srgbClr>
            </a:outerShdw>
          </a:effectLst>
        </p:spPr>
      </p:sp>
      <p:pic>
        <p:nvPicPr>
          <p:cNvPr id="5" name="Image 0" descr="/home/claude/build/icons/shield.png"/>
          <p:cNvPicPr>
            <a:picLocks noChangeAspect="1"/>
          </p:cNvPicPr>
          <p:nvPr/>
        </p:nvPicPr>
        <p:blipFill>
          <a:blip r:embed="rId1"/>
          <a:stretch>
            <a:fillRect/>
          </a:stretch>
        </p:blipFill>
        <p:spPr>
          <a:xfrm>
            <a:off x="2202180" y="1892808"/>
            <a:ext cx="329184" cy="329184"/>
          </a:xfrm>
          <a:prstGeom prst="rect">
            <a:avLst/>
          </a:prstGeom>
        </p:spPr>
      </p:pic>
      <p:sp>
        <p:nvSpPr>
          <p:cNvPr id="6" name="Text 3"/>
          <p:cNvSpPr/>
          <p:nvPr/>
        </p:nvSpPr>
        <p:spPr>
          <a:xfrm>
            <a:off x="777240" y="2514600"/>
            <a:ext cx="3179064" cy="457200"/>
          </a:xfrm>
          <a:prstGeom prst="rect">
            <a:avLst/>
          </a:prstGeom>
          <a:noFill/>
        </p:spPr>
        <p:txBody>
          <a:bodyPr wrap="square" rtlCol="0" anchor="ctr"/>
          <a:lstStyle/>
          <a:p>
            <a:pPr marL="0" indent="0" algn="ctr" rtl="1">
              <a:buNone/>
            </a:pPr>
            <a:r>
              <a:rPr lang="en-US" sz="1500" b="1" dirty="0">
                <a:solidFill>
                  <a:srgbClr val="13314D"/>
                </a:solidFill>
                <a:latin typeface="Arial" panose="020B0604020202020204" pitchFamily="34" charset="0"/>
                <a:ea typeface="Arial" panose="020B0604020202020204" pitchFamily="34" charset="-122"/>
                <a:cs typeface="Arial" panose="020B0604020202020204" pitchFamily="34" charset="-120"/>
              </a:rPr>
              <a:t>استقلال سرویس‌ها</a:t>
            </a:r>
            <a:endParaRPr lang="en-US" sz="1500" dirty="0"/>
          </a:p>
        </p:txBody>
      </p:sp>
      <p:sp>
        <p:nvSpPr>
          <p:cNvPr id="7" name="Text 4"/>
          <p:cNvSpPr/>
          <p:nvPr/>
        </p:nvSpPr>
        <p:spPr>
          <a:xfrm>
            <a:off x="822960" y="2926080"/>
            <a:ext cx="3087624" cy="868680"/>
          </a:xfrm>
          <a:prstGeom prst="rect">
            <a:avLst/>
          </a:prstGeom>
          <a:noFill/>
        </p:spPr>
        <p:txBody>
          <a:bodyPr wrap="square" rtlCol="0" anchor="t"/>
          <a:lstStyle/>
          <a:p>
            <a:pPr marL="0" indent="0" algn="ctr" rtl="1">
              <a:lnSpc>
                <a:spcPct val="120000"/>
              </a:lnSpc>
              <a:buNone/>
            </a:pPr>
            <a:r>
              <a:rPr lang="en-US" sz="1150" dirty="0">
                <a:solidFill>
                  <a:srgbClr val="5B7285"/>
                </a:solidFill>
                <a:latin typeface="Arial" panose="020B0604020202020204" pitchFamily="34" charset="0"/>
                <a:ea typeface="Arial" panose="020B0604020202020204" pitchFamily="34" charset="-122"/>
                <a:cs typeface="Arial" panose="020B0604020202020204" pitchFamily="34" charset="-120"/>
              </a:rPr>
              <a:t>هر سرویس مالک دامنه مشخص خود بوده و از طریق رابط عمومی با دیگران ارتباط برقرار می‌کند.</a:t>
            </a:r>
            <a:endParaRPr lang="en-US" sz="1150" dirty="0"/>
          </a:p>
        </p:txBody>
      </p:sp>
      <p:sp>
        <p:nvSpPr>
          <p:cNvPr id="8" name="Shape 5"/>
          <p:cNvSpPr/>
          <p:nvPr/>
        </p:nvSpPr>
        <p:spPr>
          <a:xfrm>
            <a:off x="4367784" y="1508760"/>
            <a:ext cx="3453384" cy="2377440"/>
          </a:xfrm>
          <a:prstGeom prst="roundRect">
            <a:avLst>
              <a:gd name="adj" fmla="val 3846"/>
            </a:avLst>
          </a:prstGeom>
          <a:solidFill>
            <a:srgbClr val="FFFFFF"/>
          </a:solidFill>
          <a:ln w="12700">
            <a:solidFill>
              <a:srgbClr val="DCE6ED"/>
            </a:solidFill>
            <a:prstDash val="solid"/>
          </a:ln>
          <a:effectLst>
            <a:outerShdw blurRad="101600" dist="25400" dir="5400000" algn="bl" rotWithShape="0">
              <a:srgbClr val="1B2A4A">
                <a:alpha val="12000"/>
              </a:srgbClr>
            </a:outerShdw>
          </a:effectLst>
        </p:spPr>
      </p:sp>
      <p:sp>
        <p:nvSpPr>
          <p:cNvPr id="9" name="Shape 6"/>
          <p:cNvSpPr/>
          <p:nvPr/>
        </p:nvSpPr>
        <p:spPr>
          <a:xfrm>
            <a:off x="5751576" y="1714500"/>
            <a:ext cx="685800" cy="685800"/>
          </a:xfrm>
          <a:prstGeom prst="ellipse">
            <a:avLst/>
          </a:prstGeom>
          <a:solidFill>
            <a:srgbClr val="065A82"/>
          </a:solidFill>
          <a:effectLst>
            <a:outerShdw blurRad="76200" dist="25400" dir="5400000" algn="bl" rotWithShape="0">
              <a:srgbClr val="1B2A4A">
                <a:alpha val="25000"/>
              </a:srgbClr>
            </a:outerShdw>
          </a:effectLst>
        </p:spPr>
      </p:sp>
      <p:pic>
        <p:nvPicPr>
          <p:cNvPr id="10" name="Image 1" descr="/home/claude/build/icons/link.png"/>
          <p:cNvPicPr>
            <a:picLocks noChangeAspect="1"/>
          </p:cNvPicPr>
          <p:nvPr/>
        </p:nvPicPr>
        <p:blipFill>
          <a:blip r:embed="rId2"/>
          <a:stretch>
            <a:fillRect/>
          </a:stretch>
        </p:blipFill>
        <p:spPr>
          <a:xfrm>
            <a:off x="5929884" y="1892808"/>
            <a:ext cx="329184" cy="329184"/>
          </a:xfrm>
          <a:prstGeom prst="rect">
            <a:avLst/>
          </a:prstGeom>
        </p:spPr>
      </p:pic>
      <p:sp>
        <p:nvSpPr>
          <p:cNvPr id="11" name="Text 7"/>
          <p:cNvSpPr/>
          <p:nvPr/>
        </p:nvSpPr>
        <p:spPr>
          <a:xfrm>
            <a:off x="4504944" y="2514600"/>
            <a:ext cx="3179064" cy="457200"/>
          </a:xfrm>
          <a:prstGeom prst="rect">
            <a:avLst/>
          </a:prstGeom>
          <a:noFill/>
        </p:spPr>
        <p:txBody>
          <a:bodyPr wrap="square" rtlCol="0" anchor="ctr"/>
          <a:lstStyle/>
          <a:p>
            <a:pPr marL="0" indent="0" algn="ctr" rtl="1">
              <a:buNone/>
            </a:pPr>
            <a:r>
              <a:rPr lang="en-US" sz="1500" b="1" dirty="0">
                <a:solidFill>
                  <a:srgbClr val="13314D"/>
                </a:solidFill>
                <a:latin typeface="Arial" panose="020B0604020202020204" pitchFamily="34" charset="0"/>
                <a:ea typeface="Arial" panose="020B0604020202020204" pitchFamily="34" charset="-122"/>
                <a:cs typeface="Arial" panose="020B0604020202020204" pitchFamily="34" charset="-120"/>
              </a:rPr>
              <a:t>قرارداد ثابت (Contract First)</a:t>
            </a:r>
            <a:endParaRPr lang="en-US" sz="1500" dirty="0"/>
          </a:p>
        </p:txBody>
      </p:sp>
      <p:sp>
        <p:nvSpPr>
          <p:cNvPr id="12" name="Text 8"/>
          <p:cNvSpPr/>
          <p:nvPr/>
        </p:nvSpPr>
        <p:spPr>
          <a:xfrm>
            <a:off x="4550664" y="2926080"/>
            <a:ext cx="3087624" cy="868680"/>
          </a:xfrm>
          <a:prstGeom prst="rect">
            <a:avLst/>
          </a:prstGeom>
          <a:noFill/>
        </p:spPr>
        <p:txBody>
          <a:bodyPr wrap="square" rtlCol="0" anchor="t"/>
          <a:lstStyle/>
          <a:p>
            <a:pPr marL="0" indent="0" algn="ctr" rtl="1">
              <a:lnSpc>
                <a:spcPct val="120000"/>
              </a:lnSpc>
              <a:buNone/>
            </a:pPr>
            <a:r>
              <a:rPr lang="en-US" sz="1150" dirty="0">
                <a:solidFill>
                  <a:srgbClr val="5B7285"/>
                </a:solidFill>
                <a:latin typeface="Arial" panose="020B0604020202020204" pitchFamily="34" charset="0"/>
                <a:ea typeface="Arial" panose="020B0604020202020204" pitchFamily="34" charset="-122"/>
                <a:cs typeface="Arial" panose="020B0604020202020204" pitchFamily="34" charset="-120"/>
              </a:rPr>
              <a:t>هر API پیش از پیاده‌سازی، به‌صورت یک قرارداد رسمی شامل Endpoint، ورودی و خروجی تعریف می‌شود.</a:t>
            </a:r>
            <a:endParaRPr lang="en-US" sz="1150" dirty="0"/>
          </a:p>
        </p:txBody>
      </p:sp>
      <p:sp>
        <p:nvSpPr>
          <p:cNvPr id="13" name="Shape 9"/>
          <p:cNvSpPr/>
          <p:nvPr/>
        </p:nvSpPr>
        <p:spPr>
          <a:xfrm>
            <a:off x="8095488" y="1508760"/>
            <a:ext cx="3453384" cy="2377440"/>
          </a:xfrm>
          <a:prstGeom prst="roundRect">
            <a:avLst>
              <a:gd name="adj" fmla="val 3846"/>
            </a:avLst>
          </a:prstGeom>
          <a:solidFill>
            <a:srgbClr val="FFFFFF"/>
          </a:solidFill>
          <a:ln w="12700">
            <a:solidFill>
              <a:srgbClr val="DCE6ED"/>
            </a:solidFill>
            <a:prstDash val="solid"/>
          </a:ln>
          <a:effectLst>
            <a:outerShdw blurRad="101600" dist="25400" dir="5400000" algn="bl" rotWithShape="0">
              <a:srgbClr val="1B2A4A">
                <a:alpha val="12000"/>
              </a:srgbClr>
            </a:outerShdw>
          </a:effectLst>
        </p:spPr>
      </p:sp>
      <p:sp>
        <p:nvSpPr>
          <p:cNvPr id="14" name="Shape 10"/>
          <p:cNvSpPr/>
          <p:nvPr/>
        </p:nvSpPr>
        <p:spPr>
          <a:xfrm>
            <a:off x="9479280" y="1714500"/>
            <a:ext cx="685800" cy="685800"/>
          </a:xfrm>
          <a:prstGeom prst="ellipse">
            <a:avLst/>
          </a:prstGeom>
          <a:solidFill>
            <a:srgbClr val="065A82"/>
          </a:solidFill>
          <a:effectLst>
            <a:outerShdw blurRad="76200" dist="25400" dir="5400000" algn="bl" rotWithShape="0">
              <a:srgbClr val="1B2A4A">
                <a:alpha val="25000"/>
              </a:srgbClr>
            </a:outerShdw>
          </a:effectLst>
        </p:spPr>
      </p:sp>
      <p:pic>
        <p:nvPicPr>
          <p:cNvPr id="15" name="Image 2" descr="/home/claude/build/icons/cogs.png"/>
          <p:cNvPicPr>
            <a:picLocks noChangeAspect="1"/>
          </p:cNvPicPr>
          <p:nvPr/>
        </p:nvPicPr>
        <p:blipFill>
          <a:blip r:embed="rId3"/>
          <a:stretch>
            <a:fillRect/>
          </a:stretch>
        </p:blipFill>
        <p:spPr>
          <a:xfrm>
            <a:off x="9657588" y="1892808"/>
            <a:ext cx="329184" cy="329184"/>
          </a:xfrm>
          <a:prstGeom prst="rect">
            <a:avLst/>
          </a:prstGeom>
        </p:spPr>
      </p:pic>
      <p:sp>
        <p:nvSpPr>
          <p:cNvPr id="16" name="Text 11"/>
          <p:cNvSpPr/>
          <p:nvPr/>
        </p:nvSpPr>
        <p:spPr>
          <a:xfrm>
            <a:off x="8232648" y="2514600"/>
            <a:ext cx="3179064" cy="457200"/>
          </a:xfrm>
          <a:prstGeom prst="rect">
            <a:avLst/>
          </a:prstGeom>
          <a:noFill/>
        </p:spPr>
        <p:txBody>
          <a:bodyPr wrap="square" rtlCol="0" anchor="ctr"/>
          <a:lstStyle/>
          <a:p>
            <a:pPr marL="0" indent="0" algn="ctr" rtl="1">
              <a:buNone/>
            </a:pPr>
            <a:r>
              <a:rPr lang="en-US" sz="1500" b="1" dirty="0">
                <a:solidFill>
                  <a:srgbClr val="13314D"/>
                </a:solidFill>
                <a:latin typeface="Arial" panose="020B0604020202020204" pitchFamily="34" charset="0"/>
                <a:ea typeface="Arial" panose="020B0604020202020204" pitchFamily="34" charset="-122"/>
                <a:cs typeface="Arial" panose="020B0604020202020204" pitchFamily="34" charset="-120"/>
              </a:rPr>
              <a:t>ارتباط بدون وضعیت (Stateless)</a:t>
            </a:r>
            <a:endParaRPr lang="en-US" sz="1500" dirty="0"/>
          </a:p>
        </p:txBody>
      </p:sp>
      <p:sp>
        <p:nvSpPr>
          <p:cNvPr id="17" name="Text 12"/>
          <p:cNvSpPr/>
          <p:nvPr/>
        </p:nvSpPr>
        <p:spPr>
          <a:xfrm>
            <a:off x="8278368" y="2926080"/>
            <a:ext cx="3087624" cy="868680"/>
          </a:xfrm>
          <a:prstGeom prst="rect">
            <a:avLst/>
          </a:prstGeom>
          <a:noFill/>
        </p:spPr>
        <p:txBody>
          <a:bodyPr wrap="square" rtlCol="0" anchor="t"/>
          <a:lstStyle/>
          <a:p>
            <a:pPr marL="0" indent="0" algn="ctr" rtl="1">
              <a:lnSpc>
                <a:spcPct val="120000"/>
              </a:lnSpc>
              <a:buNone/>
            </a:pPr>
            <a:r>
              <a:rPr lang="en-US" sz="1150" dirty="0">
                <a:solidFill>
                  <a:srgbClr val="5B7285"/>
                </a:solidFill>
                <a:latin typeface="Arial" panose="020B0604020202020204" pitchFamily="34" charset="0"/>
                <a:ea typeface="Arial" panose="020B0604020202020204" pitchFamily="34" charset="-122"/>
                <a:cs typeface="Arial" panose="020B0604020202020204" pitchFamily="34" charset="-120"/>
              </a:rPr>
              <a:t>هر درخواست مستقل بوده و سرور وضعیتی از نشست کاربر نگهداری نمی‌کند.</a:t>
            </a:r>
            <a:endParaRPr lang="en-US" sz="1150" dirty="0"/>
          </a:p>
        </p:txBody>
      </p:sp>
      <p:sp>
        <p:nvSpPr>
          <p:cNvPr id="18" name="Shape 13"/>
          <p:cNvSpPr/>
          <p:nvPr/>
        </p:nvSpPr>
        <p:spPr>
          <a:xfrm>
            <a:off x="640080" y="4160520"/>
            <a:ext cx="3453384" cy="2377440"/>
          </a:xfrm>
          <a:prstGeom prst="roundRect">
            <a:avLst>
              <a:gd name="adj" fmla="val 3846"/>
            </a:avLst>
          </a:prstGeom>
          <a:solidFill>
            <a:srgbClr val="FFFFFF"/>
          </a:solidFill>
          <a:ln w="12700">
            <a:solidFill>
              <a:srgbClr val="DCE6ED"/>
            </a:solidFill>
            <a:prstDash val="solid"/>
          </a:ln>
          <a:effectLst>
            <a:outerShdw blurRad="101600" dist="25400" dir="5400000" algn="bl" rotWithShape="0">
              <a:srgbClr val="1B2A4A">
                <a:alpha val="12000"/>
              </a:srgbClr>
            </a:outerShdw>
          </a:effectLst>
        </p:spPr>
      </p:sp>
      <p:sp>
        <p:nvSpPr>
          <p:cNvPr id="19" name="Shape 14"/>
          <p:cNvSpPr/>
          <p:nvPr/>
        </p:nvSpPr>
        <p:spPr>
          <a:xfrm>
            <a:off x="2023872" y="4366260"/>
            <a:ext cx="685800" cy="685800"/>
          </a:xfrm>
          <a:prstGeom prst="ellipse">
            <a:avLst/>
          </a:prstGeom>
          <a:solidFill>
            <a:srgbClr val="065A82"/>
          </a:solidFill>
          <a:effectLst>
            <a:outerShdw blurRad="76200" dist="25400" dir="5400000" algn="bl" rotWithShape="0">
              <a:srgbClr val="1B2A4A">
                <a:alpha val="25000"/>
              </a:srgbClr>
            </a:outerShdw>
          </a:effectLst>
        </p:spPr>
      </p:sp>
      <p:pic>
        <p:nvPicPr>
          <p:cNvPr id="20" name="Image 3" descr="/home/claude/build/icons/cube.png"/>
          <p:cNvPicPr>
            <a:picLocks noChangeAspect="1"/>
          </p:cNvPicPr>
          <p:nvPr/>
        </p:nvPicPr>
        <p:blipFill>
          <a:blip r:embed="rId4"/>
          <a:stretch>
            <a:fillRect/>
          </a:stretch>
        </p:blipFill>
        <p:spPr>
          <a:xfrm>
            <a:off x="2202180" y="4544568"/>
            <a:ext cx="329184" cy="329184"/>
          </a:xfrm>
          <a:prstGeom prst="rect">
            <a:avLst/>
          </a:prstGeom>
        </p:spPr>
      </p:pic>
      <p:sp>
        <p:nvSpPr>
          <p:cNvPr id="21" name="Text 15"/>
          <p:cNvSpPr/>
          <p:nvPr/>
        </p:nvSpPr>
        <p:spPr>
          <a:xfrm>
            <a:off x="777240" y="5166360"/>
            <a:ext cx="3179064" cy="457200"/>
          </a:xfrm>
          <a:prstGeom prst="rect">
            <a:avLst/>
          </a:prstGeom>
          <a:noFill/>
        </p:spPr>
        <p:txBody>
          <a:bodyPr wrap="square" rtlCol="0" anchor="ctr"/>
          <a:lstStyle/>
          <a:p>
            <a:pPr marL="0" indent="0" algn="ctr" rtl="1">
              <a:buNone/>
            </a:pPr>
            <a:r>
              <a:rPr lang="en-US" sz="1500" b="1" dirty="0">
                <a:solidFill>
                  <a:srgbClr val="13314D"/>
                </a:solidFill>
                <a:latin typeface="Arial" panose="020B0604020202020204" pitchFamily="34" charset="0"/>
                <a:ea typeface="Arial" panose="020B0604020202020204" pitchFamily="34" charset="-122"/>
                <a:cs typeface="Arial" panose="020B0604020202020204" pitchFamily="34" charset="-120"/>
              </a:rPr>
              <a:t>طراحی مبتنی بر منبع (Resource-Oriented)</a:t>
            </a:r>
            <a:endParaRPr lang="en-US" sz="1500" dirty="0"/>
          </a:p>
        </p:txBody>
      </p:sp>
      <p:sp>
        <p:nvSpPr>
          <p:cNvPr id="22" name="Text 16"/>
          <p:cNvSpPr/>
          <p:nvPr/>
        </p:nvSpPr>
        <p:spPr>
          <a:xfrm>
            <a:off x="822960" y="5577840"/>
            <a:ext cx="3087624" cy="868680"/>
          </a:xfrm>
          <a:prstGeom prst="rect">
            <a:avLst/>
          </a:prstGeom>
          <a:noFill/>
        </p:spPr>
        <p:txBody>
          <a:bodyPr wrap="square" rtlCol="0" anchor="t"/>
          <a:lstStyle/>
          <a:p>
            <a:pPr marL="0" indent="0" algn="ctr" rtl="1">
              <a:lnSpc>
                <a:spcPct val="120000"/>
              </a:lnSpc>
              <a:buNone/>
            </a:pPr>
            <a:r>
              <a:rPr lang="en-US" sz="1150" dirty="0">
                <a:solidFill>
                  <a:srgbClr val="5B7285"/>
                </a:solidFill>
                <a:latin typeface="Arial" panose="020B0604020202020204" pitchFamily="34" charset="0"/>
                <a:ea typeface="Arial" panose="020B0604020202020204" pitchFamily="34" charset="-122"/>
                <a:cs typeface="Arial" panose="020B0604020202020204" pitchFamily="34" charset="-120"/>
              </a:rPr>
              <a:t>APIها حول منابعی مانند کاربران، کلاس‌ها و آزمون‌ها طراحی می‌شوند.</a:t>
            </a:r>
            <a:endParaRPr lang="en-US" sz="1150" dirty="0"/>
          </a:p>
        </p:txBody>
      </p:sp>
      <p:sp>
        <p:nvSpPr>
          <p:cNvPr id="23" name="Shape 17"/>
          <p:cNvSpPr/>
          <p:nvPr/>
        </p:nvSpPr>
        <p:spPr>
          <a:xfrm>
            <a:off x="4367784" y="4160520"/>
            <a:ext cx="3453384" cy="2377440"/>
          </a:xfrm>
          <a:prstGeom prst="roundRect">
            <a:avLst>
              <a:gd name="adj" fmla="val 3846"/>
            </a:avLst>
          </a:prstGeom>
          <a:solidFill>
            <a:srgbClr val="FFFFFF"/>
          </a:solidFill>
          <a:ln w="12700">
            <a:solidFill>
              <a:srgbClr val="DCE6ED"/>
            </a:solidFill>
            <a:prstDash val="solid"/>
          </a:ln>
          <a:effectLst>
            <a:outerShdw blurRad="101600" dist="25400" dir="5400000" algn="bl" rotWithShape="0">
              <a:srgbClr val="1B2A4A">
                <a:alpha val="12000"/>
              </a:srgbClr>
            </a:outerShdw>
          </a:effectLst>
        </p:spPr>
      </p:sp>
      <p:sp>
        <p:nvSpPr>
          <p:cNvPr id="24" name="Shape 18"/>
          <p:cNvSpPr/>
          <p:nvPr/>
        </p:nvSpPr>
        <p:spPr>
          <a:xfrm>
            <a:off x="5751576" y="4366260"/>
            <a:ext cx="685800" cy="685800"/>
          </a:xfrm>
          <a:prstGeom prst="ellipse">
            <a:avLst/>
          </a:prstGeom>
          <a:solidFill>
            <a:srgbClr val="065A82"/>
          </a:solidFill>
          <a:effectLst>
            <a:outerShdw blurRad="76200" dist="25400" dir="5400000" algn="bl" rotWithShape="0">
              <a:srgbClr val="1B2A4A">
                <a:alpha val="25000"/>
              </a:srgbClr>
            </a:outerShdw>
          </a:effectLst>
        </p:spPr>
      </p:sp>
      <p:pic>
        <p:nvPicPr>
          <p:cNvPr id="25" name="Image 4" descr="/home/claude/build/icons/layer.png"/>
          <p:cNvPicPr>
            <a:picLocks noChangeAspect="1"/>
          </p:cNvPicPr>
          <p:nvPr/>
        </p:nvPicPr>
        <p:blipFill>
          <a:blip r:embed="rId5"/>
          <a:stretch>
            <a:fillRect/>
          </a:stretch>
        </p:blipFill>
        <p:spPr>
          <a:xfrm>
            <a:off x="5929884" y="4544568"/>
            <a:ext cx="329184" cy="329184"/>
          </a:xfrm>
          <a:prstGeom prst="rect">
            <a:avLst/>
          </a:prstGeom>
        </p:spPr>
      </p:pic>
      <p:sp>
        <p:nvSpPr>
          <p:cNvPr id="26" name="Text 19"/>
          <p:cNvSpPr/>
          <p:nvPr/>
        </p:nvSpPr>
        <p:spPr>
          <a:xfrm>
            <a:off x="4504944" y="5166360"/>
            <a:ext cx="3179064" cy="457200"/>
          </a:xfrm>
          <a:prstGeom prst="rect">
            <a:avLst/>
          </a:prstGeom>
          <a:noFill/>
        </p:spPr>
        <p:txBody>
          <a:bodyPr wrap="square" rtlCol="0" anchor="ctr"/>
          <a:lstStyle/>
          <a:p>
            <a:pPr marL="0" indent="0" algn="ctr" rtl="1">
              <a:buNone/>
            </a:pPr>
            <a:r>
              <a:rPr lang="en-US" sz="1500" b="1" dirty="0">
                <a:solidFill>
                  <a:srgbClr val="13314D"/>
                </a:solidFill>
                <a:latin typeface="Arial" panose="020B0604020202020204" pitchFamily="34" charset="0"/>
                <a:ea typeface="Arial" panose="020B0604020202020204" pitchFamily="34" charset="-122"/>
                <a:cs typeface="Arial" panose="020B0604020202020204" pitchFamily="34" charset="-120"/>
              </a:rPr>
              <a:t>نسخه‌بندی (Versioning)</a:t>
            </a:r>
            <a:endParaRPr lang="en-US" sz="1500" dirty="0"/>
          </a:p>
        </p:txBody>
      </p:sp>
      <p:sp>
        <p:nvSpPr>
          <p:cNvPr id="27" name="Text 20"/>
          <p:cNvSpPr/>
          <p:nvPr/>
        </p:nvSpPr>
        <p:spPr>
          <a:xfrm>
            <a:off x="4550664" y="5577840"/>
            <a:ext cx="3087624" cy="868680"/>
          </a:xfrm>
          <a:prstGeom prst="rect">
            <a:avLst/>
          </a:prstGeom>
          <a:noFill/>
        </p:spPr>
        <p:txBody>
          <a:bodyPr wrap="square" rtlCol="0" anchor="t"/>
          <a:lstStyle/>
          <a:p>
            <a:pPr marL="0" indent="0" algn="ctr" rtl="1">
              <a:lnSpc>
                <a:spcPct val="120000"/>
              </a:lnSpc>
              <a:buNone/>
            </a:pPr>
            <a:r>
              <a:rPr lang="en-US" sz="1150" dirty="0">
                <a:solidFill>
                  <a:srgbClr val="5B7285"/>
                </a:solidFill>
                <a:latin typeface="Arial" panose="020B0604020202020204" pitchFamily="34" charset="0"/>
                <a:ea typeface="Arial" panose="020B0604020202020204" pitchFamily="34" charset="-122"/>
                <a:cs typeface="Arial" panose="020B0604020202020204" pitchFamily="34" charset="-120"/>
              </a:rPr>
              <a:t>تمامی APIها شماره نسخه دارند تا تغییرات ناسازگار، سرویس‌های موجود را مختل نکنند.</a:t>
            </a:r>
            <a:endParaRPr lang="en-US" sz="1150" dirty="0"/>
          </a:p>
        </p:txBody>
      </p:sp>
      <p:sp>
        <p:nvSpPr>
          <p:cNvPr id="28" name="Text 21"/>
          <p:cNvSpPr/>
          <p:nvPr/>
        </p:nvSpPr>
        <p:spPr>
          <a:xfrm>
            <a:off x="11548872" y="6446520"/>
            <a:ext cx="365760" cy="274320"/>
          </a:xfrm>
          <a:prstGeom prst="rect">
            <a:avLst/>
          </a:prstGeom>
          <a:noFill/>
        </p:spPr>
        <p:txBody>
          <a:bodyPr wrap="square" rtlCol="0" anchor="ctr"/>
          <a:lstStyle/>
          <a:p>
            <a:pPr marL="0" indent="0" algn="l">
              <a:buNone/>
            </a:pPr>
            <a:r>
              <a:rPr lang="en-US" sz="1100" dirty="0">
                <a:solidFill>
                  <a:srgbClr val="5B7285"/>
                </a:solidFill>
                <a:latin typeface="Arial" panose="020B0604020202020204" pitchFamily="34" charset="0"/>
                <a:ea typeface="Arial" panose="020B0604020202020204" pitchFamily="34" charset="-122"/>
                <a:cs typeface="Arial" panose="020B0604020202020204"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908792" cy="731520"/>
          </a:xfrm>
          <a:prstGeom prst="rect">
            <a:avLst/>
          </a:prstGeom>
          <a:noFill/>
        </p:spPr>
        <p:txBody>
          <a:bodyPr wrap="square" rtlCol="0" anchor="ctr"/>
          <a:lstStyle/>
          <a:p>
            <a:pPr marL="0" indent="0" algn="r" rtl="1">
              <a:buNone/>
            </a:pPr>
            <a:r>
              <a:rPr lang="en-US" sz="3000" b="1" dirty="0">
                <a:solidFill>
                  <a:srgbClr val="13314D"/>
                </a:solidFill>
                <a:latin typeface="Arial" panose="020B0604020202020204" pitchFamily="34" charset="0"/>
                <a:ea typeface="Arial" panose="020B0604020202020204" pitchFamily="34" charset="-122"/>
                <a:cs typeface="Arial" panose="020B0604020202020204" pitchFamily="34" charset="-120"/>
              </a:rPr>
              <a:t>استانداردهای ارتباطی و امنیت</a:t>
            </a:r>
            <a:endParaRPr lang="en-US" sz="3000" dirty="0"/>
          </a:p>
        </p:txBody>
      </p:sp>
      <p:sp>
        <p:nvSpPr>
          <p:cNvPr id="3" name="Shape 1"/>
          <p:cNvSpPr/>
          <p:nvPr/>
        </p:nvSpPr>
        <p:spPr>
          <a:xfrm>
            <a:off x="6309360" y="1371600"/>
            <a:ext cx="5212080" cy="4846320"/>
          </a:xfrm>
          <a:prstGeom prst="roundRect">
            <a:avLst>
              <a:gd name="adj" fmla="val 2264"/>
            </a:avLst>
          </a:prstGeom>
          <a:solidFill>
            <a:srgbClr val="FFFFFF"/>
          </a:solidFill>
          <a:ln w="12700">
            <a:solidFill>
              <a:srgbClr val="DCE6ED"/>
            </a:solidFill>
            <a:prstDash val="solid"/>
          </a:ln>
        </p:spPr>
      </p:sp>
      <p:sp>
        <p:nvSpPr>
          <p:cNvPr id="4" name="Text 2"/>
          <p:cNvSpPr/>
          <p:nvPr/>
        </p:nvSpPr>
        <p:spPr>
          <a:xfrm>
            <a:off x="6583680" y="1554480"/>
            <a:ext cx="4663440" cy="457200"/>
          </a:xfrm>
          <a:prstGeom prst="rect">
            <a:avLst/>
          </a:prstGeom>
          <a:noFill/>
        </p:spPr>
        <p:txBody>
          <a:bodyPr wrap="square" rtlCol="0" anchor="ctr"/>
          <a:lstStyle/>
          <a:p>
            <a:pPr marL="0" indent="0" algn="r" rtl="1">
              <a:buNone/>
            </a:pPr>
            <a:r>
              <a:rPr lang="en-US" sz="1700" b="1" dirty="0">
                <a:solidFill>
                  <a:srgbClr val="065A82"/>
                </a:solidFill>
                <a:latin typeface="Arial" panose="020B0604020202020204" pitchFamily="34" charset="0"/>
                <a:ea typeface="Arial" panose="020B0604020202020204" pitchFamily="34" charset="-122"/>
                <a:cs typeface="Arial" panose="020B0604020202020204" pitchFamily="34" charset="-120"/>
              </a:rPr>
              <a:t>استانداردهای فنی ارتباط</a:t>
            </a:r>
            <a:endParaRPr lang="en-US" sz="1700" dirty="0"/>
          </a:p>
        </p:txBody>
      </p:sp>
      <p:graphicFrame>
        <p:nvGraphicFramePr>
          <p:cNvPr id="5" name="Table 0"/>
          <p:cNvGraphicFramePr>
            <a:graphicFrameLocks noGrp="1"/>
          </p:cNvGraphicFramePr>
          <p:nvPr/>
        </p:nvGraphicFramePr>
        <p:xfrm>
          <a:off x="6583680" y="2148840"/>
          <a:ext cx="4663440" cy="3840480"/>
        </p:xfrm>
        <a:graphic>
          <a:graphicData uri="http://schemas.openxmlformats.org/drawingml/2006/table">
            <a:tbl>
              <a:tblPr/>
              <a:tblGrid>
                <a:gridCol w="1737360"/>
                <a:gridCol w="2926080"/>
              </a:tblGrid>
              <a:tr h="548640">
                <a:tc>
                  <a:txBody>
                    <a:bodyPr/>
                    <a:lstStyle/>
                    <a:p>
                      <a:pPr marL="0" indent="0" algn="l">
                        <a:buNone/>
                      </a:pPr>
                      <a:r>
                        <a:rPr lang="en-US" sz="1250" b="1" dirty="0">
                          <a:solidFill>
                            <a:srgbClr val="1C7293"/>
                          </a:solidFill>
                          <a:latin typeface="Calibri" panose="020F0502020204030204" pitchFamily="34" charset="0"/>
                          <a:ea typeface="Calibri" panose="020F0502020204030204" pitchFamily="34" charset="-122"/>
                          <a:cs typeface="Calibri" panose="020F0502020204030204" pitchFamily="34" charset="-120"/>
                        </a:rPr>
                        <a:t>RESTful API</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r" rtl="1">
                        <a:buNone/>
                      </a:pPr>
                      <a:r>
                        <a:rPr lang="en-US" sz="1300" dirty="0">
                          <a:solidFill>
                            <a:srgbClr val="13314D"/>
                          </a:solidFill>
                          <a:latin typeface="Arial" panose="020B0604020202020204" pitchFamily="34" charset="0"/>
                          <a:ea typeface="Arial" panose="020B0604020202020204" pitchFamily="34" charset="-122"/>
                          <a:cs typeface="Arial" panose="020B0604020202020204" pitchFamily="34" charset="-120"/>
                        </a:rPr>
                        <a:t>معماری API</a:t>
                      </a:r>
                      <a:endParaRPr lang="en-US" sz="13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r h="548640">
                <a:tc>
                  <a:txBody>
                    <a:bodyPr/>
                    <a:lstStyle/>
                    <a:p>
                      <a:pPr marL="0" indent="0" algn="l">
                        <a:buNone/>
                      </a:pPr>
                      <a:r>
                        <a:rPr lang="en-US" sz="1250" b="1" dirty="0">
                          <a:solidFill>
                            <a:srgbClr val="1C7293"/>
                          </a:solidFill>
                          <a:latin typeface="Calibri" panose="020F0502020204030204" pitchFamily="34" charset="0"/>
                          <a:ea typeface="Calibri" panose="020F0502020204030204" pitchFamily="34" charset="-122"/>
                          <a:cs typeface="Calibri" panose="020F0502020204030204" pitchFamily="34" charset="-120"/>
                        </a:rPr>
                        <a:t>HTTPS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r" rtl="1">
                        <a:buNone/>
                      </a:pPr>
                      <a:r>
                        <a:rPr lang="en-US" sz="1300" dirty="0">
                          <a:solidFill>
                            <a:srgbClr val="13314D"/>
                          </a:solidFill>
                          <a:latin typeface="Arial" panose="020B0604020202020204" pitchFamily="34" charset="0"/>
                          <a:ea typeface="Arial" panose="020B0604020202020204" pitchFamily="34" charset="-122"/>
                          <a:cs typeface="Arial" panose="020B0604020202020204" pitchFamily="34" charset="-120"/>
                        </a:rPr>
                        <a:t>پروتکل ارتباطی</a:t>
                      </a:r>
                      <a:endParaRPr lang="en-US" sz="13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r h="548640">
                <a:tc>
                  <a:txBody>
                    <a:bodyPr/>
                    <a:lstStyle/>
                    <a:p>
                      <a:pPr marL="0" indent="0" algn="l">
                        <a:buNone/>
                      </a:pPr>
                      <a:r>
                        <a:rPr lang="en-US" sz="1250" b="1" dirty="0">
                          <a:solidFill>
                            <a:srgbClr val="1C7293"/>
                          </a:solidFill>
                          <a:latin typeface="Calibri" panose="020F0502020204030204" pitchFamily="34" charset="0"/>
                          <a:ea typeface="Calibri" panose="020F0502020204030204" pitchFamily="34" charset="-122"/>
                          <a:cs typeface="Calibri" panose="020F0502020204030204" pitchFamily="34" charset="-120"/>
                        </a:rPr>
                        <a:t>JSON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r" rtl="1">
                        <a:buNone/>
                      </a:pPr>
                      <a:r>
                        <a:rPr lang="en-US" sz="1300" dirty="0">
                          <a:solidFill>
                            <a:srgbClr val="13314D"/>
                          </a:solidFill>
                          <a:latin typeface="Arial" panose="020B0604020202020204" pitchFamily="34" charset="0"/>
                          <a:ea typeface="Arial" panose="020B0604020202020204" pitchFamily="34" charset="-122"/>
                          <a:cs typeface="Arial" panose="020B0604020202020204" pitchFamily="34" charset="-120"/>
                        </a:rPr>
                        <a:t>قالب تبادل داده</a:t>
                      </a:r>
                      <a:endParaRPr lang="en-US" sz="13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r h="548640">
                <a:tc>
                  <a:txBody>
                    <a:bodyPr/>
                    <a:lstStyle/>
                    <a:p>
                      <a:pPr marL="0" indent="0" algn="l">
                        <a:buNone/>
                      </a:pPr>
                      <a:r>
                        <a:rPr lang="en-US" sz="1250" b="1" dirty="0">
                          <a:solidFill>
                            <a:srgbClr val="1C7293"/>
                          </a:solidFill>
                          <a:latin typeface="Calibri" panose="020F0502020204030204" pitchFamily="34" charset="0"/>
                          <a:ea typeface="Calibri" panose="020F0502020204030204" pitchFamily="34" charset="-122"/>
                          <a:cs typeface="Calibri" panose="020F0502020204030204" pitchFamily="34" charset="-120"/>
                        </a:rPr>
                        <a:t>UTF-8</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r" rtl="1">
                        <a:buNone/>
                      </a:pPr>
                      <a:r>
                        <a:rPr lang="en-US" sz="1300" dirty="0">
                          <a:solidFill>
                            <a:srgbClr val="13314D"/>
                          </a:solidFill>
                          <a:latin typeface="Arial" panose="020B0604020202020204" pitchFamily="34" charset="0"/>
                          <a:ea typeface="Arial" panose="020B0604020202020204" pitchFamily="34" charset="-122"/>
                          <a:cs typeface="Arial" panose="020B0604020202020204" pitchFamily="34" charset="-120"/>
                        </a:rPr>
                        <a:t>نوع رمزگذاری</a:t>
                      </a:r>
                      <a:endParaRPr lang="en-US" sz="13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r h="548640">
                <a:tc>
                  <a:txBody>
                    <a:bodyPr/>
                    <a:lstStyle/>
                    <a:p>
                      <a:pPr marL="0" indent="0" algn="l">
                        <a:buNone/>
                      </a:pPr>
                      <a:r>
                        <a:rPr lang="en-US" sz="1250" b="1" dirty="0">
                          <a:solidFill>
                            <a:srgbClr val="1C7293"/>
                          </a:solidFill>
                          <a:latin typeface="Calibri" panose="020F0502020204030204" pitchFamily="34" charset="0"/>
                          <a:ea typeface="Calibri" panose="020F0502020204030204" pitchFamily="34" charset="-122"/>
                          <a:cs typeface="Calibri" panose="020F0502020204030204" pitchFamily="34" charset="-120"/>
                        </a:rPr>
                        <a:t>JWT Bearer Token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r" rtl="1">
                        <a:buNone/>
                      </a:pPr>
                      <a:r>
                        <a:rPr lang="en-US" sz="1300" dirty="0">
                          <a:solidFill>
                            <a:srgbClr val="13314D"/>
                          </a:solidFill>
                          <a:latin typeface="Arial" panose="020B0604020202020204" pitchFamily="34" charset="0"/>
                          <a:ea typeface="Arial" panose="020B0604020202020204" pitchFamily="34" charset="-122"/>
                          <a:cs typeface="Arial" panose="020B0604020202020204" pitchFamily="34" charset="-120"/>
                        </a:rPr>
                        <a:t>احراز هویت</a:t>
                      </a:r>
                      <a:endParaRPr lang="en-US" sz="13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r h="548640">
                <a:tc>
                  <a:txBody>
                    <a:bodyPr/>
                    <a:lstStyle/>
                    <a:p>
                      <a:pPr marL="0" indent="0" algn="l">
                        <a:buNone/>
                      </a:pPr>
                      <a:r>
                        <a:rPr lang="en-US" sz="1250" b="1" dirty="0">
                          <a:solidFill>
                            <a:srgbClr val="1C7293"/>
                          </a:solidFill>
                          <a:latin typeface="Calibri" panose="020F0502020204030204" pitchFamily="34" charset="0"/>
                          <a:ea typeface="Calibri" panose="020F0502020204030204" pitchFamily="34" charset="-122"/>
                          <a:cs typeface="Calibri" panose="020F0502020204030204" pitchFamily="34" charset="-120"/>
                        </a:rPr>
                        <a:t>WebSocket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r" rtl="1">
                        <a:buNone/>
                      </a:pPr>
                      <a:r>
                        <a:rPr lang="en-US" sz="1300" dirty="0">
                          <a:solidFill>
                            <a:srgbClr val="13314D"/>
                          </a:solidFill>
                          <a:latin typeface="Arial" panose="020B0604020202020204" pitchFamily="34" charset="0"/>
                          <a:ea typeface="Arial" panose="020B0604020202020204" pitchFamily="34" charset="-122"/>
                          <a:cs typeface="Arial" panose="020B0604020202020204" pitchFamily="34" charset="-120"/>
                        </a:rPr>
                        <a:t>ارتباط بلادرنگ</a:t>
                      </a:r>
                      <a:endParaRPr lang="en-US" sz="13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r h="548640">
                <a:tc>
                  <a:txBody>
                    <a:bodyPr/>
                    <a:lstStyle/>
                    <a:p>
                      <a:pPr marL="0" indent="0" algn="l">
                        <a:buNone/>
                      </a:pPr>
                      <a:r>
                        <a:rPr lang="en-US" sz="1250" b="1" dirty="0">
                          <a:solidFill>
                            <a:srgbClr val="1C7293"/>
                          </a:solidFill>
                          <a:latin typeface="Calibri" panose="020F0502020204030204" pitchFamily="34" charset="0"/>
                          <a:ea typeface="Calibri" panose="020F0502020204030204" pitchFamily="34" charset="-122"/>
                          <a:cs typeface="Calibri" panose="020F0502020204030204" pitchFamily="34" charset="-120"/>
                        </a:rPr>
                        <a:t>Event Bus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r" rtl="1">
                        <a:buNone/>
                      </a:pPr>
                      <a:r>
                        <a:rPr lang="en-US" sz="1300" dirty="0">
                          <a:solidFill>
                            <a:srgbClr val="13314D"/>
                          </a:solidFill>
                          <a:latin typeface="Arial" panose="020B0604020202020204" pitchFamily="34" charset="0"/>
                          <a:ea typeface="Arial" panose="020B0604020202020204" pitchFamily="34" charset="-122"/>
                          <a:cs typeface="Arial" panose="020B0604020202020204" pitchFamily="34" charset="-120"/>
                        </a:rPr>
                        <a:t>رویدادهای ناهمزمان</a:t>
                      </a:r>
                      <a:endParaRPr lang="en-US" sz="13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bl>
          </a:graphicData>
        </a:graphic>
      </p:graphicFrame>
      <p:sp>
        <p:nvSpPr>
          <p:cNvPr id="6" name="Shape 3"/>
          <p:cNvSpPr/>
          <p:nvPr/>
        </p:nvSpPr>
        <p:spPr>
          <a:xfrm>
            <a:off x="640080" y="1371600"/>
            <a:ext cx="5394960" cy="4846320"/>
          </a:xfrm>
          <a:prstGeom prst="roundRect">
            <a:avLst>
              <a:gd name="adj" fmla="val 2264"/>
            </a:avLst>
          </a:prstGeom>
          <a:solidFill>
            <a:srgbClr val="065A82"/>
          </a:solidFill>
        </p:spPr>
      </p:sp>
      <p:sp>
        <p:nvSpPr>
          <p:cNvPr id="7" name="Text 4"/>
          <p:cNvSpPr/>
          <p:nvPr/>
        </p:nvSpPr>
        <p:spPr>
          <a:xfrm>
            <a:off x="914400" y="1554480"/>
            <a:ext cx="4846320" cy="457200"/>
          </a:xfrm>
          <a:prstGeom prst="rect">
            <a:avLst/>
          </a:prstGeom>
          <a:noFill/>
        </p:spPr>
        <p:txBody>
          <a:bodyPr wrap="square" rtlCol="0" anchor="ctr"/>
          <a:lstStyle/>
          <a:p>
            <a:pPr marL="0" indent="0" algn="r" rtl="1">
              <a:buNone/>
            </a:pPr>
            <a:r>
              <a:rPr lang="en-US" sz="1700" b="1" dirty="0">
                <a:solidFill>
                  <a:srgbClr val="FFFFFF"/>
                </a:solidFill>
                <a:latin typeface="Arial" panose="020B0604020202020204" pitchFamily="34" charset="0"/>
                <a:ea typeface="Arial" panose="020B0604020202020204" pitchFamily="34" charset="-122"/>
                <a:cs typeface="Arial" panose="020B0604020202020204" pitchFamily="34" charset="-120"/>
              </a:rPr>
              <a:t>اصول امنیت APIها</a:t>
            </a:r>
            <a:endParaRPr lang="en-US" sz="1700" dirty="0"/>
          </a:p>
        </p:txBody>
      </p:sp>
      <p:sp>
        <p:nvSpPr>
          <p:cNvPr id="8" name="Shape 5"/>
          <p:cNvSpPr/>
          <p:nvPr/>
        </p:nvSpPr>
        <p:spPr>
          <a:xfrm>
            <a:off x="5280660" y="2153412"/>
            <a:ext cx="502920" cy="502920"/>
          </a:xfrm>
          <a:prstGeom prst="ellipse">
            <a:avLst/>
          </a:prstGeom>
          <a:solidFill>
            <a:srgbClr val="02C39A"/>
          </a:solidFill>
          <a:effectLst>
            <a:outerShdw blurRad="76200" dist="25400" dir="5400000" algn="bl" rotWithShape="0">
              <a:srgbClr val="1B2A4A">
                <a:alpha val="25000"/>
              </a:srgbClr>
            </a:outerShdw>
          </a:effectLst>
        </p:spPr>
      </p:sp>
      <p:pic>
        <p:nvPicPr>
          <p:cNvPr id="9" name="Image 0" descr="/home/claude/build/icons/lock.png"/>
          <p:cNvPicPr>
            <a:picLocks noChangeAspect="1"/>
          </p:cNvPicPr>
          <p:nvPr/>
        </p:nvPicPr>
        <p:blipFill>
          <a:blip r:embed="rId1"/>
          <a:stretch>
            <a:fillRect/>
          </a:stretch>
        </p:blipFill>
        <p:spPr>
          <a:xfrm>
            <a:off x="5411419" y="2284171"/>
            <a:ext cx="241402" cy="241402"/>
          </a:xfrm>
          <a:prstGeom prst="rect">
            <a:avLst/>
          </a:prstGeom>
        </p:spPr>
      </p:pic>
      <p:sp>
        <p:nvSpPr>
          <p:cNvPr id="10" name="Text 6"/>
          <p:cNvSpPr/>
          <p:nvPr/>
        </p:nvSpPr>
        <p:spPr>
          <a:xfrm>
            <a:off x="914400" y="2148840"/>
            <a:ext cx="4343400" cy="685800"/>
          </a:xfrm>
          <a:prstGeom prst="rect">
            <a:avLst/>
          </a:prstGeom>
          <a:noFill/>
        </p:spPr>
        <p:txBody>
          <a:bodyPr wrap="square" rtlCol="0" anchor="ctr"/>
          <a:lstStyle/>
          <a:p>
            <a:pPr marL="0" indent="0" algn="r" rtl="1">
              <a:lnSpc>
                <a:spcPct val="115000"/>
              </a:lnSpc>
              <a:buNone/>
            </a:pPr>
            <a:r>
              <a:rPr lang="en-US" sz="1250" dirty="0">
                <a:solidFill>
                  <a:srgbClr val="FFFFFF"/>
                </a:solidFill>
                <a:latin typeface="Arial" panose="020B0604020202020204" pitchFamily="34" charset="0"/>
                <a:ea typeface="Arial" panose="020B0604020202020204" pitchFamily="34" charset="-122"/>
                <a:cs typeface="Arial" panose="020B0604020202020204" pitchFamily="34" charset="-120"/>
              </a:rPr>
              <a:t>دسترسی صرفاً از طریق پروتکل HTTPS برای محرمانگی داده‌ها</a:t>
            </a:r>
            <a:endParaRPr lang="en-US" sz="1250" dirty="0"/>
          </a:p>
        </p:txBody>
      </p:sp>
      <p:sp>
        <p:nvSpPr>
          <p:cNvPr id="11" name="Shape 7"/>
          <p:cNvSpPr/>
          <p:nvPr/>
        </p:nvSpPr>
        <p:spPr>
          <a:xfrm>
            <a:off x="5280660" y="2976372"/>
            <a:ext cx="502920" cy="502920"/>
          </a:xfrm>
          <a:prstGeom prst="ellipse">
            <a:avLst/>
          </a:prstGeom>
          <a:solidFill>
            <a:srgbClr val="02C39A"/>
          </a:solidFill>
          <a:effectLst>
            <a:outerShdw blurRad="76200" dist="25400" dir="5400000" algn="bl" rotWithShape="0">
              <a:srgbClr val="1B2A4A">
                <a:alpha val="25000"/>
              </a:srgbClr>
            </a:outerShdw>
          </a:effectLst>
        </p:spPr>
      </p:sp>
      <p:pic>
        <p:nvPicPr>
          <p:cNvPr id="12" name="Image 1" descr="/home/claude/build/icons/shield.png"/>
          <p:cNvPicPr>
            <a:picLocks noChangeAspect="1"/>
          </p:cNvPicPr>
          <p:nvPr/>
        </p:nvPicPr>
        <p:blipFill>
          <a:blip r:embed="rId2"/>
          <a:stretch>
            <a:fillRect/>
          </a:stretch>
        </p:blipFill>
        <p:spPr>
          <a:xfrm>
            <a:off x="5411419" y="3107131"/>
            <a:ext cx="241402" cy="241402"/>
          </a:xfrm>
          <a:prstGeom prst="rect">
            <a:avLst/>
          </a:prstGeom>
        </p:spPr>
      </p:pic>
      <p:sp>
        <p:nvSpPr>
          <p:cNvPr id="13" name="Text 8"/>
          <p:cNvSpPr/>
          <p:nvPr/>
        </p:nvSpPr>
        <p:spPr>
          <a:xfrm>
            <a:off x="914400" y="2971800"/>
            <a:ext cx="4343400" cy="685800"/>
          </a:xfrm>
          <a:prstGeom prst="rect">
            <a:avLst/>
          </a:prstGeom>
          <a:noFill/>
        </p:spPr>
        <p:txBody>
          <a:bodyPr wrap="square" rtlCol="0" anchor="ctr"/>
          <a:lstStyle/>
          <a:p>
            <a:pPr marL="0" indent="0" algn="r" rtl="1">
              <a:lnSpc>
                <a:spcPct val="115000"/>
              </a:lnSpc>
              <a:buNone/>
            </a:pPr>
            <a:r>
              <a:rPr lang="en-US" sz="1250" dirty="0">
                <a:solidFill>
                  <a:srgbClr val="FFFFFF"/>
                </a:solidFill>
                <a:latin typeface="Arial" panose="020B0604020202020204" pitchFamily="34" charset="0"/>
                <a:ea typeface="Arial" panose="020B0604020202020204" pitchFamily="34" charset="-122"/>
                <a:cs typeface="Arial" panose="020B0604020202020204" pitchFamily="34" charset="-120"/>
              </a:rPr>
              <a:t>احراز هویت مبتنی بر JWT و کنترل دسترسی مبتنی بر نقش (RBAC)</a:t>
            </a:r>
            <a:endParaRPr lang="en-US" sz="1250" dirty="0"/>
          </a:p>
        </p:txBody>
      </p:sp>
      <p:sp>
        <p:nvSpPr>
          <p:cNvPr id="14" name="Shape 9"/>
          <p:cNvSpPr/>
          <p:nvPr/>
        </p:nvSpPr>
        <p:spPr>
          <a:xfrm>
            <a:off x="5280660" y="3799332"/>
            <a:ext cx="502920" cy="502920"/>
          </a:xfrm>
          <a:prstGeom prst="ellipse">
            <a:avLst/>
          </a:prstGeom>
          <a:solidFill>
            <a:srgbClr val="02C39A"/>
          </a:solidFill>
          <a:effectLst>
            <a:outerShdw blurRad="76200" dist="25400" dir="5400000" algn="bl" rotWithShape="0">
              <a:srgbClr val="1B2A4A">
                <a:alpha val="25000"/>
              </a:srgbClr>
            </a:outerShdw>
          </a:effectLst>
        </p:spPr>
      </p:sp>
      <p:pic>
        <p:nvPicPr>
          <p:cNvPr id="15" name="Image 2" descr="/home/claude/build/icons/check.png"/>
          <p:cNvPicPr>
            <a:picLocks noChangeAspect="1"/>
          </p:cNvPicPr>
          <p:nvPr/>
        </p:nvPicPr>
        <p:blipFill>
          <a:blip r:embed="rId3"/>
          <a:stretch>
            <a:fillRect/>
          </a:stretch>
        </p:blipFill>
        <p:spPr>
          <a:xfrm>
            <a:off x="5411419" y="3930091"/>
            <a:ext cx="241402" cy="241402"/>
          </a:xfrm>
          <a:prstGeom prst="rect">
            <a:avLst/>
          </a:prstGeom>
        </p:spPr>
      </p:pic>
      <p:sp>
        <p:nvSpPr>
          <p:cNvPr id="16" name="Text 10"/>
          <p:cNvSpPr/>
          <p:nvPr/>
        </p:nvSpPr>
        <p:spPr>
          <a:xfrm>
            <a:off x="914400" y="3794760"/>
            <a:ext cx="4343400" cy="685800"/>
          </a:xfrm>
          <a:prstGeom prst="rect">
            <a:avLst/>
          </a:prstGeom>
          <a:noFill/>
        </p:spPr>
        <p:txBody>
          <a:bodyPr wrap="square" rtlCol="0" anchor="ctr"/>
          <a:lstStyle/>
          <a:p>
            <a:pPr marL="0" indent="0" algn="r" rtl="1">
              <a:lnSpc>
                <a:spcPct val="115000"/>
              </a:lnSpc>
              <a:buNone/>
            </a:pPr>
            <a:r>
              <a:rPr lang="en-US" sz="1250" dirty="0">
                <a:solidFill>
                  <a:srgbClr val="FFFFFF"/>
                </a:solidFill>
                <a:latin typeface="Arial" panose="020B0604020202020204" pitchFamily="34" charset="0"/>
                <a:ea typeface="Arial" panose="020B0604020202020204" pitchFamily="34" charset="-122"/>
                <a:cs typeface="Arial" panose="020B0604020202020204" pitchFamily="34" charset="-120"/>
              </a:rPr>
              <a:t>اعتبارسنجی تمامی ورودی‌ها پیش از پردازش</a:t>
            </a:r>
            <a:endParaRPr lang="en-US" sz="1250" dirty="0"/>
          </a:p>
        </p:txBody>
      </p:sp>
      <p:sp>
        <p:nvSpPr>
          <p:cNvPr id="17" name="Shape 11"/>
          <p:cNvSpPr/>
          <p:nvPr/>
        </p:nvSpPr>
        <p:spPr>
          <a:xfrm>
            <a:off x="5280660" y="4622292"/>
            <a:ext cx="502920" cy="502920"/>
          </a:xfrm>
          <a:prstGeom prst="ellipse">
            <a:avLst/>
          </a:prstGeom>
          <a:solidFill>
            <a:srgbClr val="02C39A"/>
          </a:solidFill>
          <a:effectLst>
            <a:outerShdw blurRad="76200" dist="25400" dir="5400000" algn="bl" rotWithShape="0">
              <a:srgbClr val="1B2A4A">
                <a:alpha val="25000"/>
              </a:srgbClr>
            </a:outerShdw>
          </a:effectLst>
        </p:spPr>
      </p:sp>
      <p:pic>
        <p:nvPicPr>
          <p:cNvPr id="18" name="Image 3" descr="/home/claude/build/icons/warning.png"/>
          <p:cNvPicPr>
            <a:picLocks noChangeAspect="1"/>
          </p:cNvPicPr>
          <p:nvPr/>
        </p:nvPicPr>
        <p:blipFill>
          <a:blip r:embed="rId4"/>
          <a:stretch>
            <a:fillRect/>
          </a:stretch>
        </p:blipFill>
        <p:spPr>
          <a:xfrm>
            <a:off x="5411419" y="4753051"/>
            <a:ext cx="241402" cy="241402"/>
          </a:xfrm>
          <a:prstGeom prst="rect">
            <a:avLst/>
          </a:prstGeom>
        </p:spPr>
      </p:pic>
      <p:sp>
        <p:nvSpPr>
          <p:cNvPr id="19" name="Text 12"/>
          <p:cNvSpPr/>
          <p:nvPr/>
        </p:nvSpPr>
        <p:spPr>
          <a:xfrm>
            <a:off x="914400" y="4617720"/>
            <a:ext cx="4343400" cy="685800"/>
          </a:xfrm>
          <a:prstGeom prst="rect">
            <a:avLst/>
          </a:prstGeom>
          <a:noFill/>
        </p:spPr>
        <p:txBody>
          <a:bodyPr wrap="square" rtlCol="0" anchor="ctr"/>
          <a:lstStyle/>
          <a:p>
            <a:pPr marL="0" indent="0" algn="r" rtl="1">
              <a:lnSpc>
                <a:spcPct val="115000"/>
              </a:lnSpc>
              <a:buNone/>
            </a:pPr>
            <a:r>
              <a:rPr lang="en-US" sz="1250" dirty="0">
                <a:solidFill>
                  <a:srgbClr val="FFFFFF"/>
                </a:solidFill>
                <a:latin typeface="Arial" panose="020B0604020202020204" pitchFamily="34" charset="0"/>
                <a:ea typeface="Arial" panose="020B0604020202020204" pitchFamily="34" charset="-122"/>
                <a:cs typeface="Arial" panose="020B0604020202020204" pitchFamily="34" charset="-120"/>
              </a:rPr>
              <a:t>محدودسازی نرخ درخواست‌ها (Rate Limiting) برای جلوگیری از سوءاستفاده</a:t>
            </a:r>
            <a:endParaRPr lang="en-US" sz="1250" dirty="0"/>
          </a:p>
        </p:txBody>
      </p:sp>
      <p:sp>
        <p:nvSpPr>
          <p:cNvPr id="20" name="Shape 13"/>
          <p:cNvSpPr/>
          <p:nvPr/>
        </p:nvSpPr>
        <p:spPr>
          <a:xfrm>
            <a:off x="5280660" y="5445252"/>
            <a:ext cx="502920" cy="502920"/>
          </a:xfrm>
          <a:prstGeom prst="ellipse">
            <a:avLst/>
          </a:prstGeom>
          <a:solidFill>
            <a:srgbClr val="02C39A"/>
          </a:solidFill>
          <a:effectLst>
            <a:outerShdw blurRad="76200" dist="25400" dir="5400000" algn="bl" rotWithShape="0">
              <a:srgbClr val="1B2A4A">
                <a:alpha val="25000"/>
              </a:srgbClr>
            </a:outerShdw>
          </a:effectLst>
        </p:spPr>
      </p:sp>
      <p:pic>
        <p:nvPicPr>
          <p:cNvPr id="21" name="Image 4" descr="/home/claude/build/icons/clipboard.png"/>
          <p:cNvPicPr>
            <a:picLocks noChangeAspect="1"/>
          </p:cNvPicPr>
          <p:nvPr/>
        </p:nvPicPr>
        <p:blipFill>
          <a:blip r:embed="rId5"/>
          <a:stretch>
            <a:fillRect/>
          </a:stretch>
        </p:blipFill>
        <p:spPr>
          <a:xfrm>
            <a:off x="5411419" y="5576011"/>
            <a:ext cx="241402" cy="241402"/>
          </a:xfrm>
          <a:prstGeom prst="rect">
            <a:avLst/>
          </a:prstGeom>
        </p:spPr>
      </p:pic>
      <p:sp>
        <p:nvSpPr>
          <p:cNvPr id="22" name="Text 14"/>
          <p:cNvSpPr/>
          <p:nvPr/>
        </p:nvSpPr>
        <p:spPr>
          <a:xfrm>
            <a:off x="914400" y="5440680"/>
            <a:ext cx="4343400" cy="685800"/>
          </a:xfrm>
          <a:prstGeom prst="rect">
            <a:avLst/>
          </a:prstGeom>
          <a:noFill/>
        </p:spPr>
        <p:txBody>
          <a:bodyPr wrap="square" rtlCol="0" anchor="ctr"/>
          <a:lstStyle/>
          <a:p>
            <a:pPr marL="0" indent="0" algn="r" rtl="1">
              <a:lnSpc>
                <a:spcPct val="115000"/>
              </a:lnSpc>
              <a:buNone/>
            </a:pPr>
            <a:r>
              <a:rPr lang="en-US" sz="1250" dirty="0">
                <a:solidFill>
                  <a:srgbClr val="FFFFFF"/>
                </a:solidFill>
                <a:latin typeface="Arial" panose="020B0604020202020204" pitchFamily="34" charset="0"/>
                <a:ea typeface="Arial" panose="020B0604020202020204" pitchFamily="34" charset="-122"/>
                <a:cs typeface="Arial" panose="020B0604020202020204" pitchFamily="34" charset="-120"/>
              </a:rPr>
              <a:t>ثبت رویدادهای امنیتی و مدیریت نشست‌های منقضی‌شده</a:t>
            </a:r>
            <a:endParaRPr lang="en-US" sz="1250" dirty="0"/>
          </a:p>
        </p:txBody>
      </p:sp>
      <p:sp>
        <p:nvSpPr>
          <p:cNvPr id="23" name="Text 15"/>
          <p:cNvSpPr/>
          <p:nvPr/>
        </p:nvSpPr>
        <p:spPr>
          <a:xfrm>
            <a:off x="11548872" y="6446520"/>
            <a:ext cx="365760" cy="274320"/>
          </a:xfrm>
          <a:prstGeom prst="rect">
            <a:avLst/>
          </a:prstGeom>
          <a:noFill/>
        </p:spPr>
        <p:txBody>
          <a:bodyPr wrap="square" rtlCol="0" anchor="ctr"/>
          <a:lstStyle/>
          <a:p>
            <a:pPr marL="0" indent="0" algn="l">
              <a:buNone/>
            </a:pPr>
            <a:r>
              <a:rPr lang="en-US" sz="1100" dirty="0">
                <a:solidFill>
                  <a:srgbClr val="5B7285"/>
                </a:solidFill>
                <a:latin typeface="Arial" panose="020B0604020202020204" pitchFamily="34" charset="0"/>
                <a:ea typeface="Arial" panose="020B0604020202020204" pitchFamily="34" charset="-122"/>
                <a:cs typeface="Arial" panose="020B0604020202020204"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908792" cy="731520"/>
          </a:xfrm>
          <a:prstGeom prst="rect">
            <a:avLst/>
          </a:prstGeom>
          <a:noFill/>
        </p:spPr>
        <p:txBody>
          <a:bodyPr wrap="square" rtlCol="0" anchor="ctr"/>
          <a:lstStyle/>
          <a:p>
            <a:pPr marL="0" indent="0" algn="r" rtl="1">
              <a:buNone/>
            </a:pPr>
            <a:r>
              <a:rPr lang="en-US" sz="3000" b="1" dirty="0">
                <a:solidFill>
                  <a:srgbClr val="13314D"/>
                </a:solidFill>
                <a:latin typeface="Arial" panose="020B0604020202020204" pitchFamily="34" charset="0"/>
                <a:ea typeface="Arial" panose="020B0604020202020204" pitchFamily="34" charset="-122"/>
                <a:cs typeface="Arial" panose="020B0604020202020204" pitchFamily="34" charset="-120"/>
              </a:rPr>
              <a:t>سرویس‌های سامانه — نمای کلی</a:t>
            </a:r>
            <a:endParaRPr lang="en-US" sz="3000" dirty="0"/>
          </a:p>
        </p:txBody>
      </p:sp>
      <p:sp>
        <p:nvSpPr>
          <p:cNvPr id="3" name="Text 1"/>
          <p:cNvSpPr/>
          <p:nvPr/>
        </p:nvSpPr>
        <p:spPr>
          <a:xfrm>
            <a:off x="640080" y="1143000"/>
            <a:ext cx="10908792" cy="457200"/>
          </a:xfrm>
          <a:prstGeom prst="rect">
            <a:avLst/>
          </a:prstGeom>
          <a:noFill/>
        </p:spPr>
        <p:txBody>
          <a:bodyPr wrap="square" rtlCol="0" anchor="ctr"/>
          <a:lstStyle/>
          <a:p>
            <a:pPr marL="0" indent="0" algn="r" rtl="1">
              <a:buNone/>
            </a:pPr>
            <a:r>
              <a:rPr lang="en-US" sz="1350" dirty="0">
                <a:solidFill>
                  <a:srgbClr val="5B7285"/>
                </a:solidFill>
                <a:latin typeface="Arial" panose="020B0604020202020204" pitchFamily="34" charset="0"/>
                <a:ea typeface="Arial" panose="020B0604020202020204" pitchFamily="34" charset="-122"/>
                <a:cs typeface="Arial" panose="020B0604020202020204" pitchFamily="34" charset="-120"/>
              </a:rPr>
              <a:t>معماری خدمت‌گرا (SOA) سامانه از ده سرویس مستقل تشکیل شده که هر یک مالک حوزه مشخصی از داده و منطق کسب‌وکار است.</a:t>
            </a:r>
            <a:endParaRPr lang="en-US" sz="1350" dirty="0"/>
          </a:p>
        </p:txBody>
      </p:sp>
      <p:sp>
        <p:nvSpPr>
          <p:cNvPr id="4" name="Shape 2"/>
          <p:cNvSpPr/>
          <p:nvPr/>
        </p:nvSpPr>
        <p:spPr>
          <a:xfrm>
            <a:off x="749808" y="2057400"/>
            <a:ext cx="1962302" cy="1874520"/>
          </a:xfrm>
          <a:prstGeom prst="roundRect">
            <a:avLst>
              <a:gd name="adj" fmla="val 4878"/>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5" name="Shape 3"/>
          <p:cNvSpPr/>
          <p:nvPr/>
        </p:nvSpPr>
        <p:spPr>
          <a:xfrm>
            <a:off x="1401775" y="2322576"/>
            <a:ext cx="658368" cy="658368"/>
          </a:xfrm>
          <a:prstGeom prst="ellipse">
            <a:avLst/>
          </a:prstGeom>
          <a:solidFill>
            <a:srgbClr val="065A82"/>
          </a:solidFill>
          <a:effectLst>
            <a:outerShdw blurRad="76200" dist="25400" dir="5400000" algn="bl" rotWithShape="0">
              <a:srgbClr val="1B2A4A">
                <a:alpha val="25000"/>
              </a:srgbClr>
            </a:outerShdw>
          </a:effectLst>
        </p:spPr>
      </p:sp>
      <p:pic>
        <p:nvPicPr>
          <p:cNvPr id="6" name="Image 0" descr="/home/claude/build/icons/lock.png"/>
          <p:cNvPicPr>
            <a:picLocks noChangeAspect="1"/>
          </p:cNvPicPr>
          <p:nvPr/>
        </p:nvPicPr>
        <p:blipFill>
          <a:blip r:embed="rId1"/>
          <a:stretch>
            <a:fillRect/>
          </a:stretch>
        </p:blipFill>
        <p:spPr>
          <a:xfrm>
            <a:off x="1572951" y="2493752"/>
            <a:ext cx="316017" cy="316017"/>
          </a:xfrm>
          <a:prstGeom prst="rect">
            <a:avLst/>
          </a:prstGeom>
        </p:spPr>
      </p:pic>
      <p:sp>
        <p:nvSpPr>
          <p:cNvPr id="7" name="Text 4"/>
          <p:cNvSpPr/>
          <p:nvPr/>
        </p:nvSpPr>
        <p:spPr>
          <a:xfrm>
            <a:off x="777240" y="3108960"/>
            <a:ext cx="1907438" cy="411480"/>
          </a:xfrm>
          <a:prstGeom prst="rect">
            <a:avLst/>
          </a:prstGeom>
          <a:noFill/>
        </p:spPr>
        <p:txBody>
          <a:bodyPr wrap="square" rtlCol="0" anchor="ctr"/>
          <a:lstStyle/>
          <a:p>
            <a:pPr marL="0" indent="0" algn="ctr" rtl="1">
              <a:buNone/>
            </a:pPr>
            <a:r>
              <a:rPr lang="en-US" sz="1250" b="1" dirty="0">
                <a:solidFill>
                  <a:srgbClr val="13314D"/>
                </a:solidFill>
                <a:latin typeface="Arial" panose="020B0604020202020204" pitchFamily="34" charset="0"/>
                <a:ea typeface="Arial" panose="020B0604020202020204" pitchFamily="34" charset="-122"/>
                <a:cs typeface="Arial" panose="020B0604020202020204" pitchFamily="34" charset="-120"/>
              </a:rPr>
              <a:t>احراز هویت</a:t>
            </a:r>
            <a:endParaRPr lang="en-US" sz="1250" dirty="0"/>
          </a:p>
        </p:txBody>
      </p:sp>
      <p:sp>
        <p:nvSpPr>
          <p:cNvPr id="8" name="Text 5"/>
          <p:cNvSpPr/>
          <p:nvPr/>
        </p:nvSpPr>
        <p:spPr>
          <a:xfrm>
            <a:off x="777240" y="3474720"/>
            <a:ext cx="1907438" cy="274320"/>
          </a:xfrm>
          <a:prstGeom prst="rect">
            <a:avLst/>
          </a:prstGeom>
          <a:noFill/>
        </p:spPr>
        <p:txBody>
          <a:bodyPr wrap="square" rtlCol="0" anchor="ctr"/>
          <a:lstStyle/>
          <a:p>
            <a:pPr marL="0" indent="0" algn="ctr">
              <a:buNone/>
            </a:pPr>
            <a:r>
              <a:rPr lang="en-US" sz="900" dirty="0">
                <a:solidFill>
                  <a:srgbClr val="5B7285"/>
                </a:solidFill>
                <a:latin typeface="Calibri" panose="020F0502020204030204" pitchFamily="34" charset="0"/>
                <a:ea typeface="Calibri" panose="020F0502020204030204" pitchFamily="34" charset="-122"/>
                <a:cs typeface="Calibri" panose="020F0502020204030204" pitchFamily="34" charset="-120"/>
              </a:rPr>
              <a:t>Authentication</a:t>
            </a:r>
            <a:endParaRPr lang="en-US" sz="900" dirty="0"/>
          </a:p>
        </p:txBody>
      </p:sp>
      <p:sp>
        <p:nvSpPr>
          <p:cNvPr id="9" name="Shape 6"/>
          <p:cNvSpPr/>
          <p:nvPr/>
        </p:nvSpPr>
        <p:spPr>
          <a:xfrm>
            <a:off x="2931566" y="2057400"/>
            <a:ext cx="1962302" cy="1874520"/>
          </a:xfrm>
          <a:prstGeom prst="roundRect">
            <a:avLst>
              <a:gd name="adj" fmla="val 4878"/>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10" name="Shape 7"/>
          <p:cNvSpPr/>
          <p:nvPr/>
        </p:nvSpPr>
        <p:spPr>
          <a:xfrm>
            <a:off x="3583534" y="2322576"/>
            <a:ext cx="658368" cy="658368"/>
          </a:xfrm>
          <a:prstGeom prst="ellipse">
            <a:avLst/>
          </a:prstGeom>
          <a:solidFill>
            <a:srgbClr val="065A82"/>
          </a:solidFill>
          <a:effectLst>
            <a:outerShdw blurRad="76200" dist="25400" dir="5400000" algn="bl" rotWithShape="0">
              <a:srgbClr val="1B2A4A">
                <a:alpha val="25000"/>
              </a:srgbClr>
            </a:outerShdw>
          </a:effectLst>
        </p:spPr>
      </p:sp>
      <p:pic>
        <p:nvPicPr>
          <p:cNvPr id="11" name="Image 1" descr="/home/claude/build/icons/users.png"/>
          <p:cNvPicPr>
            <a:picLocks noChangeAspect="1"/>
          </p:cNvPicPr>
          <p:nvPr/>
        </p:nvPicPr>
        <p:blipFill>
          <a:blip r:embed="rId2"/>
          <a:stretch>
            <a:fillRect/>
          </a:stretch>
        </p:blipFill>
        <p:spPr>
          <a:xfrm>
            <a:off x="3754709" y="2493752"/>
            <a:ext cx="316017" cy="316017"/>
          </a:xfrm>
          <a:prstGeom prst="rect">
            <a:avLst/>
          </a:prstGeom>
        </p:spPr>
      </p:pic>
      <p:sp>
        <p:nvSpPr>
          <p:cNvPr id="12" name="Text 8"/>
          <p:cNvSpPr/>
          <p:nvPr/>
        </p:nvSpPr>
        <p:spPr>
          <a:xfrm>
            <a:off x="2958998" y="3108960"/>
            <a:ext cx="1907438" cy="411480"/>
          </a:xfrm>
          <a:prstGeom prst="rect">
            <a:avLst/>
          </a:prstGeom>
          <a:noFill/>
        </p:spPr>
        <p:txBody>
          <a:bodyPr wrap="square" rtlCol="0" anchor="ctr"/>
          <a:lstStyle/>
          <a:p>
            <a:pPr marL="0" indent="0" algn="ctr" rtl="1">
              <a:buNone/>
            </a:pPr>
            <a:r>
              <a:rPr lang="en-US" sz="1250" b="1" dirty="0">
                <a:solidFill>
                  <a:srgbClr val="13314D"/>
                </a:solidFill>
                <a:latin typeface="Arial" panose="020B0604020202020204" pitchFamily="34" charset="0"/>
                <a:ea typeface="Arial" panose="020B0604020202020204" pitchFamily="34" charset="-122"/>
                <a:cs typeface="Arial" panose="020B0604020202020204" pitchFamily="34" charset="-120"/>
              </a:rPr>
              <a:t>مدیریت کاربران</a:t>
            </a:r>
            <a:endParaRPr lang="en-US" sz="1250" dirty="0"/>
          </a:p>
        </p:txBody>
      </p:sp>
      <p:sp>
        <p:nvSpPr>
          <p:cNvPr id="13" name="Text 9"/>
          <p:cNvSpPr/>
          <p:nvPr/>
        </p:nvSpPr>
        <p:spPr>
          <a:xfrm>
            <a:off x="2958998" y="3474720"/>
            <a:ext cx="1907438" cy="274320"/>
          </a:xfrm>
          <a:prstGeom prst="rect">
            <a:avLst/>
          </a:prstGeom>
          <a:noFill/>
        </p:spPr>
        <p:txBody>
          <a:bodyPr wrap="square" rtlCol="0" anchor="ctr"/>
          <a:lstStyle/>
          <a:p>
            <a:pPr marL="0" indent="0" algn="ctr">
              <a:buNone/>
            </a:pPr>
            <a:r>
              <a:rPr lang="en-US" sz="900" dirty="0">
                <a:solidFill>
                  <a:srgbClr val="5B7285"/>
                </a:solidFill>
                <a:latin typeface="Calibri" panose="020F0502020204030204" pitchFamily="34" charset="0"/>
                <a:ea typeface="Calibri" panose="020F0502020204030204" pitchFamily="34" charset="-122"/>
                <a:cs typeface="Calibri" panose="020F0502020204030204" pitchFamily="34" charset="-120"/>
              </a:rPr>
              <a:t>User Mgmt</a:t>
            </a:r>
            <a:endParaRPr lang="en-US" sz="900" dirty="0"/>
          </a:p>
        </p:txBody>
      </p:sp>
      <p:sp>
        <p:nvSpPr>
          <p:cNvPr id="14" name="Shape 10"/>
          <p:cNvSpPr/>
          <p:nvPr/>
        </p:nvSpPr>
        <p:spPr>
          <a:xfrm>
            <a:off x="5113325" y="2057400"/>
            <a:ext cx="1962302" cy="1874520"/>
          </a:xfrm>
          <a:prstGeom prst="roundRect">
            <a:avLst>
              <a:gd name="adj" fmla="val 4878"/>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15" name="Shape 11"/>
          <p:cNvSpPr/>
          <p:nvPr/>
        </p:nvSpPr>
        <p:spPr>
          <a:xfrm>
            <a:off x="5765292" y="2322576"/>
            <a:ext cx="658368" cy="658368"/>
          </a:xfrm>
          <a:prstGeom prst="ellipse">
            <a:avLst/>
          </a:prstGeom>
          <a:solidFill>
            <a:srgbClr val="065A82"/>
          </a:solidFill>
          <a:effectLst>
            <a:outerShdw blurRad="76200" dist="25400" dir="5400000" algn="bl" rotWithShape="0">
              <a:srgbClr val="1B2A4A">
                <a:alpha val="25000"/>
              </a:srgbClr>
            </a:outerShdw>
          </a:effectLst>
        </p:spPr>
      </p:sp>
      <p:pic>
        <p:nvPicPr>
          <p:cNvPr id="16" name="Image 2" descr="/home/claude/build/icons/chalk.png"/>
          <p:cNvPicPr>
            <a:picLocks noChangeAspect="1"/>
          </p:cNvPicPr>
          <p:nvPr/>
        </p:nvPicPr>
        <p:blipFill>
          <a:blip r:embed="rId3"/>
          <a:stretch>
            <a:fillRect/>
          </a:stretch>
        </p:blipFill>
        <p:spPr>
          <a:xfrm>
            <a:off x="5936468" y="2493752"/>
            <a:ext cx="316017" cy="316017"/>
          </a:xfrm>
          <a:prstGeom prst="rect">
            <a:avLst/>
          </a:prstGeom>
        </p:spPr>
      </p:pic>
      <p:sp>
        <p:nvSpPr>
          <p:cNvPr id="17" name="Text 12"/>
          <p:cNvSpPr/>
          <p:nvPr/>
        </p:nvSpPr>
        <p:spPr>
          <a:xfrm>
            <a:off x="5140757" y="3108960"/>
            <a:ext cx="1907438" cy="411480"/>
          </a:xfrm>
          <a:prstGeom prst="rect">
            <a:avLst/>
          </a:prstGeom>
          <a:noFill/>
        </p:spPr>
        <p:txBody>
          <a:bodyPr wrap="square" rtlCol="0" anchor="ctr"/>
          <a:lstStyle/>
          <a:p>
            <a:pPr marL="0" indent="0" algn="ctr" rtl="1">
              <a:buNone/>
            </a:pPr>
            <a:r>
              <a:rPr lang="en-US" sz="1250" b="1" dirty="0">
                <a:solidFill>
                  <a:srgbClr val="13314D"/>
                </a:solidFill>
                <a:latin typeface="Arial" panose="020B0604020202020204" pitchFamily="34" charset="0"/>
                <a:ea typeface="Arial" panose="020B0604020202020204" pitchFamily="34" charset="-122"/>
                <a:cs typeface="Arial" panose="020B0604020202020204" pitchFamily="34" charset="-120"/>
              </a:rPr>
              <a:t>مدیریت کلاس‌ها</a:t>
            </a:r>
            <a:endParaRPr lang="en-US" sz="1250" dirty="0"/>
          </a:p>
        </p:txBody>
      </p:sp>
      <p:sp>
        <p:nvSpPr>
          <p:cNvPr id="18" name="Text 13"/>
          <p:cNvSpPr/>
          <p:nvPr/>
        </p:nvSpPr>
        <p:spPr>
          <a:xfrm>
            <a:off x="5140757" y="3474720"/>
            <a:ext cx="1907438" cy="274320"/>
          </a:xfrm>
          <a:prstGeom prst="rect">
            <a:avLst/>
          </a:prstGeom>
          <a:noFill/>
        </p:spPr>
        <p:txBody>
          <a:bodyPr wrap="square" rtlCol="0" anchor="ctr"/>
          <a:lstStyle/>
          <a:p>
            <a:pPr marL="0" indent="0" algn="ctr">
              <a:buNone/>
            </a:pPr>
            <a:r>
              <a:rPr lang="en-US" sz="900" dirty="0">
                <a:solidFill>
                  <a:srgbClr val="5B7285"/>
                </a:solidFill>
                <a:latin typeface="Calibri" panose="020F0502020204030204" pitchFamily="34" charset="0"/>
                <a:ea typeface="Calibri" panose="020F0502020204030204" pitchFamily="34" charset="-122"/>
                <a:cs typeface="Calibri" panose="020F0502020204030204" pitchFamily="34" charset="-120"/>
              </a:rPr>
              <a:t>Class Mgmt</a:t>
            </a:r>
            <a:endParaRPr lang="en-US" sz="900" dirty="0"/>
          </a:p>
        </p:txBody>
      </p:sp>
      <p:sp>
        <p:nvSpPr>
          <p:cNvPr id="19" name="Shape 14"/>
          <p:cNvSpPr/>
          <p:nvPr/>
        </p:nvSpPr>
        <p:spPr>
          <a:xfrm>
            <a:off x="7295083" y="2057400"/>
            <a:ext cx="1962302" cy="1874520"/>
          </a:xfrm>
          <a:prstGeom prst="roundRect">
            <a:avLst>
              <a:gd name="adj" fmla="val 4878"/>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20" name="Shape 15"/>
          <p:cNvSpPr/>
          <p:nvPr/>
        </p:nvSpPr>
        <p:spPr>
          <a:xfrm>
            <a:off x="7947050" y="2322576"/>
            <a:ext cx="658368" cy="658368"/>
          </a:xfrm>
          <a:prstGeom prst="ellipse">
            <a:avLst/>
          </a:prstGeom>
          <a:solidFill>
            <a:srgbClr val="065A82"/>
          </a:solidFill>
          <a:effectLst>
            <a:outerShdw blurRad="76200" dist="25400" dir="5400000" algn="bl" rotWithShape="0">
              <a:srgbClr val="1B2A4A">
                <a:alpha val="25000"/>
              </a:srgbClr>
            </a:outerShdw>
          </a:effectLst>
        </p:spPr>
      </p:sp>
      <p:pic>
        <p:nvPicPr>
          <p:cNvPr id="21" name="Image 3" descr="/home/claude/build/icons/folder.png"/>
          <p:cNvPicPr>
            <a:picLocks noChangeAspect="1"/>
          </p:cNvPicPr>
          <p:nvPr/>
        </p:nvPicPr>
        <p:blipFill>
          <a:blip r:embed="rId4"/>
          <a:stretch>
            <a:fillRect/>
          </a:stretch>
        </p:blipFill>
        <p:spPr>
          <a:xfrm>
            <a:off x="8118226" y="2493752"/>
            <a:ext cx="316017" cy="316017"/>
          </a:xfrm>
          <a:prstGeom prst="rect">
            <a:avLst/>
          </a:prstGeom>
        </p:spPr>
      </p:pic>
      <p:sp>
        <p:nvSpPr>
          <p:cNvPr id="22" name="Text 16"/>
          <p:cNvSpPr/>
          <p:nvPr/>
        </p:nvSpPr>
        <p:spPr>
          <a:xfrm>
            <a:off x="7322515" y="3108960"/>
            <a:ext cx="1907438" cy="411480"/>
          </a:xfrm>
          <a:prstGeom prst="rect">
            <a:avLst/>
          </a:prstGeom>
          <a:noFill/>
        </p:spPr>
        <p:txBody>
          <a:bodyPr wrap="square" rtlCol="0" anchor="ctr"/>
          <a:lstStyle/>
          <a:p>
            <a:pPr marL="0" indent="0" algn="ctr" rtl="1">
              <a:buNone/>
            </a:pPr>
            <a:r>
              <a:rPr lang="en-US" sz="1250" b="1" dirty="0">
                <a:solidFill>
                  <a:srgbClr val="13314D"/>
                </a:solidFill>
                <a:latin typeface="Arial" panose="020B0604020202020204" pitchFamily="34" charset="0"/>
                <a:ea typeface="Arial" panose="020B0604020202020204" pitchFamily="34" charset="-122"/>
                <a:cs typeface="Arial" panose="020B0604020202020204" pitchFamily="34" charset="-120"/>
              </a:rPr>
              <a:t>مدیریت محتوا</a:t>
            </a:r>
            <a:endParaRPr lang="en-US" sz="1250" dirty="0"/>
          </a:p>
        </p:txBody>
      </p:sp>
      <p:sp>
        <p:nvSpPr>
          <p:cNvPr id="23" name="Text 17"/>
          <p:cNvSpPr/>
          <p:nvPr/>
        </p:nvSpPr>
        <p:spPr>
          <a:xfrm>
            <a:off x="7322515" y="3474720"/>
            <a:ext cx="1907438" cy="274320"/>
          </a:xfrm>
          <a:prstGeom prst="rect">
            <a:avLst/>
          </a:prstGeom>
          <a:noFill/>
        </p:spPr>
        <p:txBody>
          <a:bodyPr wrap="square" rtlCol="0" anchor="ctr"/>
          <a:lstStyle/>
          <a:p>
            <a:pPr marL="0" indent="0" algn="ctr">
              <a:buNone/>
            </a:pPr>
            <a:r>
              <a:rPr lang="en-US" sz="900" dirty="0">
                <a:solidFill>
                  <a:srgbClr val="5B7285"/>
                </a:solidFill>
                <a:latin typeface="Calibri" panose="020F0502020204030204" pitchFamily="34" charset="0"/>
                <a:ea typeface="Calibri" panose="020F0502020204030204" pitchFamily="34" charset="-122"/>
                <a:cs typeface="Calibri" panose="020F0502020204030204" pitchFamily="34" charset="-120"/>
              </a:rPr>
              <a:t>Content Mgmt</a:t>
            </a:r>
            <a:endParaRPr lang="en-US" sz="900" dirty="0"/>
          </a:p>
        </p:txBody>
      </p:sp>
      <p:sp>
        <p:nvSpPr>
          <p:cNvPr id="24" name="Shape 18"/>
          <p:cNvSpPr/>
          <p:nvPr/>
        </p:nvSpPr>
        <p:spPr>
          <a:xfrm>
            <a:off x="9476842" y="2057400"/>
            <a:ext cx="1962302" cy="1874520"/>
          </a:xfrm>
          <a:prstGeom prst="roundRect">
            <a:avLst>
              <a:gd name="adj" fmla="val 4878"/>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25" name="Shape 19"/>
          <p:cNvSpPr/>
          <p:nvPr/>
        </p:nvSpPr>
        <p:spPr>
          <a:xfrm>
            <a:off x="10128809" y="2322576"/>
            <a:ext cx="658368" cy="658368"/>
          </a:xfrm>
          <a:prstGeom prst="ellipse">
            <a:avLst/>
          </a:prstGeom>
          <a:solidFill>
            <a:srgbClr val="065A82"/>
          </a:solidFill>
          <a:effectLst>
            <a:outerShdw blurRad="76200" dist="25400" dir="5400000" algn="bl" rotWithShape="0">
              <a:srgbClr val="1B2A4A">
                <a:alpha val="25000"/>
              </a:srgbClr>
            </a:outerShdw>
          </a:effectLst>
        </p:spPr>
      </p:sp>
      <p:pic>
        <p:nvPicPr>
          <p:cNvPr id="26" name="Image 4" descr="/home/claude/build/icons/tasks.png"/>
          <p:cNvPicPr>
            <a:picLocks noChangeAspect="1"/>
          </p:cNvPicPr>
          <p:nvPr/>
        </p:nvPicPr>
        <p:blipFill>
          <a:blip r:embed="rId5"/>
          <a:stretch>
            <a:fillRect/>
          </a:stretch>
        </p:blipFill>
        <p:spPr>
          <a:xfrm>
            <a:off x="10299984" y="2493752"/>
            <a:ext cx="316017" cy="316017"/>
          </a:xfrm>
          <a:prstGeom prst="rect">
            <a:avLst/>
          </a:prstGeom>
        </p:spPr>
      </p:pic>
      <p:sp>
        <p:nvSpPr>
          <p:cNvPr id="27" name="Text 20"/>
          <p:cNvSpPr/>
          <p:nvPr/>
        </p:nvSpPr>
        <p:spPr>
          <a:xfrm>
            <a:off x="9504274" y="3108960"/>
            <a:ext cx="1907438" cy="411480"/>
          </a:xfrm>
          <a:prstGeom prst="rect">
            <a:avLst/>
          </a:prstGeom>
          <a:noFill/>
        </p:spPr>
        <p:txBody>
          <a:bodyPr wrap="square" rtlCol="0" anchor="ctr"/>
          <a:lstStyle/>
          <a:p>
            <a:pPr marL="0" indent="0" algn="ctr" rtl="1">
              <a:buNone/>
            </a:pPr>
            <a:r>
              <a:rPr lang="en-US" sz="1250" b="1" dirty="0">
                <a:solidFill>
                  <a:srgbClr val="13314D"/>
                </a:solidFill>
                <a:latin typeface="Arial" panose="020B0604020202020204" pitchFamily="34" charset="0"/>
                <a:ea typeface="Arial" panose="020B0604020202020204" pitchFamily="34" charset="-122"/>
                <a:cs typeface="Arial" panose="020B0604020202020204" pitchFamily="34" charset="-120"/>
              </a:rPr>
              <a:t>مدیریت تکالیف</a:t>
            </a:r>
            <a:endParaRPr lang="en-US" sz="1250" dirty="0"/>
          </a:p>
        </p:txBody>
      </p:sp>
      <p:sp>
        <p:nvSpPr>
          <p:cNvPr id="28" name="Text 21"/>
          <p:cNvSpPr/>
          <p:nvPr/>
        </p:nvSpPr>
        <p:spPr>
          <a:xfrm>
            <a:off x="9504274" y="3474720"/>
            <a:ext cx="1907438" cy="274320"/>
          </a:xfrm>
          <a:prstGeom prst="rect">
            <a:avLst/>
          </a:prstGeom>
          <a:noFill/>
        </p:spPr>
        <p:txBody>
          <a:bodyPr wrap="square" rtlCol="0" anchor="ctr"/>
          <a:lstStyle/>
          <a:p>
            <a:pPr marL="0" indent="0" algn="ctr">
              <a:buNone/>
            </a:pPr>
            <a:r>
              <a:rPr lang="en-US" sz="900" dirty="0">
                <a:solidFill>
                  <a:srgbClr val="5B7285"/>
                </a:solidFill>
                <a:latin typeface="Calibri" panose="020F0502020204030204" pitchFamily="34" charset="0"/>
                <a:ea typeface="Calibri" panose="020F0502020204030204" pitchFamily="34" charset="-122"/>
                <a:cs typeface="Calibri" panose="020F0502020204030204" pitchFamily="34" charset="-120"/>
              </a:rPr>
              <a:t>Assignment</a:t>
            </a:r>
            <a:endParaRPr lang="en-US" sz="900" dirty="0"/>
          </a:p>
        </p:txBody>
      </p:sp>
      <p:sp>
        <p:nvSpPr>
          <p:cNvPr id="29" name="Shape 22"/>
          <p:cNvSpPr/>
          <p:nvPr/>
        </p:nvSpPr>
        <p:spPr>
          <a:xfrm>
            <a:off x="749808" y="4206240"/>
            <a:ext cx="1962302" cy="1874520"/>
          </a:xfrm>
          <a:prstGeom prst="roundRect">
            <a:avLst>
              <a:gd name="adj" fmla="val 4878"/>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30" name="Shape 23"/>
          <p:cNvSpPr/>
          <p:nvPr/>
        </p:nvSpPr>
        <p:spPr>
          <a:xfrm>
            <a:off x="1401775" y="4471416"/>
            <a:ext cx="658368" cy="658368"/>
          </a:xfrm>
          <a:prstGeom prst="ellipse">
            <a:avLst/>
          </a:prstGeom>
          <a:solidFill>
            <a:srgbClr val="1C7293"/>
          </a:solidFill>
          <a:effectLst>
            <a:outerShdw blurRad="76200" dist="25400" dir="5400000" algn="bl" rotWithShape="0">
              <a:srgbClr val="1B2A4A">
                <a:alpha val="25000"/>
              </a:srgbClr>
            </a:outerShdw>
          </a:effectLst>
        </p:spPr>
      </p:sp>
      <p:pic>
        <p:nvPicPr>
          <p:cNvPr id="31" name="Image 5" descr="/home/claude/build/icons/pencil.png"/>
          <p:cNvPicPr>
            <a:picLocks noChangeAspect="1"/>
          </p:cNvPicPr>
          <p:nvPr/>
        </p:nvPicPr>
        <p:blipFill>
          <a:blip r:embed="rId6"/>
          <a:stretch>
            <a:fillRect/>
          </a:stretch>
        </p:blipFill>
        <p:spPr>
          <a:xfrm>
            <a:off x="1572951" y="4642592"/>
            <a:ext cx="316017" cy="316017"/>
          </a:xfrm>
          <a:prstGeom prst="rect">
            <a:avLst/>
          </a:prstGeom>
        </p:spPr>
      </p:pic>
      <p:sp>
        <p:nvSpPr>
          <p:cNvPr id="32" name="Text 24"/>
          <p:cNvSpPr/>
          <p:nvPr/>
        </p:nvSpPr>
        <p:spPr>
          <a:xfrm>
            <a:off x="777240" y="5257800"/>
            <a:ext cx="1907438" cy="411480"/>
          </a:xfrm>
          <a:prstGeom prst="rect">
            <a:avLst/>
          </a:prstGeom>
          <a:noFill/>
        </p:spPr>
        <p:txBody>
          <a:bodyPr wrap="square" rtlCol="0" anchor="ctr"/>
          <a:lstStyle/>
          <a:p>
            <a:pPr marL="0" indent="0" algn="ctr" rtl="1">
              <a:buNone/>
            </a:pPr>
            <a:r>
              <a:rPr lang="en-US" sz="1250" b="1" dirty="0">
                <a:solidFill>
                  <a:srgbClr val="13314D"/>
                </a:solidFill>
                <a:latin typeface="Arial" panose="020B0604020202020204" pitchFamily="34" charset="0"/>
                <a:ea typeface="Arial" panose="020B0604020202020204" pitchFamily="34" charset="-122"/>
                <a:cs typeface="Arial" panose="020B0604020202020204" pitchFamily="34" charset="-120"/>
              </a:rPr>
              <a:t>آزمون‌های آنلاین</a:t>
            </a:r>
            <a:endParaRPr lang="en-US" sz="1250" dirty="0"/>
          </a:p>
        </p:txBody>
      </p:sp>
      <p:sp>
        <p:nvSpPr>
          <p:cNvPr id="33" name="Text 25"/>
          <p:cNvSpPr/>
          <p:nvPr/>
        </p:nvSpPr>
        <p:spPr>
          <a:xfrm>
            <a:off x="777240" y="5623560"/>
            <a:ext cx="1907438" cy="274320"/>
          </a:xfrm>
          <a:prstGeom prst="rect">
            <a:avLst/>
          </a:prstGeom>
          <a:noFill/>
        </p:spPr>
        <p:txBody>
          <a:bodyPr wrap="square" rtlCol="0" anchor="ctr"/>
          <a:lstStyle/>
          <a:p>
            <a:pPr marL="0" indent="0" algn="ctr">
              <a:buNone/>
            </a:pPr>
            <a:r>
              <a:rPr lang="en-US" sz="900" dirty="0">
                <a:solidFill>
                  <a:srgbClr val="5B7285"/>
                </a:solidFill>
                <a:latin typeface="Calibri" panose="020F0502020204030204" pitchFamily="34" charset="0"/>
                <a:ea typeface="Calibri" panose="020F0502020204030204" pitchFamily="34" charset="-122"/>
                <a:cs typeface="Calibri" panose="020F0502020204030204" pitchFamily="34" charset="-120"/>
              </a:rPr>
              <a:t>Examination</a:t>
            </a:r>
            <a:endParaRPr lang="en-US" sz="900" dirty="0"/>
          </a:p>
        </p:txBody>
      </p:sp>
      <p:sp>
        <p:nvSpPr>
          <p:cNvPr id="34" name="Shape 26"/>
          <p:cNvSpPr/>
          <p:nvPr/>
        </p:nvSpPr>
        <p:spPr>
          <a:xfrm>
            <a:off x="2931566" y="4206240"/>
            <a:ext cx="1962302" cy="1874520"/>
          </a:xfrm>
          <a:prstGeom prst="roundRect">
            <a:avLst>
              <a:gd name="adj" fmla="val 4878"/>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35" name="Shape 27"/>
          <p:cNvSpPr/>
          <p:nvPr/>
        </p:nvSpPr>
        <p:spPr>
          <a:xfrm>
            <a:off x="3583534" y="4471416"/>
            <a:ext cx="658368" cy="658368"/>
          </a:xfrm>
          <a:prstGeom prst="ellipse">
            <a:avLst/>
          </a:prstGeom>
          <a:solidFill>
            <a:srgbClr val="1C7293"/>
          </a:solidFill>
          <a:effectLst>
            <a:outerShdw blurRad="76200" dist="25400" dir="5400000" algn="bl" rotWithShape="0">
              <a:srgbClr val="1B2A4A">
                <a:alpha val="25000"/>
              </a:srgbClr>
            </a:outerShdw>
          </a:effectLst>
        </p:spPr>
      </p:sp>
      <p:pic>
        <p:nvPicPr>
          <p:cNvPr id="36" name="Image 6" descr="/home/claude/build/icons/clipboard.png"/>
          <p:cNvPicPr>
            <a:picLocks noChangeAspect="1"/>
          </p:cNvPicPr>
          <p:nvPr/>
        </p:nvPicPr>
        <p:blipFill>
          <a:blip r:embed="rId7"/>
          <a:stretch>
            <a:fillRect/>
          </a:stretch>
        </p:blipFill>
        <p:spPr>
          <a:xfrm>
            <a:off x="3754709" y="4642592"/>
            <a:ext cx="316017" cy="316017"/>
          </a:xfrm>
          <a:prstGeom prst="rect">
            <a:avLst/>
          </a:prstGeom>
        </p:spPr>
      </p:pic>
      <p:sp>
        <p:nvSpPr>
          <p:cNvPr id="37" name="Text 28"/>
          <p:cNvSpPr/>
          <p:nvPr/>
        </p:nvSpPr>
        <p:spPr>
          <a:xfrm>
            <a:off x="2958998" y="5257800"/>
            <a:ext cx="1907438" cy="411480"/>
          </a:xfrm>
          <a:prstGeom prst="rect">
            <a:avLst/>
          </a:prstGeom>
          <a:noFill/>
        </p:spPr>
        <p:txBody>
          <a:bodyPr wrap="square" rtlCol="0" anchor="ctr"/>
          <a:lstStyle/>
          <a:p>
            <a:pPr marL="0" indent="0" algn="ctr" rtl="1">
              <a:buNone/>
            </a:pPr>
            <a:r>
              <a:rPr lang="en-US" sz="1250" b="1" dirty="0">
                <a:solidFill>
                  <a:srgbClr val="13314D"/>
                </a:solidFill>
                <a:latin typeface="Arial" panose="020B0604020202020204" pitchFamily="34" charset="0"/>
                <a:ea typeface="Arial" panose="020B0604020202020204" pitchFamily="34" charset="-122"/>
                <a:cs typeface="Arial" panose="020B0604020202020204" pitchFamily="34" charset="-120"/>
              </a:rPr>
              <a:t>حضور و غیاب</a:t>
            </a:r>
            <a:endParaRPr lang="en-US" sz="1250" dirty="0"/>
          </a:p>
        </p:txBody>
      </p:sp>
      <p:sp>
        <p:nvSpPr>
          <p:cNvPr id="38" name="Text 29"/>
          <p:cNvSpPr/>
          <p:nvPr/>
        </p:nvSpPr>
        <p:spPr>
          <a:xfrm>
            <a:off x="2958998" y="5623560"/>
            <a:ext cx="1907438" cy="274320"/>
          </a:xfrm>
          <a:prstGeom prst="rect">
            <a:avLst/>
          </a:prstGeom>
          <a:noFill/>
        </p:spPr>
        <p:txBody>
          <a:bodyPr wrap="square" rtlCol="0" anchor="ctr"/>
          <a:lstStyle/>
          <a:p>
            <a:pPr marL="0" indent="0" algn="ctr">
              <a:buNone/>
            </a:pPr>
            <a:r>
              <a:rPr lang="en-US" sz="900" dirty="0">
                <a:solidFill>
                  <a:srgbClr val="5B7285"/>
                </a:solidFill>
                <a:latin typeface="Calibri" panose="020F0502020204030204" pitchFamily="34" charset="0"/>
                <a:ea typeface="Calibri" panose="020F0502020204030204" pitchFamily="34" charset="-122"/>
                <a:cs typeface="Calibri" panose="020F0502020204030204" pitchFamily="34" charset="-120"/>
              </a:rPr>
              <a:t>Attendance</a:t>
            </a:r>
            <a:endParaRPr lang="en-US" sz="900" dirty="0"/>
          </a:p>
        </p:txBody>
      </p:sp>
      <p:sp>
        <p:nvSpPr>
          <p:cNvPr id="39" name="Shape 30"/>
          <p:cNvSpPr/>
          <p:nvPr/>
        </p:nvSpPr>
        <p:spPr>
          <a:xfrm>
            <a:off x="5113325" y="4206240"/>
            <a:ext cx="1962302" cy="1874520"/>
          </a:xfrm>
          <a:prstGeom prst="roundRect">
            <a:avLst>
              <a:gd name="adj" fmla="val 4878"/>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40" name="Shape 31"/>
          <p:cNvSpPr/>
          <p:nvPr/>
        </p:nvSpPr>
        <p:spPr>
          <a:xfrm>
            <a:off x="5765292" y="4471416"/>
            <a:ext cx="658368" cy="658368"/>
          </a:xfrm>
          <a:prstGeom prst="ellipse">
            <a:avLst/>
          </a:prstGeom>
          <a:solidFill>
            <a:srgbClr val="1C7293"/>
          </a:solidFill>
          <a:effectLst>
            <a:outerShdw blurRad="76200" dist="25400" dir="5400000" algn="bl" rotWithShape="0">
              <a:srgbClr val="1B2A4A">
                <a:alpha val="25000"/>
              </a:srgbClr>
            </a:outerShdw>
          </a:effectLst>
        </p:spPr>
      </p:sp>
      <p:pic>
        <p:nvPicPr>
          <p:cNvPr id="41" name="Image 7" descr="/home/claude/build/icons/comments.png"/>
          <p:cNvPicPr>
            <a:picLocks noChangeAspect="1"/>
          </p:cNvPicPr>
          <p:nvPr/>
        </p:nvPicPr>
        <p:blipFill>
          <a:blip r:embed="rId8"/>
          <a:stretch>
            <a:fillRect/>
          </a:stretch>
        </p:blipFill>
        <p:spPr>
          <a:xfrm>
            <a:off x="5936468" y="4642592"/>
            <a:ext cx="316017" cy="316017"/>
          </a:xfrm>
          <a:prstGeom prst="rect">
            <a:avLst/>
          </a:prstGeom>
        </p:spPr>
      </p:pic>
      <p:sp>
        <p:nvSpPr>
          <p:cNvPr id="42" name="Text 32"/>
          <p:cNvSpPr/>
          <p:nvPr/>
        </p:nvSpPr>
        <p:spPr>
          <a:xfrm>
            <a:off x="5140757" y="5257800"/>
            <a:ext cx="1907438" cy="411480"/>
          </a:xfrm>
          <a:prstGeom prst="rect">
            <a:avLst/>
          </a:prstGeom>
          <a:noFill/>
        </p:spPr>
        <p:txBody>
          <a:bodyPr wrap="square" rtlCol="0" anchor="ctr"/>
          <a:lstStyle/>
          <a:p>
            <a:pPr marL="0" indent="0" algn="ctr" rtl="1">
              <a:buNone/>
            </a:pPr>
            <a:r>
              <a:rPr lang="en-US" sz="1250" b="1" dirty="0">
                <a:solidFill>
                  <a:srgbClr val="13314D"/>
                </a:solidFill>
                <a:latin typeface="Arial" panose="020B0604020202020204" pitchFamily="34" charset="0"/>
                <a:ea typeface="Arial" panose="020B0604020202020204" pitchFamily="34" charset="-122"/>
                <a:cs typeface="Arial" panose="020B0604020202020204" pitchFamily="34" charset="-120"/>
              </a:rPr>
              <a:t>پیام‌رسان داخلی</a:t>
            </a:r>
            <a:endParaRPr lang="en-US" sz="1250" dirty="0"/>
          </a:p>
        </p:txBody>
      </p:sp>
      <p:sp>
        <p:nvSpPr>
          <p:cNvPr id="43" name="Text 33"/>
          <p:cNvSpPr/>
          <p:nvPr/>
        </p:nvSpPr>
        <p:spPr>
          <a:xfrm>
            <a:off x="5140757" y="5623560"/>
            <a:ext cx="1907438" cy="274320"/>
          </a:xfrm>
          <a:prstGeom prst="rect">
            <a:avLst/>
          </a:prstGeom>
          <a:noFill/>
        </p:spPr>
        <p:txBody>
          <a:bodyPr wrap="square" rtlCol="0" anchor="ctr"/>
          <a:lstStyle/>
          <a:p>
            <a:pPr marL="0" indent="0" algn="ctr">
              <a:buNone/>
            </a:pPr>
            <a:r>
              <a:rPr lang="en-US" sz="900" dirty="0">
                <a:solidFill>
                  <a:srgbClr val="5B7285"/>
                </a:solidFill>
                <a:latin typeface="Calibri" panose="020F0502020204030204" pitchFamily="34" charset="0"/>
                <a:ea typeface="Calibri" panose="020F0502020204030204" pitchFamily="34" charset="-122"/>
                <a:cs typeface="Calibri" panose="020F0502020204030204" pitchFamily="34" charset="-120"/>
              </a:rPr>
              <a:t>Messaging</a:t>
            </a:r>
            <a:endParaRPr lang="en-US" sz="900" dirty="0"/>
          </a:p>
        </p:txBody>
      </p:sp>
      <p:sp>
        <p:nvSpPr>
          <p:cNvPr id="44" name="Shape 34"/>
          <p:cNvSpPr/>
          <p:nvPr/>
        </p:nvSpPr>
        <p:spPr>
          <a:xfrm>
            <a:off x="7295083" y="4206240"/>
            <a:ext cx="1962302" cy="1874520"/>
          </a:xfrm>
          <a:prstGeom prst="roundRect">
            <a:avLst>
              <a:gd name="adj" fmla="val 4878"/>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45" name="Shape 35"/>
          <p:cNvSpPr/>
          <p:nvPr/>
        </p:nvSpPr>
        <p:spPr>
          <a:xfrm>
            <a:off x="7947050" y="4471416"/>
            <a:ext cx="658368" cy="658368"/>
          </a:xfrm>
          <a:prstGeom prst="ellipse">
            <a:avLst/>
          </a:prstGeom>
          <a:solidFill>
            <a:srgbClr val="1C7293"/>
          </a:solidFill>
          <a:effectLst>
            <a:outerShdw blurRad="76200" dist="25400" dir="5400000" algn="bl" rotWithShape="0">
              <a:srgbClr val="1B2A4A">
                <a:alpha val="25000"/>
              </a:srgbClr>
            </a:outerShdw>
          </a:effectLst>
        </p:spPr>
      </p:sp>
      <p:pic>
        <p:nvPicPr>
          <p:cNvPr id="46" name="Image 8" descr="/home/claude/build/icons/bell.png"/>
          <p:cNvPicPr>
            <a:picLocks noChangeAspect="1"/>
          </p:cNvPicPr>
          <p:nvPr/>
        </p:nvPicPr>
        <p:blipFill>
          <a:blip r:embed="rId9"/>
          <a:stretch>
            <a:fillRect/>
          </a:stretch>
        </p:blipFill>
        <p:spPr>
          <a:xfrm>
            <a:off x="8118226" y="4642592"/>
            <a:ext cx="316017" cy="316017"/>
          </a:xfrm>
          <a:prstGeom prst="rect">
            <a:avLst/>
          </a:prstGeom>
        </p:spPr>
      </p:pic>
      <p:sp>
        <p:nvSpPr>
          <p:cNvPr id="47" name="Text 36"/>
          <p:cNvSpPr/>
          <p:nvPr/>
        </p:nvSpPr>
        <p:spPr>
          <a:xfrm>
            <a:off x="7322515" y="5257800"/>
            <a:ext cx="1907438" cy="411480"/>
          </a:xfrm>
          <a:prstGeom prst="rect">
            <a:avLst/>
          </a:prstGeom>
          <a:noFill/>
        </p:spPr>
        <p:txBody>
          <a:bodyPr wrap="square" rtlCol="0" anchor="ctr"/>
          <a:lstStyle/>
          <a:p>
            <a:pPr marL="0" indent="0" algn="ctr" rtl="1">
              <a:buNone/>
            </a:pPr>
            <a:r>
              <a:rPr lang="en-US" sz="1250" b="1" dirty="0">
                <a:solidFill>
                  <a:srgbClr val="13314D"/>
                </a:solidFill>
                <a:latin typeface="Arial" panose="020B0604020202020204" pitchFamily="34" charset="0"/>
                <a:ea typeface="Arial" panose="020B0604020202020204" pitchFamily="34" charset="-122"/>
                <a:cs typeface="Arial" panose="020B0604020202020204" pitchFamily="34" charset="-120"/>
              </a:rPr>
              <a:t>اعلان‌ها</a:t>
            </a:r>
            <a:endParaRPr lang="en-US" sz="1250" dirty="0"/>
          </a:p>
        </p:txBody>
      </p:sp>
      <p:sp>
        <p:nvSpPr>
          <p:cNvPr id="48" name="Text 37"/>
          <p:cNvSpPr/>
          <p:nvPr/>
        </p:nvSpPr>
        <p:spPr>
          <a:xfrm>
            <a:off x="7322515" y="5623560"/>
            <a:ext cx="1907438" cy="274320"/>
          </a:xfrm>
          <a:prstGeom prst="rect">
            <a:avLst/>
          </a:prstGeom>
          <a:noFill/>
        </p:spPr>
        <p:txBody>
          <a:bodyPr wrap="square" rtlCol="0" anchor="ctr"/>
          <a:lstStyle/>
          <a:p>
            <a:pPr marL="0" indent="0" algn="ctr">
              <a:buNone/>
            </a:pPr>
            <a:r>
              <a:rPr lang="en-US" sz="900" dirty="0">
                <a:solidFill>
                  <a:srgbClr val="5B7285"/>
                </a:solidFill>
                <a:latin typeface="Calibri" panose="020F0502020204030204" pitchFamily="34" charset="0"/>
                <a:ea typeface="Calibri" panose="020F0502020204030204" pitchFamily="34" charset="-122"/>
                <a:cs typeface="Calibri" panose="020F0502020204030204" pitchFamily="34" charset="-120"/>
              </a:rPr>
              <a:t>Notification</a:t>
            </a:r>
            <a:endParaRPr lang="en-US" sz="900" dirty="0"/>
          </a:p>
        </p:txBody>
      </p:sp>
      <p:sp>
        <p:nvSpPr>
          <p:cNvPr id="49" name="Shape 38"/>
          <p:cNvSpPr/>
          <p:nvPr/>
        </p:nvSpPr>
        <p:spPr>
          <a:xfrm>
            <a:off x="9476842" y="4206240"/>
            <a:ext cx="1962302" cy="1874520"/>
          </a:xfrm>
          <a:prstGeom prst="roundRect">
            <a:avLst>
              <a:gd name="adj" fmla="val 4878"/>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50" name="Shape 39"/>
          <p:cNvSpPr/>
          <p:nvPr/>
        </p:nvSpPr>
        <p:spPr>
          <a:xfrm>
            <a:off x="10128809" y="4471416"/>
            <a:ext cx="658368" cy="658368"/>
          </a:xfrm>
          <a:prstGeom prst="ellipse">
            <a:avLst/>
          </a:prstGeom>
          <a:solidFill>
            <a:srgbClr val="1C7293"/>
          </a:solidFill>
          <a:effectLst>
            <a:outerShdw blurRad="76200" dist="25400" dir="5400000" algn="bl" rotWithShape="0">
              <a:srgbClr val="1B2A4A">
                <a:alpha val="25000"/>
              </a:srgbClr>
            </a:outerShdw>
          </a:effectLst>
        </p:spPr>
      </p:sp>
      <p:pic>
        <p:nvPicPr>
          <p:cNvPr id="51" name="Image 9" descr="/home/claude/build/icons/chart.png"/>
          <p:cNvPicPr>
            <a:picLocks noChangeAspect="1"/>
          </p:cNvPicPr>
          <p:nvPr/>
        </p:nvPicPr>
        <p:blipFill>
          <a:blip r:embed="rId10"/>
          <a:stretch>
            <a:fillRect/>
          </a:stretch>
        </p:blipFill>
        <p:spPr>
          <a:xfrm>
            <a:off x="10299984" y="4642592"/>
            <a:ext cx="316017" cy="316017"/>
          </a:xfrm>
          <a:prstGeom prst="rect">
            <a:avLst/>
          </a:prstGeom>
        </p:spPr>
      </p:pic>
      <p:sp>
        <p:nvSpPr>
          <p:cNvPr id="52" name="Text 40"/>
          <p:cNvSpPr/>
          <p:nvPr/>
        </p:nvSpPr>
        <p:spPr>
          <a:xfrm>
            <a:off x="9504274" y="5257800"/>
            <a:ext cx="1907438" cy="411480"/>
          </a:xfrm>
          <a:prstGeom prst="rect">
            <a:avLst/>
          </a:prstGeom>
          <a:noFill/>
        </p:spPr>
        <p:txBody>
          <a:bodyPr wrap="square" rtlCol="0" anchor="ctr"/>
          <a:lstStyle/>
          <a:p>
            <a:pPr marL="0" indent="0" algn="ctr" rtl="1">
              <a:buNone/>
            </a:pPr>
            <a:r>
              <a:rPr lang="en-US" sz="1250" b="1" dirty="0">
                <a:solidFill>
                  <a:srgbClr val="13314D"/>
                </a:solidFill>
                <a:latin typeface="Arial" panose="020B0604020202020204" pitchFamily="34" charset="0"/>
                <a:ea typeface="Arial" panose="020B0604020202020204" pitchFamily="34" charset="-122"/>
                <a:cs typeface="Arial" panose="020B0604020202020204" pitchFamily="34" charset="-120"/>
              </a:rPr>
              <a:t>گزارش‌گیری و تحلیل</a:t>
            </a:r>
            <a:endParaRPr lang="en-US" sz="1250" dirty="0"/>
          </a:p>
        </p:txBody>
      </p:sp>
      <p:sp>
        <p:nvSpPr>
          <p:cNvPr id="53" name="Text 41"/>
          <p:cNvSpPr/>
          <p:nvPr/>
        </p:nvSpPr>
        <p:spPr>
          <a:xfrm>
            <a:off x="9504274" y="5623560"/>
            <a:ext cx="1907438" cy="274320"/>
          </a:xfrm>
          <a:prstGeom prst="rect">
            <a:avLst/>
          </a:prstGeom>
          <a:noFill/>
        </p:spPr>
        <p:txBody>
          <a:bodyPr wrap="square" rtlCol="0" anchor="ctr"/>
          <a:lstStyle/>
          <a:p>
            <a:pPr marL="0" indent="0" algn="ctr">
              <a:buNone/>
            </a:pPr>
            <a:r>
              <a:rPr lang="en-US" sz="900" dirty="0">
                <a:solidFill>
                  <a:srgbClr val="5B7285"/>
                </a:solidFill>
                <a:latin typeface="Calibri" panose="020F0502020204030204" pitchFamily="34" charset="0"/>
                <a:ea typeface="Calibri" panose="020F0502020204030204" pitchFamily="34" charset="-122"/>
                <a:cs typeface="Calibri" panose="020F0502020204030204" pitchFamily="34" charset="-120"/>
              </a:rPr>
              <a:t>Reporting</a:t>
            </a:r>
            <a:endParaRPr lang="en-US" sz="900" dirty="0"/>
          </a:p>
        </p:txBody>
      </p:sp>
      <p:sp>
        <p:nvSpPr>
          <p:cNvPr id="54" name="Text 42"/>
          <p:cNvSpPr/>
          <p:nvPr/>
        </p:nvSpPr>
        <p:spPr>
          <a:xfrm>
            <a:off x="11548872" y="6446520"/>
            <a:ext cx="365760" cy="274320"/>
          </a:xfrm>
          <a:prstGeom prst="rect">
            <a:avLst/>
          </a:prstGeom>
          <a:noFill/>
        </p:spPr>
        <p:txBody>
          <a:bodyPr wrap="square" rtlCol="0" anchor="ctr"/>
          <a:lstStyle/>
          <a:p>
            <a:pPr marL="0" indent="0" algn="l">
              <a:buNone/>
            </a:pPr>
            <a:r>
              <a:rPr lang="en-US" sz="1100" dirty="0">
                <a:solidFill>
                  <a:srgbClr val="5B7285"/>
                </a:solidFill>
                <a:latin typeface="Arial" panose="020B0604020202020204" pitchFamily="34" charset="0"/>
                <a:ea typeface="Arial" panose="020B0604020202020204" pitchFamily="34" charset="-122"/>
                <a:cs typeface="Arial" panose="020B0604020202020204"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908792" cy="731520"/>
          </a:xfrm>
          <a:prstGeom prst="rect">
            <a:avLst/>
          </a:prstGeom>
          <a:noFill/>
        </p:spPr>
        <p:txBody>
          <a:bodyPr wrap="square" rtlCol="0" anchor="ctr"/>
          <a:lstStyle/>
          <a:p>
            <a:pPr marL="0" indent="0" algn="r" rtl="1">
              <a:buNone/>
            </a:pPr>
            <a:r>
              <a:rPr lang="en-US" sz="2800" b="1" dirty="0">
                <a:solidFill>
                  <a:srgbClr val="13314D"/>
                </a:solidFill>
                <a:latin typeface="Arial" panose="020B0604020202020204" pitchFamily="34" charset="0"/>
                <a:ea typeface="Arial" panose="020B0604020202020204" pitchFamily="34" charset="-122"/>
                <a:cs typeface="Arial" panose="020B0604020202020204" pitchFamily="34" charset="-120"/>
              </a:rPr>
              <a:t>نمونه سرویس: احراز هویت (Authentication)</a:t>
            </a:r>
            <a:endParaRPr lang="en-US" sz="2800" dirty="0"/>
          </a:p>
        </p:txBody>
      </p:sp>
      <p:sp>
        <p:nvSpPr>
          <p:cNvPr id="3" name="Shape 1"/>
          <p:cNvSpPr/>
          <p:nvPr/>
        </p:nvSpPr>
        <p:spPr>
          <a:xfrm>
            <a:off x="6309360" y="1371600"/>
            <a:ext cx="5212080" cy="4846320"/>
          </a:xfrm>
          <a:prstGeom prst="roundRect">
            <a:avLst>
              <a:gd name="adj" fmla="val 2264"/>
            </a:avLst>
          </a:prstGeom>
          <a:solidFill>
            <a:srgbClr val="FFFFFF"/>
          </a:solidFill>
          <a:ln w="12700">
            <a:solidFill>
              <a:srgbClr val="DCE6ED"/>
            </a:solidFill>
            <a:prstDash val="solid"/>
          </a:ln>
        </p:spPr>
      </p:sp>
      <p:sp>
        <p:nvSpPr>
          <p:cNvPr id="4" name="Text 2"/>
          <p:cNvSpPr/>
          <p:nvPr/>
        </p:nvSpPr>
        <p:spPr>
          <a:xfrm>
            <a:off x="6583680" y="1508760"/>
            <a:ext cx="4663440" cy="411480"/>
          </a:xfrm>
          <a:prstGeom prst="rect">
            <a:avLst/>
          </a:prstGeom>
          <a:noFill/>
        </p:spPr>
        <p:txBody>
          <a:bodyPr wrap="square" rtlCol="0" anchor="ctr"/>
          <a:lstStyle/>
          <a:p>
            <a:pPr marL="0" indent="0" algn="r" rtl="1">
              <a:buNone/>
            </a:pPr>
            <a:r>
              <a:rPr lang="en-US" sz="1600" b="1" dirty="0">
                <a:solidFill>
                  <a:srgbClr val="065A82"/>
                </a:solidFill>
                <a:latin typeface="Arial" panose="020B0604020202020204" pitchFamily="34" charset="0"/>
                <a:ea typeface="Arial" panose="020B0604020202020204" pitchFamily="34" charset="-122"/>
                <a:cs typeface="Arial" panose="020B0604020202020204" pitchFamily="34" charset="-120"/>
              </a:rPr>
              <a:t>Endpointهای سرویس</a:t>
            </a:r>
            <a:endParaRPr lang="en-US" sz="1600" dirty="0"/>
          </a:p>
        </p:txBody>
      </p:sp>
      <p:graphicFrame>
        <p:nvGraphicFramePr>
          <p:cNvPr id="7" name="Table 0"/>
          <p:cNvGraphicFramePr>
            <a:graphicFrameLocks noGrp="1"/>
          </p:cNvGraphicFramePr>
          <p:nvPr/>
        </p:nvGraphicFramePr>
        <p:xfrm>
          <a:off x="6583680" y="2011680"/>
          <a:ext cx="4663440" cy="3977640"/>
        </p:xfrm>
        <a:graphic>
          <a:graphicData uri="http://schemas.openxmlformats.org/drawingml/2006/table">
            <a:tbl>
              <a:tblPr/>
              <a:tblGrid>
                <a:gridCol w="1965960"/>
                <a:gridCol w="868680"/>
                <a:gridCol w="1828800"/>
              </a:tblGrid>
              <a:tr h="566928">
                <a:tc>
                  <a:txBody>
                    <a:bodyPr/>
                    <a:lstStyle/>
                    <a:p>
                      <a:pPr marL="0" indent="0" algn="l">
                        <a:buNone/>
                      </a:pPr>
                      <a:r>
                        <a:rPr lang="en-US" sz="1050" dirty="0">
                          <a:solidFill>
                            <a:srgbClr val="13314D"/>
                          </a:solidFill>
                          <a:latin typeface="Consolas" panose="020B0609020204030204" pitchFamily="34" charset="0"/>
                          <a:ea typeface="Consolas" panose="020B0609020204030204" pitchFamily="34" charset="-122"/>
                          <a:cs typeface="Consolas" panose="020B0609020204030204" pitchFamily="34" charset="-120"/>
                        </a:rPr>
                        <a:t>/auth/login</a:t>
                      </a:r>
                      <a:endParaRPr lang="en-US" sz="1050" dirty="0">
                        <a:latin typeface="Consolas" panose="020B0609020204030204" pitchFamily="34" charset="0"/>
                        <a:ea typeface="Consolas" panose="020B0609020204030204" pitchFamily="34" charset="0"/>
                        <a:cs typeface="Consolas" panose="020B0609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POST</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solidFill>
                      <a:srgbClr val="065A82"/>
                    </a:solidFill>
                  </a:tcPr>
                </a:tc>
                <a:tc>
                  <a:txBody>
                    <a:bodyP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ورود کاربر</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r h="566928">
                <a:tc>
                  <a:txBody>
                    <a:bodyPr/>
                    <a:lstStyle/>
                    <a:p>
                      <a:pPr marL="0" indent="0" algn="l">
                        <a:buNone/>
                      </a:pPr>
                      <a:r>
                        <a:rPr lang="en-US" sz="1050" dirty="0">
                          <a:solidFill>
                            <a:srgbClr val="13314D"/>
                          </a:solidFill>
                          <a:latin typeface="Consolas" panose="020B0609020204030204" pitchFamily="34" charset="0"/>
                          <a:ea typeface="Consolas" panose="020B0609020204030204" pitchFamily="34" charset="-122"/>
                          <a:cs typeface="Consolas" panose="020B0609020204030204" pitchFamily="34" charset="-120"/>
                        </a:rPr>
                        <a:t>/auth/logout</a:t>
                      </a:r>
                      <a:endParaRPr lang="en-US" sz="1050" dirty="0">
                        <a:latin typeface="Consolas" panose="020B0609020204030204" pitchFamily="34" charset="0"/>
                        <a:ea typeface="Consolas" panose="020B0609020204030204" pitchFamily="34" charset="0"/>
                        <a:cs typeface="Consolas" panose="020B0609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POST</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solidFill>
                      <a:srgbClr val="065A82"/>
                    </a:solidFill>
                  </a:tcPr>
                </a:tc>
                <a:tc>
                  <a:txBody>
                    <a:bodyP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خروج کاربر</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r h="566928">
                <a:tc>
                  <a:txBody>
                    <a:bodyPr/>
                    <a:lstStyle/>
                    <a:p>
                      <a:pPr marL="0" indent="0" algn="l">
                        <a:buNone/>
                      </a:pPr>
                      <a:r>
                        <a:rPr lang="en-US" sz="1050" dirty="0">
                          <a:solidFill>
                            <a:srgbClr val="13314D"/>
                          </a:solidFill>
                          <a:latin typeface="Consolas" panose="020B0609020204030204" pitchFamily="34" charset="0"/>
                          <a:ea typeface="Consolas" panose="020B0609020204030204" pitchFamily="34" charset="-122"/>
                          <a:cs typeface="Consolas" panose="020B0609020204030204" pitchFamily="34" charset="-120"/>
                        </a:rPr>
                        <a:t>/auth/refresh</a:t>
                      </a:r>
                      <a:endParaRPr lang="en-US" sz="1050" dirty="0">
                        <a:latin typeface="Consolas" panose="020B0609020204030204" pitchFamily="34" charset="0"/>
                        <a:ea typeface="Consolas" panose="020B0609020204030204" pitchFamily="34" charset="0"/>
                        <a:cs typeface="Consolas" panose="020B0609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POST</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solidFill>
                      <a:srgbClr val="065A82"/>
                    </a:solidFill>
                  </a:tcPr>
                </a:tc>
                <a:tc>
                  <a:txBody>
                    <a:bodyP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تمدید توکن</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r h="566928">
                <a:tc>
                  <a:txBody>
                    <a:bodyPr/>
                    <a:lstStyle/>
                    <a:p>
                      <a:pPr marL="0" indent="0" algn="l">
                        <a:buNone/>
                      </a:pPr>
                      <a:r>
                        <a:rPr lang="en-US" sz="1050" dirty="0">
                          <a:solidFill>
                            <a:srgbClr val="13314D"/>
                          </a:solidFill>
                          <a:latin typeface="Consolas" panose="020B0609020204030204" pitchFamily="34" charset="0"/>
                          <a:ea typeface="Consolas" panose="020B0609020204030204" pitchFamily="34" charset="-122"/>
                          <a:cs typeface="Consolas" panose="020B0609020204030204" pitchFamily="34" charset="-120"/>
                        </a:rPr>
                        <a:t>/auth/forgot-password</a:t>
                      </a:r>
                      <a:endParaRPr lang="en-US" sz="1050" dirty="0">
                        <a:latin typeface="Consolas" panose="020B0609020204030204" pitchFamily="34" charset="0"/>
                        <a:ea typeface="Consolas" panose="020B0609020204030204" pitchFamily="34" charset="0"/>
                        <a:cs typeface="Consolas" panose="020B0609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POST</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solidFill>
                      <a:srgbClr val="065A82"/>
                    </a:solidFill>
                  </a:tcPr>
                </a:tc>
                <a:tc>
                  <a:txBody>
                    <a:bodyP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درخواست بازیابی رمز</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r h="566928">
                <a:tc>
                  <a:txBody>
                    <a:bodyPr/>
                    <a:lstStyle/>
                    <a:p>
                      <a:pPr marL="0" indent="0" algn="l">
                        <a:buNone/>
                      </a:pPr>
                      <a:r>
                        <a:rPr lang="en-US" sz="1050" dirty="0">
                          <a:solidFill>
                            <a:srgbClr val="13314D"/>
                          </a:solidFill>
                          <a:latin typeface="Consolas" panose="020B0609020204030204" pitchFamily="34" charset="0"/>
                          <a:ea typeface="Consolas" panose="020B0609020204030204" pitchFamily="34" charset="-122"/>
                          <a:cs typeface="Consolas" panose="020B0609020204030204" pitchFamily="34" charset="-120"/>
                        </a:rPr>
                        <a:t>/auth/reset-password</a:t>
                      </a:r>
                      <a:endParaRPr lang="en-US" sz="1050" dirty="0">
                        <a:latin typeface="Consolas" panose="020B0609020204030204" pitchFamily="34" charset="0"/>
                        <a:ea typeface="Consolas" panose="020B0609020204030204" pitchFamily="34" charset="0"/>
                        <a:cs typeface="Consolas" panose="020B0609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POST</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solidFill>
                      <a:srgbClr val="065A82"/>
                    </a:solidFill>
                  </a:tcPr>
                </a:tc>
                <a:tc>
                  <a:txBody>
                    <a:bodyP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تغییر رمز عبور</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r h="566928">
                <a:tc>
                  <a:txBody>
                    <a:bodyPr/>
                    <a:lstStyle/>
                    <a:p>
                      <a:pPr marL="0" indent="0" algn="l">
                        <a:buNone/>
                      </a:pPr>
                      <a:r>
                        <a:rPr lang="en-US" sz="1050" dirty="0">
                          <a:solidFill>
                            <a:srgbClr val="13314D"/>
                          </a:solidFill>
                          <a:latin typeface="Consolas" panose="020B0609020204030204" pitchFamily="34" charset="0"/>
                          <a:ea typeface="Consolas" panose="020B0609020204030204" pitchFamily="34" charset="-122"/>
                          <a:cs typeface="Consolas" panose="020B0609020204030204" pitchFamily="34" charset="-120"/>
                        </a:rPr>
                        <a:t>/auth/validate</a:t>
                      </a:r>
                      <a:endParaRPr lang="en-US" sz="1050" dirty="0">
                        <a:latin typeface="Consolas" panose="020B0609020204030204" pitchFamily="34" charset="0"/>
                        <a:ea typeface="Consolas" panose="020B0609020204030204" pitchFamily="34" charset="0"/>
                        <a:cs typeface="Consolas" panose="020B0609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GET</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solidFill>
                      <a:srgbClr val="1C7293"/>
                    </a:solidFill>
                  </a:tcPr>
                </a:tc>
                <a:tc>
                  <a:txBody>
                    <a:bodyP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اعتبارسنجی توکن</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bl>
          </a:graphicData>
        </a:graphic>
      </p:graphicFrame>
      <p:sp>
        <p:nvSpPr>
          <p:cNvPr id="6" name="Shape 3"/>
          <p:cNvSpPr/>
          <p:nvPr/>
        </p:nvSpPr>
        <p:spPr>
          <a:xfrm>
            <a:off x="640080" y="1371600"/>
            <a:ext cx="5394960" cy="2286000"/>
          </a:xfrm>
          <a:prstGeom prst="roundRect">
            <a:avLst>
              <a:gd name="adj" fmla="val 4000"/>
            </a:avLst>
          </a:prstGeom>
          <a:solidFill>
            <a:srgbClr val="1B2A4A"/>
          </a:solidFill>
        </p:spPr>
      </p:sp>
      <p:sp>
        <p:nvSpPr>
          <p:cNvPr id="5" name="Text 4"/>
          <p:cNvSpPr/>
          <p:nvPr/>
        </p:nvSpPr>
        <p:spPr>
          <a:xfrm>
            <a:off x="914400" y="1508760"/>
            <a:ext cx="4846320" cy="320040"/>
          </a:xfrm>
          <a:prstGeom prst="rect">
            <a:avLst/>
          </a:prstGeom>
          <a:noFill/>
        </p:spPr>
        <p:txBody>
          <a:bodyPr wrap="square" rtlCol="0" anchor="ctr"/>
          <a:lstStyle/>
          <a:p>
            <a:pPr marL="0" indent="0" algn="l">
              <a:buNone/>
            </a:pPr>
            <a:r>
              <a:rPr lang="en-US" sz="1200" b="1" dirty="0">
                <a:solidFill>
                  <a:srgbClr val="02C39A"/>
                </a:solidFill>
                <a:latin typeface="Consolas" panose="020B0609020204030204" pitchFamily="34" charset="0"/>
                <a:ea typeface="Consolas" panose="020B0609020204030204" pitchFamily="34" charset="-122"/>
                <a:cs typeface="Consolas" panose="020B0609020204030204" pitchFamily="34" charset="-120"/>
              </a:rPr>
              <a:t>POST /api/v1/auth/login</a:t>
            </a:r>
            <a:endParaRPr lang="en-US" sz="1200" dirty="0"/>
          </a:p>
        </p:txBody>
      </p:sp>
      <p:sp>
        <p:nvSpPr>
          <p:cNvPr id="8" name="Text 5"/>
          <p:cNvSpPr/>
          <p:nvPr/>
        </p:nvSpPr>
        <p:spPr>
          <a:xfrm>
            <a:off x="914400" y="1874520"/>
            <a:ext cx="4846320" cy="822960"/>
          </a:xfrm>
          <a:prstGeom prst="rect">
            <a:avLst/>
          </a:prstGeom>
          <a:noFill/>
        </p:spPr>
        <p:txBody>
          <a:bodyPr wrap="square" rtlCol="0" anchor="t"/>
          <a:lstStyle/>
          <a:p>
            <a:pPr marL="0" indent="0" algn="l">
              <a:lnSpc>
                <a:spcPct val="115000"/>
              </a:lnSpc>
              <a:buNone/>
            </a:pPr>
            <a:r>
              <a:rPr lang="en-US" sz="1150" dirty="0">
                <a:solidFill>
                  <a:srgbClr val="CADCFC"/>
                </a:solidFill>
                <a:latin typeface="Consolas" panose="020B0609020204030204" pitchFamily="34" charset="0"/>
                <a:ea typeface="Consolas" panose="020B0609020204030204" pitchFamily="34" charset="-122"/>
                <a:cs typeface="Consolas" panose="020B0609020204030204" pitchFamily="34" charset="-120"/>
              </a:rPr>
              <a:t>{</a:t>
            </a:r>
            <a:endParaRPr lang="en-US" sz="1150" dirty="0"/>
          </a:p>
          <a:p>
            <a:pPr marL="0" indent="0" algn="l">
              <a:lnSpc>
                <a:spcPct val="115000"/>
              </a:lnSpc>
              <a:buNone/>
            </a:pPr>
            <a:r>
              <a:rPr lang="en-US" sz="1150" dirty="0">
                <a:solidFill>
                  <a:srgbClr val="CADCFC"/>
                </a:solidFill>
                <a:latin typeface="Consolas" panose="020B0609020204030204" pitchFamily="34" charset="0"/>
                <a:ea typeface="Consolas" panose="020B0609020204030204" pitchFamily="34" charset="-122"/>
                <a:cs typeface="Consolas" panose="020B0609020204030204" pitchFamily="34" charset="-120"/>
              </a:rPr>
              <a:t>  "nationalCode": "1234567890",</a:t>
            </a:r>
            <a:endParaRPr lang="en-US" sz="1150" dirty="0"/>
          </a:p>
          <a:p>
            <a:pPr marL="0" indent="0" algn="l">
              <a:lnSpc>
                <a:spcPct val="115000"/>
              </a:lnSpc>
              <a:buNone/>
            </a:pPr>
            <a:r>
              <a:rPr lang="en-US" sz="1150" dirty="0">
                <a:solidFill>
                  <a:srgbClr val="CADCFC"/>
                </a:solidFill>
                <a:latin typeface="Consolas" panose="020B0609020204030204" pitchFamily="34" charset="0"/>
                <a:ea typeface="Consolas" panose="020B0609020204030204" pitchFamily="34" charset="-122"/>
                <a:cs typeface="Consolas" panose="020B0609020204030204" pitchFamily="34" charset="-120"/>
              </a:rPr>
              <a:t>  "password": "********"</a:t>
            </a:r>
            <a:endParaRPr lang="en-US" sz="1150" dirty="0"/>
          </a:p>
          <a:p>
            <a:pPr marL="0" indent="0" algn="l">
              <a:lnSpc>
                <a:spcPct val="115000"/>
              </a:lnSpc>
              <a:buNone/>
            </a:pPr>
            <a:r>
              <a:rPr lang="en-US" sz="1150" dirty="0">
                <a:solidFill>
                  <a:srgbClr val="CADCFC"/>
                </a:solidFill>
                <a:latin typeface="Consolas" panose="020B0609020204030204" pitchFamily="34" charset="0"/>
                <a:ea typeface="Consolas" panose="020B0609020204030204" pitchFamily="34" charset="-122"/>
                <a:cs typeface="Consolas" panose="020B0609020204030204" pitchFamily="34" charset="-120"/>
              </a:rPr>
              <a:t>}</a:t>
            </a:r>
            <a:endParaRPr lang="en-US" sz="1150" dirty="0"/>
          </a:p>
        </p:txBody>
      </p:sp>
      <p:sp>
        <p:nvSpPr>
          <p:cNvPr id="9" name="Text 6"/>
          <p:cNvSpPr/>
          <p:nvPr/>
        </p:nvSpPr>
        <p:spPr>
          <a:xfrm>
            <a:off x="914400" y="2788920"/>
            <a:ext cx="4846320" cy="822960"/>
          </a:xfrm>
          <a:prstGeom prst="rect">
            <a:avLst/>
          </a:prstGeom>
          <a:noFill/>
        </p:spPr>
        <p:txBody>
          <a:bodyPr wrap="square" rtlCol="0" anchor="t"/>
          <a:lstStyle/>
          <a:p>
            <a:pPr marL="0" indent="0" algn="l">
              <a:lnSpc>
                <a:spcPct val="110000"/>
              </a:lnSpc>
              <a:buNone/>
            </a:pPr>
            <a:r>
              <a:rPr lang="en-US" sz="1050" dirty="0">
                <a:solidFill>
                  <a:srgbClr val="9FE6C6"/>
                </a:solidFill>
                <a:latin typeface="Consolas" panose="020B0609020204030204" pitchFamily="34" charset="0"/>
                <a:ea typeface="Consolas" panose="020B0609020204030204" pitchFamily="34" charset="-122"/>
                <a:cs typeface="Consolas" panose="020B0609020204030204" pitchFamily="34" charset="-120"/>
              </a:rPr>
              <a:t>{</a:t>
            </a:r>
            <a:endParaRPr lang="en-US" sz="1050" dirty="0"/>
          </a:p>
          <a:p>
            <a:pPr marL="0" indent="0" algn="l">
              <a:lnSpc>
                <a:spcPct val="110000"/>
              </a:lnSpc>
              <a:buNone/>
            </a:pPr>
            <a:r>
              <a:rPr lang="en-US" sz="1050" dirty="0">
                <a:solidFill>
                  <a:srgbClr val="9FE6C6"/>
                </a:solidFill>
                <a:latin typeface="Consolas" panose="020B0609020204030204" pitchFamily="34" charset="0"/>
                <a:ea typeface="Consolas" panose="020B0609020204030204" pitchFamily="34" charset="-122"/>
                <a:cs typeface="Consolas" panose="020B0609020204030204" pitchFamily="34" charset="-120"/>
              </a:rPr>
              <a:t>  "success": true,</a:t>
            </a:r>
            <a:endParaRPr lang="en-US" sz="1050" dirty="0"/>
          </a:p>
          <a:p>
            <a:pPr marL="0" indent="0" algn="l">
              <a:lnSpc>
                <a:spcPct val="110000"/>
              </a:lnSpc>
              <a:buNone/>
            </a:pPr>
            <a:r>
              <a:rPr lang="en-US" sz="1050" dirty="0">
                <a:solidFill>
                  <a:srgbClr val="9FE6C6"/>
                </a:solidFill>
                <a:latin typeface="Consolas" panose="020B0609020204030204" pitchFamily="34" charset="0"/>
                <a:ea typeface="Consolas" panose="020B0609020204030204" pitchFamily="34" charset="-122"/>
                <a:cs typeface="Consolas" panose="020B0609020204030204" pitchFamily="34" charset="-120"/>
              </a:rPr>
              <a:t>  "data": { "accessToken": "JWT...", "expiresIn": 3600, "role": "Teacher" }</a:t>
            </a:r>
            <a:endParaRPr lang="en-US" sz="1050" dirty="0"/>
          </a:p>
          <a:p>
            <a:pPr marL="0" indent="0" algn="l">
              <a:lnSpc>
                <a:spcPct val="110000"/>
              </a:lnSpc>
              <a:buNone/>
            </a:pPr>
            <a:r>
              <a:rPr lang="en-US" sz="1050" dirty="0">
                <a:solidFill>
                  <a:srgbClr val="9FE6C6"/>
                </a:solidFill>
                <a:latin typeface="Consolas" panose="020B0609020204030204" pitchFamily="34" charset="0"/>
                <a:ea typeface="Consolas" panose="020B0609020204030204" pitchFamily="34" charset="-122"/>
                <a:cs typeface="Consolas" panose="020B0609020204030204" pitchFamily="34" charset="-120"/>
              </a:rPr>
              <a:t>}</a:t>
            </a:r>
            <a:endParaRPr lang="en-US" sz="1050" dirty="0"/>
          </a:p>
        </p:txBody>
      </p:sp>
      <p:sp>
        <p:nvSpPr>
          <p:cNvPr id="10" name="Shape 7"/>
          <p:cNvSpPr/>
          <p:nvPr/>
        </p:nvSpPr>
        <p:spPr>
          <a:xfrm>
            <a:off x="640080" y="3886200"/>
            <a:ext cx="5394960" cy="2331720"/>
          </a:xfrm>
          <a:prstGeom prst="roundRect">
            <a:avLst>
              <a:gd name="adj" fmla="val 3922"/>
            </a:avLst>
          </a:prstGeom>
          <a:solidFill>
            <a:srgbClr val="FFFFFF"/>
          </a:solidFill>
          <a:ln w="12700">
            <a:solidFill>
              <a:srgbClr val="DCE6ED"/>
            </a:solidFill>
            <a:prstDash val="solid"/>
          </a:ln>
        </p:spPr>
      </p:sp>
      <p:sp>
        <p:nvSpPr>
          <p:cNvPr id="11" name="Text 8"/>
          <p:cNvSpPr/>
          <p:nvPr/>
        </p:nvSpPr>
        <p:spPr>
          <a:xfrm>
            <a:off x="914400" y="4023360"/>
            <a:ext cx="4846320" cy="365760"/>
          </a:xfrm>
          <a:prstGeom prst="rect">
            <a:avLst/>
          </a:prstGeom>
          <a:noFill/>
        </p:spPr>
        <p:txBody>
          <a:bodyPr wrap="square" rtlCol="0" anchor="ctr"/>
          <a:lstStyle/>
          <a:p>
            <a:pPr marL="0" indent="0" algn="r" rtl="1">
              <a:buNone/>
            </a:pPr>
            <a:r>
              <a:rPr lang="en-US" sz="1450" b="1" dirty="0">
                <a:solidFill>
                  <a:srgbClr val="065A82"/>
                </a:solidFill>
                <a:latin typeface="Arial" panose="020B0604020202020204" pitchFamily="34" charset="0"/>
                <a:ea typeface="Arial" panose="020B0604020202020204" pitchFamily="34" charset="-122"/>
                <a:cs typeface="Arial" panose="020B0604020202020204" pitchFamily="34" charset="-120"/>
              </a:rPr>
              <a:t>الزامات امنیتی کلیدی</a:t>
            </a:r>
            <a:endParaRPr lang="en-US" sz="1450" dirty="0"/>
          </a:p>
        </p:txBody>
      </p:sp>
      <p:sp>
        <p:nvSpPr>
          <p:cNvPr id="12" name="Text 9"/>
          <p:cNvSpPr/>
          <p:nvPr/>
        </p:nvSpPr>
        <p:spPr>
          <a:xfrm>
            <a:off x="914400" y="4434840"/>
            <a:ext cx="4846320" cy="1645920"/>
          </a:xfrm>
          <a:prstGeom prst="rect">
            <a:avLst/>
          </a:prstGeom>
          <a:noFill/>
        </p:spPr>
        <p:txBody>
          <a:bodyPr wrap="square" rtlCol="0" anchor="t"/>
          <a:lstStyle/>
          <a:p>
            <a:pPr marL="0" indent="0" algn="r" rtl="1">
              <a:lnSpc>
                <a:spcPct val="140000"/>
              </a:lnSpc>
              <a:buNone/>
            </a:pPr>
            <a:r>
              <a:rPr lang="en-US" sz="1250" dirty="0">
                <a:solidFill>
                  <a:srgbClr val="13314D"/>
                </a:solidFill>
                <a:latin typeface="Arial" panose="020B0604020202020204" pitchFamily="34" charset="0"/>
                <a:ea typeface="Arial" panose="020B0604020202020204" pitchFamily="34" charset="-122"/>
                <a:cs typeface="Arial" panose="020B0604020202020204" pitchFamily="34" charset="-120"/>
              </a:rPr>
              <a:t>• رمزنگاری گذرواژه با BCrypt</a:t>
            </a:r>
            <a:endParaRPr lang="en-US" sz="1250" dirty="0"/>
          </a:p>
          <a:p>
            <a:pPr marL="0" indent="0" algn="r" rtl="1">
              <a:lnSpc>
                <a:spcPct val="140000"/>
              </a:lnSpc>
              <a:buNone/>
            </a:pPr>
            <a:r>
              <a:rPr lang="en-US" sz="1250" dirty="0">
                <a:solidFill>
                  <a:srgbClr val="13314D"/>
                </a:solidFill>
                <a:latin typeface="Arial" panose="020B0604020202020204" pitchFamily="34" charset="0"/>
                <a:ea typeface="Arial" panose="020B0604020202020204" pitchFamily="34" charset="-122"/>
                <a:cs typeface="Arial" panose="020B0604020202020204" pitchFamily="34" charset="-120"/>
              </a:rPr>
              <a:t>• توکن Refresh مستقل از Access Token</a:t>
            </a:r>
            <a:endParaRPr lang="en-US" sz="1250" dirty="0"/>
          </a:p>
          <a:p>
            <a:pPr marL="0" indent="0" algn="r" rtl="1">
              <a:lnSpc>
                <a:spcPct val="140000"/>
              </a:lnSpc>
              <a:buNone/>
            </a:pPr>
            <a:endParaRPr lang="en-US" sz="1250" dirty="0"/>
          </a:p>
          <a:p>
            <a:pPr marL="0" indent="0" algn="r" rtl="1">
              <a:lnSpc>
                <a:spcPct val="140000"/>
              </a:lnSpc>
              <a:buNone/>
            </a:pPr>
            <a:r>
              <a:rPr lang="en-US" sz="1250" dirty="0">
                <a:solidFill>
                  <a:srgbClr val="13314D"/>
                </a:solidFill>
                <a:latin typeface="Arial" panose="020B0604020202020204" pitchFamily="34" charset="0"/>
                <a:ea typeface="Arial" panose="020B0604020202020204" pitchFamily="34" charset="-122"/>
                <a:cs typeface="Arial" panose="020B0604020202020204" pitchFamily="34" charset="-120"/>
              </a:rPr>
              <a:t>• قفل موقت حساب پس از چند تلاش ناموفق</a:t>
            </a:r>
            <a:endParaRPr lang="en-US" sz="1250" dirty="0"/>
          </a:p>
          <a:p>
            <a:pPr marL="0" indent="0" algn="r" rtl="1">
              <a:lnSpc>
                <a:spcPct val="140000"/>
              </a:lnSpc>
              <a:buNone/>
            </a:pPr>
            <a:endParaRPr lang="en-US" sz="1250" dirty="0"/>
          </a:p>
          <a:p>
            <a:pPr marL="0" indent="0" algn="r" rtl="1">
              <a:lnSpc>
                <a:spcPct val="140000"/>
              </a:lnSpc>
              <a:buNone/>
            </a:pPr>
            <a:r>
              <a:rPr lang="en-US" sz="1250" dirty="0">
                <a:solidFill>
                  <a:srgbClr val="13314D"/>
                </a:solidFill>
                <a:latin typeface="Arial" panose="020B0604020202020204" pitchFamily="34" charset="0"/>
                <a:ea typeface="Arial" panose="020B0604020202020204" pitchFamily="34" charset="-122"/>
                <a:cs typeface="Arial" panose="020B0604020202020204" pitchFamily="34" charset="-120"/>
              </a:rPr>
              <a:t>• ثبت کامل تلاش‌های ورود ناموفق</a:t>
            </a:r>
            <a:endParaRPr lang="en-US" sz="1250" dirty="0"/>
          </a:p>
        </p:txBody>
      </p:sp>
      <p:sp>
        <p:nvSpPr>
          <p:cNvPr id="13" name="Text 10"/>
          <p:cNvSpPr/>
          <p:nvPr/>
        </p:nvSpPr>
        <p:spPr>
          <a:xfrm>
            <a:off x="11548872" y="6446520"/>
            <a:ext cx="365760" cy="274320"/>
          </a:xfrm>
          <a:prstGeom prst="rect">
            <a:avLst/>
          </a:prstGeom>
          <a:noFill/>
        </p:spPr>
        <p:txBody>
          <a:bodyPr wrap="square" rtlCol="0" anchor="ctr"/>
          <a:lstStyle/>
          <a:p>
            <a:pPr marL="0" indent="0" algn="l">
              <a:buNone/>
            </a:pPr>
            <a:r>
              <a:rPr lang="en-US" sz="1100" dirty="0">
                <a:solidFill>
                  <a:srgbClr val="5B7285"/>
                </a:solidFill>
                <a:latin typeface="Arial" panose="020B0604020202020204" pitchFamily="34" charset="0"/>
                <a:ea typeface="Arial" panose="020B0604020202020204" pitchFamily="34" charset="-122"/>
                <a:cs typeface="Arial" panose="020B0604020202020204"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908792" cy="731520"/>
          </a:xfrm>
          <a:prstGeom prst="rect">
            <a:avLst/>
          </a:prstGeom>
          <a:noFill/>
        </p:spPr>
        <p:txBody>
          <a:bodyPr wrap="square" rtlCol="0" anchor="ctr"/>
          <a:lstStyle/>
          <a:p>
            <a:pPr marL="0" indent="0" algn="r" rtl="1">
              <a:buNone/>
            </a:pPr>
            <a:r>
              <a:rPr lang="en-US" sz="3000" b="1" dirty="0">
                <a:solidFill>
                  <a:srgbClr val="13314D"/>
                </a:solidFill>
                <a:latin typeface="Arial" panose="020B0604020202020204" pitchFamily="34" charset="0"/>
                <a:ea typeface="Arial" panose="020B0604020202020204" pitchFamily="34" charset="-122"/>
                <a:cs typeface="Arial" panose="020B0604020202020204" pitchFamily="34" charset="-120"/>
              </a:rPr>
              <a:t>قالب استاندارد پاسخ API</a:t>
            </a:r>
            <a:endParaRPr lang="en-US" sz="3000" dirty="0"/>
          </a:p>
        </p:txBody>
      </p:sp>
      <p:sp>
        <p:nvSpPr>
          <p:cNvPr id="3" name="Text 1"/>
          <p:cNvSpPr/>
          <p:nvPr/>
        </p:nvSpPr>
        <p:spPr>
          <a:xfrm>
            <a:off x="640080" y="1188720"/>
            <a:ext cx="10908792" cy="457200"/>
          </a:xfrm>
          <a:prstGeom prst="rect">
            <a:avLst/>
          </a:prstGeom>
          <a:noFill/>
        </p:spPr>
        <p:txBody>
          <a:bodyPr wrap="square" rtlCol="0" anchor="ctr"/>
          <a:lstStyle/>
          <a:p>
            <a:pPr marL="0" indent="0" algn="r" rtl="1">
              <a:buNone/>
            </a:pPr>
            <a:r>
              <a:rPr lang="en-US" sz="1400" dirty="0">
                <a:solidFill>
                  <a:srgbClr val="5B7285"/>
                </a:solidFill>
                <a:latin typeface="Arial" panose="020B0604020202020204" pitchFamily="34" charset="0"/>
                <a:ea typeface="Arial" panose="020B0604020202020204" pitchFamily="34" charset="-122"/>
                <a:cs typeface="Arial" panose="020B0604020202020204" pitchFamily="34" charset="-120"/>
              </a:rPr>
              <a:t>تمامی سرویس‌ها پاسخ‌های خود را با قالبی یکنواخت ارائه می‌کنند تا پردازش پاسخ در تمام کلاینت‌ها ساده و یکپارچه باشد.</a:t>
            </a:r>
            <a:endParaRPr lang="en-US" sz="1400" dirty="0"/>
          </a:p>
        </p:txBody>
      </p:sp>
      <p:sp>
        <p:nvSpPr>
          <p:cNvPr id="4" name="Shape 2"/>
          <p:cNvSpPr/>
          <p:nvPr/>
        </p:nvSpPr>
        <p:spPr>
          <a:xfrm>
            <a:off x="640080" y="1920240"/>
            <a:ext cx="5349240" cy="4114800"/>
          </a:xfrm>
          <a:prstGeom prst="roundRect">
            <a:avLst>
              <a:gd name="adj" fmla="val 2667"/>
            </a:avLst>
          </a:prstGeom>
          <a:solidFill>
            <a:srgbClr val="0E4A3B"/>
          </a:solidFill>
        </p:spPr>
      </p:sp>
      <p:sp>
        <p:nvSpPr>
          <p:cNvPr id="5" name="Shape 3"/>
          <p:cNvSpPr/>
          <p:nvPr/>
        </p:nvSpPr>
        <p:spPr>
          <a:xfrm>
            <a:off x="1097280" y="2194560"/>
            <a:ext cx="640080" cy="640080"/>
          </a:xfrm>
          <a:prstGeom prst="ellipse">
            <a:avLst/>
          </a:prstGeom>
          <a:solidFill>
            <a:srgbClr val="02C39A"/>
          </a:solidFill>
          <a:effectLst>
            <a:outerShdw blurRad="76200" dist="25400" dir="5400000" algn="bl" rotWithShape="0">
              <a:srgbClr val="1B2A4A">
                <a:alpha val="25000"/>
              </a:srgbClr>
            </a:outerShdw>
          </a:effectLst>
        </p:spPr>
      </p:sp>
      <p:pic>
        <p:nvPicPr>
          <p:cNvPr id="6" name="Image 0" descr="/home/claude/build/icons/check.png"/>
          <p:cNvPicPr>
            <a:picLocks noChangeAspect="1"/>
          </p:cNvPicPr>
          <p:nvPr/>
        </p:nvPicPr>
        <p:blipFill>
          <a:blip r:embed="rId1"/>
          <a:stretch>
            <a:fillRect/>
          </a:stretch>
        </p:blipFill>
        <p:spPr>
          <a:xfrm>
            <a:off x="1263701" y="2360981"/>
            <a:ext cx="307238" cy="307238"/>
          </a:xfrm>
          <a:prstGeom prst="rect">
            <a:avLst/>
          </a:prstGeom>
        </p:spPr>
      </p:pic>
      <p:sp>
        <p:nvSpPr>
          <p:cNvPr id="7" name="Text 4"/>
          <p:cNvSpPr/>
          <p:nvPr/>
        </p:nvSpPr>
        <p:spPr>
          <a:xfrm>
            <a:off x="1965960" y="2194560"/>
            <a:ext cx="3657600" cy="640080"/>
          </a:xfrm>
          <a:prstGeom prst="rect">
            <a:avLst/>
          </a:prstGeom>
          <a:noFill/>
        </p:spPr>
        <p:txBody>
          <a:bodyPr wrap="square" rtlCol="0" anchor="ctr"/>
          <a:lstStyle/>
          <a:p>
            <a:pPr marL="0" indent="0" algn="r" rtl="1">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پاسخ موفق</a:t>
            </a:r>
            <a:endParaRPr lang="en-US" sz="1800" dirty="0"/>
          </a:p>
        </p:txBody>
      </p:sp>
      <p:sp>
        <p:nvSpPr>
          <p:cNvPr id="8" name="Text 5"/>
          <p:cNvSpPr/>
          <p:nvPr/>
        </p:nvSpPr>
        <p:spPr>
          <a:xfrm>
            <a:off x="914400" y="3063240"/>
            <a:ext cx="4846320" cy="2743200"/>
          </a:xfrm>
          <a:prstGeom prst="rect">
            <a:avLst/>
          </a:prstGeom>
          <a:noFill/>
        </p:spPr>
        <p:txBody>
          <a:bodyPr wrap="square" rtlCol="0" anchor="t"/>
          <a:lstStyle/>
          <a:p>
            <a:pPr marL="0" indent="0" algn="l">
              <a:lnSpc>
                <a:spcPct val="130000"/>
              </a:lnSpc>
              <a:buNone/>
            </a:pPr>
            <a:r>
              <a:rPr lang="en-US" sz="1400" dirty="0">
                <a:solidFill>
                  <a:srgbClr val="B7F0DE"/>
                </a:solidFill>
                <a:latin typeface="Consolas" panose="020B0609020204030204" pitchFamily="34" charset="0"/>
                <a:ea typeface="Consolas" panose="020B0609020204030204" pitchFamily="34" charset="-122"/>
                <a:cs typeface="Consolas" panose="020B0609020204030204" pitchFamily="34" charset="-120"/>
              </a:rPr>
              <a:t>{</a:t>
            </a:r>
            <a:endParaRPr lang="en-US" sz="1400" dirty="0"/>
          </a:p>
          <a:p>
            <a:pPr marL="0" indent="0" algn="l">
              <a:lnSpc>
                <a:spcPct val="130000"/>
              </a:lnSpc>
              <a:buNone/>
            </a:pPr>
            <a:r>
              <a:rPr lang="en-US" sz="1400" dirty="0">
                <a:solidFill>
                  <a:srgbClr val="B7F0DE"/>
                </a:solidFill>
                <a:latin typeface="Consolas" panose="020B0609020204030204" pitchFamily="34" charset="0"/>
                <a:ea typeface="Consolas" panose="020B0609020204030204" pitchFamily="34" charset="-122"/>
                <a:cs typeface="Consolas" panose="020B0609020204030204" pitchFamily="34" charset="-120"/>
              </a:rPr>
              <a:t>  "success": true,</a:t>
            </a:r>
            <a:endParaRPr lang="en-US" sz="1400" dirty="0"/>
          </a:p>
          <a:p>
            <a:pPr marL="0" indent="0" algn="l">
              <a:lnSpc>
                <a:spcPct val="130000"/>
              </a:lnSpc>
              <a:buNone/>
            </a:pPr>
            <a:r>
              <a:rPr lang="en-US" sz="1400" dirty="0">
                <a:solidFill>
                  <a:srgbClr val="B7F0DE"/>
                </a:solidFill>
                <a:latin typeface="Consolas" panose="020B0609020204030204" pitchFamily="34" charset="0"/>
                <a:ea typeface="Consolas" panose="020B0609020204030204" pitchFamily="34" charset="-122"/>
                <a:cs typeface="Consolas" panose="020B0609020204030204" pitchFamily="34" charset="-120"/>
              </a:rPr>
              <a:t>  "message": "Operation completed</a:t>
            </a:r>
            <a:endParaRPr lang="en-US" sz="1400" dirty="0"/>
          </a:p>
          <a:p>
            <a:pPr marL="0" indent="0" algn="l">
              <a:lnSpc>
                <a:spcPct val="130000"/>
              </a:lnSpc>
              <a:buNone/>
            </a:pPr>
            <a:r>
              <a:rPr lang="en-US" sz="1400" dirty="0">
                <a:solidFill>
                  <a:srgbClr val="B7F0DE"/>
                </a:solidFill>
                <a:latin typeface="Consolas" panose="020B0609020204030204" pitchFamily="34" charset="0"/>
                <a:ea typeface="Consolas" panose="020B0609020204030204" pitchFamily="34" charset="-122"/>
                <a:cs typeface="Consolas" panose="020B0609020204030204" pitchFamily="34" charset="-120"/>
              </a:rPr>
              <a:t>    successfully.",</a:t>
            </a:r>
            <a:endParaRPr lang="en-US" sz="1400" dirty="0"/>
          </a:p>
          <a:p>
            <a:pPr marL="0" indent="0" algn="l">
              <a:lnSpc>
                <a:spcPct val="130000"/>
              </a:lnSpc>
              <a:buNone/>
            </a:pPr>
            <a:r>
              <a:rPr lang="en-US" sz="1400" dirty="0">
                <a:solidFill>
                  <a:srgbClr val="B7F0DE"/>
                </a:solidFill>
                <a:latin typeface="Consolas" panose="020B0609020204030204" pitchFamily="34" charset="0"/>
                <a:ea typeface="Consolas" panose="020B0609020204030204" pitchFamily="34" charset="-122"/>
                <a:cs typeface="Consolas" panose="020B0609020204030204" pitchFamily="34" charset="-120"/>
              </a:rPr>
              <a:t>  "data": { ... }</a:t>
            </a:r>
            <a:endParaRPr lang="en-US" sz="1400" dirty="0"/>
          </a:p>
          <a:p>
            <a:pPr marL="0" indent="0" algn="l">
              <a:lnSpc>
                <a:spcPct val="130000"/>
              </a:lnSpc>
              <a:buNone/>
            </a:pPr>
            <a:r>
              <a:rPr lang="en-US" sz="1400" dirty="0">
                <a:solidFill>
                  <a:srgbClr val="B7F0DE"/>
                </a:solidFill>
                <a:latin typeface="Consolas" panose="020B0609020204030204" pitchFamily="34" charset="0"/>
                <a:ea typeface="Consolas" panose="020B0609020204030204" pitchFamily="34" charset="-122"/>
                <a:cs typeface="Consolas" panose="020B0609020204030204" pitchFamily="34" charset="-120"/>
              </a:rPr>
              <a:t>}</a:t>
            </a:r>
            <a:endParaRPr lang="en-US" sz="1400" dirty="0"/>
          </a:p>
        </p:txBody>
      </p:sp>
      <p:sp>
        <p:nvSpPr>
          <p:cNvPr id="9" name="Shape 6"/>
          <p:cNvSpPr/>
          <p:nvPr/>
        </p:nvSpPr>
        <p:spPr>
          <a:xfrm>
            <a:off x="6172200" y="1920240"/>
            <a:ext cx="5349240" cy="4114800"/>
          </a:xfrm>
          <a:prstGeom prst="roundRect">
            <a:avLst>
              <a:gd name="adj" fmla="val 2667"/>
            </a:avLst>
          </a:prstGeom>
          <a:solidFill>
            <a:srgbClr val="5C1F2A"/>
          </a:solidFill>
        </p:spPr>
      </p:sp>
      <p:sp>
        <p:nvSpPr>
          <p:cNvPr id="10" name="Shape 7"/>
          <p:cNvSpPr/>
          <p:nvPr/>
        </p:nvSpPr>
        <p:spPr>
          <a:xfrm>
            <a:off x="6629400" y="2194560"/>
            <a:ext cx="640080" cy="640080"/>
          </a:xfrm>
          <a:prstGeom prst="ellipse">
            <a:avLst/>
          </a:prstGeom>
          <a:solidFill>
            <a:srgbClr val="E86A6A"/>
          </a:solidFill>
          <a:effectLst>
            <a:outerShdw blurRad="76200" dist="25400" dir="5400000" algn="bl" rotWithShape="0">
              <a:srgbClr val="1B2A4A">
                <a:alpha val="25000"/>
              </a:srgbClr>
            </a:outerShdw>
          </a:effectLst>
        </p:spPr>
      </p:sp>
      <p:pic>
        <p:nvPicPr>
          <p:cNvPr id="11" name="Image 1" descr="/home/claude/build/icons/warning.png"/>
          <p:cNvPicPr>
            <a:picLocks noChangeAspect="1"/>
          </p:cNvPicPr>
          <p:nvPr/>
        </p:nvPicPr>
        <p:blipFill>
          <a:blip r:embed="rId2"/>
          <a:stretch>
            <a:fillRect/>
          </a:stretch>
        </p:blipFill>
        <p:spPr>
          <a:xfrm>
            <a:off x="6795821" y="2360981"/>
            <a:ext cx="307238" cy="307238"/>
          </a:xfrm>
          <a:prstGeom prst="rect">
            <a:avLst/>
          </a:prstGeom>
        </p:spPr>
      </p:pic>
      <p:sp>
        <p:nvSpPr>
          <p:cNvPr id="12" name="Text 8"/>
          <p:cNvSpPr/>
          <p:nvPr/>
        </p:nvSpPr>
        <p:spPr>
          <a:xfrm>
            <a:off x="7498080" y="2194560"/>
            <a:ext cx="3657600" cy="640080"/>
          </a:xfrm>
          <a:prstGeom prst="rect">
            <a:avLst/>
          </a:prstGeom>
          <a:noFill/>
        </p:spPr>
        <p:txBody>
          <a:bodyPr wrap="square" rtlCol="0" anchor="ctr"/>
          <a:lstStyle/>
          <a:p>
            <a:pPr marL="0" indent="0" algn="r" rtl="1">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پاسخ ناموفق</a:t>
            </a:r>
            <a:endParaRPr lang="en-US" sz="1800" dirty="0"/>
          </a:p>
        </p:txBody>
      </p:sp>
      <p:sp>
        <p:nvSpPr>
          <p:cNvPr id="13" name="Text 9"/>
          <p:cNvSpPr/>
          <p:nvPr/>
        </p:nvSpPr>
        <p:spPr>
          <a:xfrm>
            <a:off x="6446520" y="3063240"/>
            <a:ext cx="4846320" cy="2743200"/>
          </a:xfrm>
          <a:prstGeom prst="rect">
            <a:avLst/>
          </a:prstGeom>
          <a:noFill/>
        </p:spPr>
        <p:txBody>
          <a:bodyPr wrap="square" rtlCol="0" anchor="t"/>
          <a:lstStyle/>
          <a:p>
            <a:pPr marL="0" indent="0" algn="l">
              <a:lnSpc>
                <a:spcPct val="130000"/>
              </a:lnSpc>
              <a:buNone/>
            </a:pPr>
            <a:r>
              <a:rPr lang="en-US" sz="1400" dirty="0">
                <a:solidFill>
                  <a:srgbClr val="F2C4C4"/>
                </a:solidFill>
                <a:latin typeface="Consolas" panose="020B0609020204030204" pitchFamily="34" charset="0"/>
                <a:ea typeface="Consolas" panose="020B0609020204030204" pitchFamily="34" charset="-122"/>
                <a:cs typeface="Consolas" panose="020B0609020204030204" pitchFamily="34" charset="-120"/>
              </a:rPr>
              <a:t>{</a:t>
            </a:r>
            <a:endParaRPr lang="en-US" sz="1400" dirty="0"/>
          </a:p>
          <a:p>
            <a:pPr marL="0" indent="0" algn="l">
              <a:lnSpc>
                <a:spcPct val="130000"/>
              </a:lnSpc>
              <a:buNone/>
            </a:pPr>
            <a:r>
              <a:rPr lang="en-US" sz="1400" dirty="0">
                <a:solidFill>
                  <a:srgbClr val="F2C4C4"/>
                </a:solidFill>
                <a:latin typeface="Consolas" panose="020B0609020204030204" pitchFamily="34" charset="0"/>
                <a:ea typeface="Consolas" panose="020B0609020204030204" pitchFamily="34" charset="-122"/>
                <a:cs typeface="Consolas" panose="020B0609020204030204" pitchFamily="34" charset="-120"/>
              </a:rPr>
              <a:t>  "success": false,</a:t>
            </a:r>
            <a:endParaRPr lang="en-US" sz="1400" dirty="0"/>
          </a:p>
          <a:p>
            <a:pPr marL="0" indent="0" algn="l">
              <a:lnSpc>
                <a:spcPct val="130000"/>
              </a:lnSpc>
              <a:buNone/>
            </a:pPr>
            <a:r>
              <a:rPr lang="en-US" sz="1400" dirty="0">
                <a:solidFill>
                  <a:srgbClr val="F2C4C4"/>
                </a:solidFill>
                <a:latin typeface="Consolas" panose="020B0609020204030204" pitchFamily="34" charset="0"/>
                <a:ea typeface="Consolas" panose="020B0609020204030204" pitchFamily="34" charset="-122"/>
                <a:cs typeface="Consolas" panose="020B0609020204030204" pitchFamily="34" charset="-120"/>
              </a:rPr>
              <a:t>  "errorCode": "AUTH_401",</a:t>
            </a:r>
            <a:endParaRPr lang="en-US" sz="1400" dirty="0"/>
          </a:p>
          <a:p>
            <a:pPr marL="0" indent="0" algn="l">
              <a:lnSpc>
                <a:spcPct val="130000"/>
              </a:lnSpc>
              <a:buNone/>
            </a:pPr>
            <a:r>
              <a:rPr lang="en-US" sz="1400" dirty="0">
                <a:solidFill>
                  <a:srgbClr val="F2C4C4"/>
                </a:solidFill>
                <a:latin typeface="Consolas" panose="020B0609020204030204" pitchFamily="34" charset="0"/>
                <a:ea typeface="Consolas" panose="020B0609020204030204" pitchFamily="34" charset="-122"/>
                <a:cs typeface="Consolas" panose="020B0609020204030204" pitchFamily="34" charset="-120"/>
              </a:rPr>
              <a:t>  "message": "Authentication</a:t>
            </a:r>
            <a:endParaRPr lang="en-US" sz="1400" dirty="0"/>
          </a:p>
          <a:p>
            <a:pPr marL="0" indent="0" algn="l">
              <a:lnSpc>
                <a:spcPct val="130000"/>
              </a:lnSpc>
              <a:buNone/>
            </a:pPr>
            <a:r>
              <a:rPr lang="en-US" sz="1400" dirty="0">
                <a:solidFill>
                  <a:srgbClr val="F2C4C4"/>
                </a:solidFill>
                <a:latin typeface="Consolas" panose="020B0609020204030204" pitchFamily="34" charset="0"/>
                <a:ea typeface="Consolas" panose="020B0609020204030204" pitchFamily="34" charset="-122"/>
                <a:cs typeface="Consolas" panose="020B0609020204030204" pitchFamily="34" charset="-120"/>
              </a:rPr>
              <a:t>    failed."</a:t>
            </a:r>
            <a:endParaRPr lang="en-US" sz="1400" dirty="0"/>
          </a:p>
          <a:p>
            <a:pPr marL="0" indent="0" algn="l">
              <a:lnSpc>
                <a:spcPct val="130000"/>
              </a:lnSpc>
              <a:buNone/>
            </a:pPr>
            <a:r>
              <a:rPr lang="en-US" sz="1400" dirty="0">
                <a:solidFill>
                  <a:srgbClr val="F2C4C4"/>
                </a:solidFill>
                <a:latin typeface="Consolas" panose="020B0609020204030204" pitchFamily="34" charset="0"/>
                <a:ea typeface="Consolas" panose="020B0609020204030204" pitchFamily="34" charset="-122"/>
                <a:cs typeface="Consolas" panose="020B0609020204030204" pitchFamily="34" charset="-120"/>
              </a:rPr>
              <a:t>}</a:t>
            </a:r>
            <a:endParaRPr lang="en-US" sz="1400" dirty="0"/>
          </a:p>
        </p:txBody>
      </p:sp>
      <p:sp>
        <p:nvSpPr>
          <p:cNvPr id="14" name="Text 10"/>
          <p:cNvSpPr/>
          <p:nvPr/>
        </p:nvSpPr>
        <p:spPr>
          <a:xfrm>
            <a:off x="11548872" y="6446520"/>
            <a:ext cx="365760" cy="274320"/>
          </a:xfrm>
          <a:prstGeom prst="rect">
            <a:avLst/>
          </a:prstGeom>
          <a:noFill/>
        </p:spPr>
        <p:txBody>
          <a:bodyPr wrap="square" rtlCol="0" anchor="ctr"/>
          <a:lstStyle/>
          <a:p>
            <a:pPr marL="0" indent="0" algn="l">
              <a:buNone/>
            </a:pPr>
            <a:r>
              <a:rPr lang="en-US" sz="1100" dirty="0">
                <a:solidFill>
                  <a:srgbClr val="5B7285"/>
                </a:solidFill>
                <a:latin typeface="Arial" panose="020B0604020202020204" pitchFamily="34" charset="0"/>
                <a:ea typeface="Arial" panose="020B0604020202020204" pitchFamily="34" charset="-122"/>
                <a:cs typeface="Arial" panose="020B0604020202020204"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908792" cy="731520"/>
          </a:xfrm>
          <a:prstGeom prst="rect">
            <a:avLst/>
          </a:prstGeom>
          <a:noFill/>
        </p:spPr>
        <p:txBody>
          <a:bodyPr wrap="square" rtlCol="0" anchor="ctr"/>
          <a:lstStyle/>
          <a:p>
            <a:pPr marL="0" indent="0" algn="r" rtl="1">
              <a:buNone/>
            </a:pPr>
            <a:r>
              <a:rPr lang="en-US" sz="2800" b="1" dirty="0">
                <a:solidFill>
                  <a:srgbClr val="13314D"/>
                </a:solidFill>
                <a:latin typeface="Arial" panose="020B0604020202020204" pitchFamily="34" charset="0"/>
                <a:ea typeface="Arial" panose="020B0604020202020204" pitchFamily="34" charset="-122"/>
                <a:cs typeface="Arial" panose="020B0604020202020204" pitchFamily="34" charset="-120"/>
              </a:rPr>
              <a:t>معماری شیءگرا — سلسله‌مراتب کاربران</a:t>
            </a:r>
            <a:endParaRPr lang="en-US" sz="2800" dirty="0"/>
          </a:p>
        </p:txBody>
      </p:sp>
      <p:sp>
        <p:nvSpPr>
          <p:cNvPr id="3" name="Shape 1"/>
          <p:cNvSpPr/>
          <p:nvPr/>
        </p:nvSpPr>
        <p:spPr>
          <a:xfrm>
            <a:off x="4539996" y="1417320"/>
            <a:ext cx="3108960" cy="1051560"/>
          </a:xfrm>
          <a:prstGeom prst="roundRect">
            <a:avLst>
              <a:gd name="adj" fmla="val 6957"/>
            </a:avLst>
          </a:prstGeom>
          <a:solidFill>
            <a:srgbClr val="065A82"/>
          </a:solidFill>
          <a:effectLst>
            <a:outerShdw blurRad="76200" dist="25400" dir="5400000" algn="bl" rotWithShape="0">
              <a:srgbClr val="1B2A4A">
                <a:alpha val="20000"/>
              </a:srgbClr>
            </a:outerShdw>
          </a:effectLst>
        </p:spPr>
      </p:sp>
      <p:sp>
        <p:nvSpPr>
          <p:cNvPr id="4" name="Text 2"/>
          <p:cNvSpPr/>
          <p:nvPr/>
        </p:nvSpPr>
        <p:spPr>
          <a:xfrm>
            <a:off x="4631436" y="1508760"/>
            <a:ext cx="2926080" cy="868680"/>
          </a:xfrm>
          <a:prstGeom prst="rect">
            <a:avLst/>
          </a:prstGeom>
          <a:noFill/>
        </p:spPr>
        <p:txBody>
          <a:bodyPr wrap="square" rtlCol="0" anchor="ctr"/>
          <a:lstStyle/>
          <a:p>
            <a:pPr marL="0" indent="0" algn="ctr">
              <a:lnSpc>
                <a:spcPct val="130000"/>
              </a:lnSpc>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User</a:t>
            </a:r>
            <a:endParaRPr lang="en-US" sz="1400" dirty="0"/>
          </a:p>
          <a:p>
            <a:pPr marL="0" indent="0" algn="ctr">
              <a:lnSpc>
                <a:spcPct val="130000"/>
              </a:lnSpc>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userId · name · email · role</a:t>
            </a:r>
            <a:endParaRPr lang="en-US" sz="1400" dirty="0"/>
          </a:p>
        </p:txBody>
      </p:sp>
      <p:sp>
        <p:nvSpPr>
          <p:cNvPr id="5" name="Shape 3"/>
          <p:cNvSpPr/>
          <p:nvPr/>
        </p:nvSpPr>
        <p:spPr>
          <a:xfrm>
            <a:off x="914400" y="3063240"/>
            <a:ext cx="3108960" cy="1051560"/>
          </a:xfrm>
          <a:prstGeom prst="roundRect">
            <a:avLst>
              <a:gd name="adj" fmla="val 6957"/>
            </a:avLst>
          </a:prstGeom>
          <a:solidFill>
            <a:srgbClr val="1C7293"/>
          </a:solidFill>
          <a:effectLst>
            <a:outerShdw blurRad="76200" dist="25400" dir="5400000" algn="bl" rotWithShape="0">
              <a:srgbClr val="1B2A4A">
                <a:alpha val="18000"/>
              </a:srgbClr>
            </a:outerShdw>
          </a:effectLst>
        </p:spPr>
      </p:sp>
      <p:sp>
        <p:nvSpPr>
          <p:cNvPr id="6" name="Text 4"/>
          <p:cNvSpPr/>
          <p:nvPr/>
        </p:nvSpPr>
        <p:spPr>
          <a:xfrm>
            <a:off x="1005840" y="3136392"/>
            <a:ext cx="2926080" cy="365760"/>
          </a:xfrm>
          <a:prstGeom prst="rect">
            <a:avLst/>
          </a:prstGeom>
          <a:noFill/>
        </p:spPr>
        <p:txBody>
          <a:bodyPr wrap="square"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Teacher</a:t>
            </a:r>
            <a:endParaRPr lang="en-US" sz="1500" dirty="0"/>
          </a:p>
        </p:txBody>
      </p:sp>
      <p:sp>
        <p:nvSpPr>
          <p:cNvPr id="7" name="Text 5"/>
          <p:cNvSpPr/>
          <p:nvPr/>
        </p:nvSpPr>
        <p:spPr>
          <a:xfrm>
            <a:off x="1005840" y="3520440"/>
            <a:ext cx="2926080" cy="548640"/>
          </a:xfrm>
          <a:prstGeom prst="rect">
            <a:avLst/>
          </a:prstGeom>
          <a:noFill/>
        </p:spPr>
        <p:txBody>
          <a:bodyPr wrap="square" rtlCol="0" anchor="t"/>
          <a:lstStyle/>
          <a:p>
            <a:pPr marL="0" indent="0" algn="ctr">
              <a:buNone/>
            </a:pPr>
            <a:r>
              <a:rPr lang="en-US" sz="1050" dirty="0">
                <a:solidFill>
                  <a:srgbClr val="EAF3F7"/>
                </a:solidFill>
                <a:latin typeface="Calibri" panose="020F0502020204030204" pitchFamily="34" charset="0"/>
                <a:ea typeface="Calibri" panose="020F0502020204030204" pitchFamily="34" charset="-122"/>
                <a:cs typeface="Calibri" panose="020F0502020204030204" pitchFamily="34" charset="-120"/>
              </a:rPr>
              <a:t>createClass · createExam · gradeHomework</a:t>
            </a:r>
            <a:endParaRPr lang="en-US" sz="1050" dirty="0"/>
          </a:p>
        </p:txBody>
      </p:sp>
      <p:sp>
        <p:nvSpPr>
          <p:cNvPr id="8" name="Shape 6"/>
          <p:cNvSpPr/>
          <p:nvPr/>
        </p:nvSpPr>
        <p:spPr>
          <a:xfrm>
            <a:off x="2468880" y="2468880"/>
            <a:ext cx="0" cy="594360"/>
          </a:xfrm>
          <a:prstGeom prst="line">
            <a:avLst/>
          </a:prstGeom>
          <a:noFill/>
          <a:ln w="19050">
            <a:solidFill>
              <a:srgbClr val="9FB8CE"/>
            </a:solidFill>
            <a:prstDash val="dash"/>
          </a:ln>
        </p:spPr>
      </p:sp>
      <p:sp>
        <p:nvSpPr>
          <p:cNvPr id="9" name="Shape 7"/>
          <p:cNvSpPr/>
          <p:nvPr/>
        </p:nvSpPr>
        <p:spPr>
          <a:xfrm>
            <a:off x="4539996" y="3063240"/>
            <a:ext cx="3108960" cy="1051560"/>
          </a:xfrm>
          <a:prstGeom prst="roundRect">
            <a:avLst>
              <a:gd name="adj" fmla="val 6957"/>
            </a:avLst>
          </a:prstGeom>
          <a:solidFill>
            <a:srgbClr val="1C7293"/>
          </a:solidFill>
          <a:effectLst>
            <a:outerShdw blurRad="76200" dist="25400" dir="5400000" algn="bl" rotWithShape="0">
              <a:srgbClr val="1B2A4A">
                <a:alpha val="18000"/>
              </a:srgbClr>
            </a:outerShdw>
          </a:effectLst>
        </p:spPr>
      </p:sp>
      <p:sp>
        <p:nvSpPr>
          <p:cNvPr id="10" name="Text 8"/>
          <p:cNvSpPr/>
          <p:nvPr/>
        </p:nvSpPr>
        <p:spPr>
          <a:xfrm>
            <a:off x="4631436" y="3136392"/>
            <a:ext cx="2926080" cy="365760"/>
          </a:xfrm>
          <a:prstGeom prst="rect">
            <a:avLst/>
          </a:prstGeom>
          <a:noFill/>
        </p:spPr>
        <p:txBody>
          <a:bodyPr wrap="square"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Student</a:t>
            </a:r>
            <a:endParaRPr lang="en-US" sz="1500" dirty="0"/>
          </a:p>
        </p:txBody>
      </p:sp>
      <p:sp>
        <p:nvSpPr>
          <p:cNvPr id="11" name="Text 9"/>
          <p:cNvSpPr/>
          <p:nvPr/>
        </p:nvSpPr>
        <p:spPr>
          <a:xfrm>
            <a:off x="4631436" y="3520440"/>
            <a:ext cx="2926080" cy="548640"/>
          </a:xfrm>
          <a:prstGeom prst="rect">
            <a:avLst/>
          </a:prstGeom>
          <a:noFill/>
        </p:spPr>
        <p:txBody>
          <a:bodyPr wrap="square" rtlCol="0" anchor="t"/>
          <a:lstStyle/>
          <a:p>
            <a:pPr marL="0" indent="0" algn="ctr">
              <a:buNone/>
            </a:pPr>
            <a:r>
              <a:rPr lang="en-US" sz="1050" dirty="0">
                <a:solidFill>
                  <a:srgbClr val="EAF3F7"/>
                </a:solidFill>
                <a:latin typeface="Calibri" panose="020F0502020204030204" pitchFamily="34" charset="0"/>
                <a:ea typeface="Calibri" panose="020F0502020204030204" pitchFamily="34" charset="-122"/>
                <a:cs typeface="Calibri" panose="020F0502020204030204" pitchFamily="34" charset="-120"/>
              </a:rPr>
              <a:t>viewClass · submitHomework · viewGrade</a:t>
            </a:r>
            <a:endParaRPr lang="en-US" sz="1050" dirty="0"/>
          </a:p>
        </p:txBody>
      </p:sp>
      <p:sp>
        <p:nvSpPr>
          <p:cNvPr id="12" name="Shape 10"/>
          <p:cNvSpPr/>
          <p:nvPr/>
        </p:nvSpPr>
        <p:spPr>
          <a:xfrm>
            <a:off x="6094476" y="2468880"/>
            <a:ext cx="0" cy="594360"/>
          </a:xfrm>
          <a:prstGeom prst="line">
            <a:avLst/>
          </a:prstGeom>
          <a:noFill/>
          <a:ln w="19050">
            <a:solidFill>
              <a:srgbClr val="9FB8CE"/>
            </a:solidFill>
            <a:prstDash val="dash"/>
          </a:ln>
        </p:spPr>
      </p:sp>
      <p:sp>
        <p:nvSpPr>
          <p:cNvPr id="13" name="Shape 11"/>
          <p:cNvSpPr/>
          <p:nvPr/>
        </p:nvSpPr>
        <p:spPr>
          <a:xfrm>
            <a:off x="8165592" y="3063240"/>
            <a:ext cx="3108960" cy="1051560"/>
          </a:xfrm>
          <a:prstGeom prst="roundRect">
            <a:avLst>
              <a:gd name="adj" fmla="val 6957"/>
            </a:avLst>
          </a:prstGeom>
          <a:solidFill>
            <a:srgbClr val="1C7293"/>
          </a:solidFill>
          <a:effectLst>
            <a:outerShdw blurRad="76200" dist="25400" dir="5400000" algn="bl" rotWithShape="0">
              <a:srgbClr val="1B2A4A">
                <a:alpha val="18000"/>
              </a:srgbClr>
            </a:outerShdw>
          </a:effectLst>
        </p:spPr>
      </p:sp>
      <p:sp>
        <p:nvSpPr>
          <p:cNvPr id="14" name="Text 12"/>
          <p:cNvSpPr/>
          <p:nvPr/>
        </p:nvSpPr>
        <p:spPr>
          <a:xfrm>
            <a:off x="8257032" y="3136392"/>
            <a:ext cx="2926080" cy="365760"/>
          </a:xfrm>
          <a:prstGeom prst="rect">
            <a:avLst/>
          </a:prstGeom>
          <a:noFill/>
        </p:spPr>
        <p:txBody>
          <a:bodyPr wrap="square"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Admin</a:t>
            </a:r>
            <a:endParaRPr lang="en-US" sz="1500" dirty="0"/>
          </a:p>
        </p:txBody>
      </p:sp>
      <p:sp>
        <p:nvSpPr>
          <p:cNvPr id="15" name="Text 13"/>
          <p:cNvSpPr/>
          <p:nvPr/>
        </p:nvSpPr>
        <p:spPr>
          <a:xfrm>
            <a:off x="8257032" y="3520440"/>
            <a:ext cx="2926080" cy="548640"/>
          </a:xfrm>
          <a:prstGeom prst="rect">
            <a:avLst/>
          </a:prstGeom>
          <a:noFill/>
        </p:spPr>
        <p:txBody>
          <a:bodyPr wrap="square" rtlCol="0" anchor="t"/>
          <a:lstStyle/>
          <a:p>
            <a:pPr marL="0" indent="0" algn="ctr">
              <a:buNone/>
            </a:pPr>
            <a:r>
              <a:rPr lang="en-US" sz="1050" dirty="0">
                <a:solidFill>
                  <a:srgbClr val="EAF3F7"/>
                </a:solidFill>
                <a:latin typeface="Calibri" panose="020F0502020204030204" pitchFamily="34" charset="0"/>
                <a:ea typeface="Calibri" panose="020F0502020204030204" pitchFamily="34" charset="-122"/>
                <a:cs typeface="Calibri" panose="020F0502020204030204" pitchFamily="34" charset="-120"/>
              </a:rPr>
              <a:t>manageUsers · manageSystem</a:t>
            </a:r>
            <a:endParaRPr lang="en-US" sz="1050" dirty="0"/>
          </a:p>
        </p:txBody>
      </p:sp>
      <p:sp>
        <p:nvSpPr>
          <p:cNvPr id="16" name="Shape 14"/>
          <p:cNvSpPr/>
          <p:nvPr/>
        </p:nvSpPr>
        <p:spPr>
          <a:xfrm>
            <a:off x="9720072" y="2468880"/>
            <a:ext cx="0" cy="594360"/>
          </a:xfrm>
          <a:prstGeom prst="line">
            <a:avLst/>
          </a:prstGeom>
          <a:noFill/>
          <a:ln w="19050">
            <a:solidFill>
              <a:srgbClr val="9FB8CE"/>
            </a:solidFill>
            <a:prstDash val="dash"/>
          </a:ln>
        </p:spPr>
      </p:sp>
      <p:sp>
        <p:nvSpPr>
          <p:cNvPr id="17" name="Shape 15"/>
          <p:cNvSpPr/>
          <p:nvPr/>
        </p:nvSpPr>
        <p:spPr>
          <a:xfrm>
            <a:off x="822960" y="4617720"/>
            <a:ext cx="10543032" cy="1600200"/>
          </a:xfrm>
          <a:prstGeom prst="roundRect">
            <a:avLst>
              <a:gd name="adj" fmla="val 5714"/>
            </a:avLst>
          </a:prstGeom>
          <a:solidFill>
            <a:srgbClr val="FFFFFF"/>
          </a:solidFill>
          <a:ln w="12700">
            <a:solidFill>
              <a:srgbClr val="DCE6ED"/>
            </a:solidFill>
            <a:prstDash val="solid"/>
          </a:ln>
        </p:spPr>
      </p:sp>
      <p:sp>
        <p:nvSpPr>
          <p:cNvPr id="18" name="Shape 16"/>
          <p:cNvSpPr/>
          <p:nvPr/>
        </p:nvSpPr>
        <p:spPr>
          <a:xfrm>
            <a:off x="1211580" y="5097780"/>
            <a:ext cx="594360" cy="594360"/>
          </a:xfrm>
          <a:prstGeom prst="ellipse">
            <a:avLst/>
          </a:prstGeom>
          <a:solidFill>
            <a:srgbClr val="02C39A"/>
          </a:solidFill>
          <a:effectLst>
            <a:outerShdw blurRad="76200" dist="25400" dir="5400000" algn="bl" rotWithShape="0">
              <a:srgbClr val="1B2A4A">
                <a:alpha val="25000"/>
              </a:srgbClr>
            </a:outerShdw>
          </a:effectLst>
        </p:spPr>
      </p:sp>
      <p:pic>
        <p:nvPicPr>
          <p:cNvPr id="19" name="Image 0" descr="/home/claude/build/icons/exchange.png"/>
          <p:cNvPicPr>
            <a:picLocks noChangeAspect="1"/>
          </p:cNvPicPr>
          <p:nvPr/>
        </p:nvPicPr>
        <p:blipFill>
          <a:blip r:embed="rId1"/>
          <a:stretch>
            <a:fillRect/>
          </a:stretch>
        </p:blipFill>
        <p:spPr>
          <a:xfrm>
            <a:off x="1366114" y="5252314"/>
            <a:ext cx="285293" cy="285293"/>
          </a:xfrm>
          <a:prstGeom prst="rect">
            <a:avLst/>
          </a:prstGeom>
        </p:spPr>
      </p:pic>
      <p:sp>
        <p:nvSpPr>
          <p:cNvPr id="20" name="Text 17"/>
          <p:cNvSpPr/>
          <p:nvPr/>
        </p:nvSpPr>
        <p:spPr>
          <a:xfrm>
            <a:off x="2057400" y="4800600"/>
            <a:ext cx="9125712" cy="1234440"/>
          </a:xfrm>
          <a:prstGeom prst="rect">
            <a:avLst/>
          </a:prstGeom>
          <a:noFill/>
        </p:spPr>
        <p:txBody>
          <a:bodyPr wrap="square" rtlCol="0" anchor="ctr"/>
          <a:lstStyle/>
          <a:p>
            <a:pPr marL="0" indent="0" algn="r" rtl="1">
              <a:lnSpc>
                <a:spcPct val="130000"/>
              </a:lnSpc>
              <a:buNone/>
            </a:pPr>
            <a:r>
              <a:rPr lang="en-US" sz="1300" dirty="0">
                <a:solidFill>
                  <a:srgbClr val="13314D"/>
                </a:solidFill>
                <a:latin typeface="Arial" panose="020B0604020202020204" pitchFamily="34" charset="0"/>
                <a:ea typeface="Arial" panose="020B0604020202020204" pitchFamily="34" charset="-122"/>
                <a:cs typeface="Arial" panose="020B0604020202020204" pitchFamily="34" charset="-120"/>
              </a:rPr>
              <a:t>بر اساس اصل جایگزینی لیسکوف (LSP)، هر یک از کلاس‌های Teacher، Student و Admin می‌توانند بدون ایجاد اختلال در رفتار سیستم، جایگزین کلاس پایه User شوند. تنها در عملیات وابسته به نقش (مانند دسترسی به نمرات) نیاز به بررسی نقش در زمان اجرا وجود دارد.</a:t>
            </a:r>
            <a:endParaRPr lang="en-US" sz="1300" dirty="0"/>
          </a:p>
        </p:txBody>
      </p:sp>
      <p:sp>
        <p:nvSpPr>
          <p:cNvPr id="21" name="Text 18"/>
          <p:cNvSpPr/>
          <p:nvPr/>
        </p:nvSpPr>
        <p:spPr>
          <a:xfrm>
            <a:off x="11548872" y="6446520"/>
            <a:ext cx="365760" cy="274320"/>
          </a:xfrm>
          <a:prstGeom prst="rect">
            <a:avLst/>
          </a:prstGeom>
          <a:noFill/>
        </p:spPr>
        <p:txBody>
          <a:bodyPr wrap="square" rtlCol="0" anchor="ctr"/>
          <a:lstStyle/>
          <a:p>
            <a:pPr marL="0" indent="0" algn="l">
              <a:buNone/>
            </a:pPr>
            <a:r>
              <a:rPr lang="en-US" sz="1100" dirty="0">
                <a:solidFill>
                  <a:srgbClr val="5B7285"/>
                </a:solidFill>
                <a:latin typeface="Arial" panose="020B0604020202020204" pitchFamily="34" charset="0"/>
                <a:ea typeface="Arial" panose="020B0604020202020204" pitchFamily="34" charset="-122"/>
                <a:cs typeface="Arial" panose="020B0604020202020204"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908792" cy="548640"/>
          </a:xfrm>
          <a:prstGeom prst="rect">
            <a:avLst/>
          </a:prstGeom>
          <a:noFill/>
        </p:spPr>
        <p:txBody>
          <a:bodyPr wrap="square" rtlCol="0" anchor="ctr"/>
          <a:lstStyle/>
          <a:p>
            <a:pPr marL="0" indent="0" algn="r" rtl="1">
              <a:buNone/>
            </a:pPr>
            <a:r>
              <a:rPr lang="en-US" sz="2600" b="1" dirty="0">
                <a:solidFill>
                  <a:srgbClr val="13314D"/>
                </a:solidFill>
                <a:latin typeface="Arial" panose="020B0604020202020204" pitchFamily="34" charset="0"/>
                <a:ea typeface="Arial" panose="020B0604020202020204" pitchFamily="34" charset="-122"/>
                <a:cs typeface="Arial" panose="020B0604020202020204" pitchFamily="34" charset="-120"/>
              </a:rPr>
              <a:t>ارزیابی طراحی بر اساس اصول SOLID</a:t>
            </a:r>
            <a:endParaRPr lang="en-US" sz="2600" dirty="0"/>
          </a:p>
        </p:txBody>
      </p:sp>
      <p:sp>
        <p:nvSpPr>
          <p:cNvPr id="3" name="Text 1"/>
          <p:cNvSpPr/>
          <p:nvPr/>
        </p:nvSpPr>
        <p:spPr>
          <a:xfrm>
            <a:off x="640080" y="960120"/>
            <a:ext cx="1828800" cy="320040"/>
          </a:xfrm>
          <a:prstGeom prst="rect">
            <a:avLst/>
          </a:prstGeom>
          <a:noFill/>
        </p:spPr>
        <p:txBody>
          <a:bodyPr wrap="square" rtlCol="0" anchor="ctr"/>
          <a:lstStyle/>
          <a:p>
            <a:pPr marL="0" indent="0" algn="r" rtl="1">
              <a:buNone/>
            </a:pPr>
            <a:r>
              <a:rPr lang="en-US" sz="1200" dirty="0">
                <a:solidFill>
                  <a:srgbClr val="5B7285"/>
                </a:solidFill>
                <a:latin typeface="Arial" panose="020B0604020202020204" pitchFamily="34" charset="0"/>
                <a:ea typeface="Arial" panose="020B0604020202020204" pitchFamily="34" charset="-122"/>
                <a:cs typeface="Arial" panose="020B0604020202020204" pitchFamily="34" charset="-120"/>
              </a:rPr>
              <a:t>۱ از ۳</a:t>
            </a:r>
            <a:endParaRPr lang="en-US" sz="1200" dirty="0"/>
          </a:p>
        </p:txBody>
      </p:sp>
      <p:sp>
        <p:nvSpPr>
          <p:cNvPr id="4" name="Shape 2"/>
          <p:cNvSpPr/>
          <p:nvPr/>
        </p:nvSpPr>
        <p:spPr>
          <a:xfrm>
            <a:off x="640080" y="1417320"/>
            <a:ext cx="5349240" cy="4846320"/>
          </a:xfrm>
          <a:prstGeom prst="roundRect">
            <a:avLst>
              <a:gd name="adj" fmla="val 2264"/>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5" name="Shape 3"/>
          <p:cNvSpPr/>
          <p:nvPr/>
        </p:nvSpPr>
        <p:spPr>
          <a:xfrm>
            <a:off x="4983480" y="1600200"/>
            <a:ext cx="822960" cy="822960"/>
          </a:xfrm>
          <a:prstGeom prst="ellipse">
            <a:avLst/>
          </a:prstGeom>
          <a:solidFill>
            <a:srgbClr val="065A82"/>
          </a:solidFill>
          <a:effectLst>
            <a:outerShdw blurRad="76200" dist="25400" dir="5400000" algn="bl" rotWithShape="0">
              <a:srgbClr val="1B2A4A">
                <a:alpha val="25000"/>
              </a:srgbClr>
            </a:outerShdw>
          </a:effectLst>
        </p:spPr>
      </p:sp>
      <p:pic>
        <p:nvPicPr>
          <p:cNvPr id="6" name="Image 0" descr="/home/claude/build/icons/cube.png"/>
          <p:cNvPicPr>
            <a:picLocks noChangeAspect="1"/>
          </p:cNvPicPr>
          <p:nvPr/>
        </p:nvPicPr>
        <p:blipFill>
          <a:blip r:embed="rId1"/>
          <a:stretch>
            <a:fillRect/>
          </a:stretch>
        </p:blipFill>
        <p:spPr>
          <a:xfrm>
            <a:off x="5197450" y="1814170"/>
            <a:ext cx="395021" cy="395021"/>
          </a:xfrm>
          <a:prstGeom prst="rect">
            <a:avLst/>
          </a:prstGeom>
        </p:spPr>
      </p:pic>
      <p:sp>
        <p:nvSpPr>
          <p:cNvPr id="7" name="Text 4"/>
          <p:cNvSpPr/>
          <p:nvPr/>
        </p:nvSpPr>
        <p:spPr>
          <a:xfrm>
            <a:off x="914400" y="1645920"/>
            <a:ext cx="3977640" cy="365760"/>
          </a:xfrm>
          <a:prstGeom prst="rect">
            <a:avLst/>
          </a:prstGeom>
          <a:noFill/>
        </p:spPr>
        <p:txBody>
          <a:bodyPr wrap="square" rtlCol="0" anchor="ctr"/>
          <a:lstStyle/>
          <a:p>
            <a:pPr marL="0" indent="0" algn="r">
              <a:buNone/>
            </a:pPr>
            <a:r>
              <a:rPr lang="en-US" sz="1300" b="1" dirty="0">
                <a:solidFill>
                  <a:srgbClr val="1C7293"/>
                </a:solidFill>
                <a:latin typeface="Calibri" panose="020F0502020204030204" pitchFamily="34" charset="0"/>
                <a:ea typeface="Calibri" panose="020F0502020204030204" pitchFamily="34" charset="-122"/>
                <a:cs typeface="Calibri" panose="020F0502020204030204" pitchFamily="34" charset="-120"/>
              </a:rPr>
              <a:t>SRP — Single Responsibility Principle</a:t>
            </a:r>
            <a:endParaRPr lang="en-US" sz="1300" dirty="0"/>
          </a:p>
        </p:txBody>
      </p:sp>
      <p:sp>
        <p:nvSpPr>
          <p:cNvPr id="8" name="Text 5"/>
          <p:cNvSpPr/>
          <p:nvPr/>
        </p:nvSpPr>
        <p:spPr>
          <a:xfrm>
            <a:off x="914400" y="1965960"/>
            <a:ext cx="3977640" cy="548640"/>
          </a:xfrm>
          <a:prstGeom prst="rect">
            <a:avLst/>
          </a:prstGeom>
          <a:noFill/>
        </p:spPr>
        <p:txBody>
          <a:bodyPr wrap="square" rtlCol="0" anchor="ctr"/>
          <a:lstStyle/>
          <a:p>
            <a:pPr marL="0" indent="0" algn="r" rtl="1">
              <a:buNone/>
            </a:pPr>
            <a:r>
              <a:rPr lang="en-US" sz="1800" b="1" dirty="0">
                <a:solidFill>
                  <a:srgbClr val="13314D"/>
                </a:solidFill>
                <a:latin typeface="Arial" panose="020B0604020202020204" pitchFamily="34" charset="0"/>
                <a:ea typeface="Arial" panose="020B0604020202020204" pitchFamily="34" charset="-122"/>
                <a:cs typeface="Arial" panose="020B0604020202020204" pitchFamily="34" charset="-120"/>
              </a:rPr>
              <a:t>اصل مسئولیت واحد</a:t>
            </a:r>
            <a:endParaRPr lang="en-US" sz="1800" dirty="0"/>
          </a:p>
        </p:txBody>
      </p:sp>
      <p:sp>
        <p:nvSpPr>
          <p:cNvPr id="9" name="Text 6"/>
          <p:cNvSpPr/>
          <p:nvPr/>
        </p:nvSpPr>
        <p:spPr>
          <a:xfrm>
            <a:off x="914400" y="2651760"/>
            <a:ext cx="4800600" cy="1371600"/>
          </a:xfrm>
          <a:prstGeom prst="rect">
            <a:avLst/>
          </a:prstGeom>
          <a:noFill/>
        </p:spPr>
        <p:txBody>
          <a:bodyPr wrap="square" rtlCol="0" anchor="t"/>
          <a:lstStyle/>
          <a:p>
            <a:pPr marL="0" indent="0" algn="r" rtl="1">
              <a:lnSpc>
                <a:spcPct val="130000"/>
              </a:lnSpc>
              <a:buNone/>
            </a:pPr>
            <a:r>
              <a:rPr lang="en-US" sz="1250" dirty="0">
                <a:solidFill>
                  <a:srgbClr val="5B7285"/>
                </a:solidFill>
                <a:latin typeface="Arial" panose="020B0604020202020204" pitchFamily="34" charset="0"/>
                <a:ea typeface="Arial" panose="020B0604020202020204" pitchFamily="34" charset="-122"/>
                <a:cs typeface="Arial" panose="020B0604020202020204" pitchFamily="34" charset="-120"/>
              </a:rPr>
              <a:t>سیستم به ماژول‌های مستقل تقسیم شده است: مدیریت کاربران، کلاس‌های آموزشی، تکالیف، آزمون‌ها و پیام‌رسان — هر ماژول یک مسئولیت مشخص دارد.</a:t>
            </a:r>
            <a:endParaRPr lang="en-US" sz="1250" dirty="0"/>
          </a:p>
        </p:txBody>
      </p:sp>
      <p:sp>
        <p:nvSpPr>
          <p:cNvPr id="10" name="Shape 7"/>
          <p:cNvSpPr/>
          <p:nvPr/>
        </p:nvSpPr>
        <p:spPr>
          <a:xfrm>
            <a:off x="914400" y="4160520"/>
            <a:ext cx="4800600" cy="0"/>
          </a:xfrm>
          <a:prstGeom prst="line">
            <a:avLst/>
          </a:prstGeom>
          <a:noFill/>
          <a:ln w="12700">
            <a:solidFill>
              <a:srgbClr val="E3EAF0"/>
            </a:solidFill>
            <a:prstDash val="solid"/>
          </a:ln>
        </p:spPr>
      </p:sp>
      <p:sp>
        <p:nvSpPr>
          <p:cNvPr id="11" name="Shape 8"/>
          <p:cNvSpPr/>
          <p:nvPr/>
        </p:nvSpPr>
        <p:spPr>
          <a:xfrm>
            <a:off x="5234940" y="4366260"/>
            <a:ext cx="502920" cy="502920"/>
          </a:xfrm>
          <a:prstGeom prst="ellipse">
            <a:avLst/>
          </a:prstGeom>
          <a:solidFill>
            <a:srgbClr val="D98A2B"/>
          </a:solidFill>
          <a:effectLst>
            <a:outerShdw blurRad="76200" dist="25400" dir="5400000" algn="bl" rotWithShape="0">
              <a:srgbClr val="1B2A4A">
                <a:alpha val="25000"/>
              </a:srgbClr>
            </a:outerShdw>
          </a:effectLst>
        </p:spPr>
      </p:sp>
      <p:pic>
        <p:nvPicPr>
          <p:cNvPr id="12" name="Image 1" descr="/home/claude/build/icons/warning.png"/>
          <p:cNvPicPr>
            <a:picLocks noChangeAspect="1"/>
          </p:cNvPicPr>
          <p:nvPr/>
        </p:nvPicPr>
        <p:blipFill>
          <a:blip r:embed="rId2"/>
          <a:stretch>
            <a:fillRect/>
          </a:stretch>
        </p:blipFill>
        <p:spPr>
          <a:xfrm>
            <a:off x="5365699" y="4497019"/>
            <a:ext cx="241402" cy="241402"/>
          </a:xfrm>
          <a:prstGeom prst="rect">
            <a:avLst/>
          </a:prstGeom>
        </p:spPr>
      </p:pic>
      <p:sp>
        <p:nvSpPr>
          <p:cNvPr id="13" name="Text 9"/>
          <p:cNvSpPr/>
          <p:nvPr/>
        </p:nvSpPr>
        <p:spPr>
          <a:xfrm>
            <a:off x="914400" y="4389120"/>
            <a:ext cx="4251960" cy="1691640"/>
          </a:xfrm>
          <a:prstGeom prst="rect">
            <a:avLst/>
          </a:prstGeom>
          <a:noFill/>
        </p:spPr>
        <p:txBody>
          <a:bodyPr wrap="square" rtlCol="0" anchor="t"/>
          <a:lstStyle/>
          <a:p>
            <a:pPr marL="0" indent="0" algn="r" rtl="1">
              <a:lnSpc>
                <a:spcPct val="130000"/>
              </a:lnSpc>
              <a:buNone/>
            </a:pPr>
            <a:r>
              <a:rPr lang="en-US" sz="1250" dirty="0">
                <a:solidFill>
                  <a:srgbClr val="13314D"/>
                </a:solidFill>
                <a:latin typeface="Arial" panose="020B0604020202020204" pitchFamily="34" charset="0"/>
                <a:ea typeface="Arial" panose="020B0604020202020204" pitchFamily="34" charset="-122"/>
                <a:cs typeface="Arial" panose="020B0604020202020204" pitchFamily="34" charset="-120"/>
              </a:rPr>
              <a:t>این تفکیک باعث شده تغییر در یک بخش (مثلاً آزمون‌ها) بر سایر بخش‌ها اثر نگذارد؛ اما در نسخه اولیه، «داشبورد دانش‌آموز» چند مسئولیت هم‌زمان داشت و نیازمند تفکیک بیشتر است.</a:t>
            </a:r>
            <a:endParaRPr lang="en-US" sz="1250" dirty="0"/>
          </a:p>
        </p:txBody>
      </p:sp>
      <p:sp>
        <p:nvSpPr>
          <p:cNvPr id="14" name="Shape 10"/>
          <p:cNvSpPr/>
          <p:nvPr/>
        </p:nvSpPr>
        <p:spPr>
          <a:xfrm>
            <a:off x="6172200" y="1417320"/>
            <a:ext cx="5349240" cy="4846320"/>
          </a:xfrm>
          <a:prstGeom prst="roundRect">
            <a:avLst>
              <a:gd name="adj" fmla="val 2264"/>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15" name="Shape 11"/>
          <p:cNvSpPr/>
          <p:nvPr/>
        </p:nvSpPr>
        <p:spPr>
          <a:xfrm>
            <a:off x="10515600" y="1600200"/>
            <a:ext cx="822960" cy="822960"/>
          </a:xfrm>
          <a:prstGeom prst="ellipse">
            <a:avLst/>
          </a:prstGeom>
          <a:solidFill>
            <a:srgbClr val="065A82"/>
          </a:solidFill>
          <a:effectLst>
            <a:outerShdw blurRad="76200" dist="25400" dir="5400000" algn="bl" rotWithShape="0">
              <a:srgbClr val="1B2A4A">
                <a:alpha val="25000"/>
              </a:srgbClr>
            </a:outerShdw>
          </a:effectLst>
        </p:spPr>
      </p:sp>
      <p:pic>
        <p:nvPicPr>
          <p:cNvPr id="16" name="Image 2" descr="/home/claude/build/icons/unlock.png"/>
          <p:cNvPicPr>
            <a:picLocks noChangeAspect="1"/>
          </p:cNvPicPr>
          <p:nvPr/>
        </p:nvPicPr>
        <p:blipFill>
          <a:blip r:embed="rId3"/>
          <a:stretch>
            <a:fillRect/>
          </a:stretch>
        </p:blipFill>
        <p:spPr>
          <a:xfrm>
            <a:off x="10729570" y="1814170"/>
            <a:ext cx="395021" cy="395021"/>
          </a:xfrm>
          <a:prstGeom prst="rect">
            <a:avLst/>
          </a:prstGeom>
        </p:spPr>
      </p:pic>
      <p:sp>
        <p:nvSpPr>
          <p:cNvPr id="17" name="Text 12"/>
          <p:cNvSpPr/>
          <p:nvPr/>
        </p:nvSpPr>
        <p:spPr>
          <a:xfrm>
            <a:off x="6446520" y="1645920"/>
            <a:ext cx="3977640" cy="365760"/>
          </a:xfrm>
          <a:prstGeom prst="rect">
            <a:avLst/>
          </a:prstGeom>
          <a:noFill/>
        </p:spPr>
        <p:txBody>
          <a:bodyPr wrap="square" rtlCol="0" anchor="ctr"/>
          <a:lstStyle/>
          <a:p>
            <a:pPr marL="0" indent="0" algn="r">
              <a:buNone/>
            </a:pPr>
            <a:r>
              <a:rPr lang="en-US" sz="1300" b="1" dirty="0">
                <a:solidFill>
                  <a:srgbClr val="1C7293"/>
                </a:solidFill>
                <a:latin typeface="Calibri" panose="020F0502020204030204" pitchFamily="34" charset="0"/>
                <a:ea typeface="Calibri" panose="020F0502020204030204" pitchFamily="34" charset="-122"/>
                <a:cs typeface="Calibri" panose="020F0502020204030204" pitchFamily="34" charset="-120"/>
              </a:rPr>
              <a:t>OCP — Open/Closed Principle</a:t>
            </a:r>
            <a:endParaRPr lang="en-US" sz="1300" dirty="0"/>
          </a:p>
        </p:txBody>
      </p:sp>
      <p:sp>
        <p:nvSpPr>
          <p:cNvPr id="18" name="Text 13"/>
          <p:cNvSpPr/>
          <p:nvPr/>
        </p:nvSpPr>
        <p:spPr>
          <a:xfrm>
            <a:off x="6446520" y="1965960"/>
            <a:ext cx="3977640" cy="548640"/>
          </a:xfrm>
          <a:prstGeom prst="rect">
            <a:avLst/>
          </a:prstGeom>
          <a:noFill/>
        </p:spPr>
        <p:txBody>
          <a:bodyPr wrap="square" rtlCol="0" anchor="ctr"/>
          <a:lstStyle/>
          <a:p>
            <a:pPr marL="0" indent="0" algn="r" rtl="1">
              <a:buNone/>
            </a:pPr>
            <a:r>
              <a:rPr lang="en-US" sz="1800" b="1" dirty="0">
                <a:solidFill>
                  <a:srgbClr val="13314D"/>
                </a:solidFill>
                <a:latin typeface="Arial" panose="020B0604020202020204" pitchFamily="34" charset="0"/>
                <a:ea typeface="Arial" panose="020B0604020202020204" pitchFamily="34" charset="-122"/>
                <a:cs typeface="Arial" panose="020B0604020202020204" pitchFamily="34" charset="-120"/>
              </a:rPr>
              <a:t>اصل باز/بسته</a:t>
            </a:r>
            <a:endParaRPr lang="en-US" sz="1800" dirty="0"/>
          </a:p>
        </p:txBody>
      </p:sp>
      <p:sp>
        <p:nvSpPr>
          <p:cNvPr id="19" name="Text 14"/>
          <p:cNvSpPr/>
          <p:nvPr/>
        </p:nvSpPr>
        <p:spPr>
          <a:xfrm>
            <a:off x="6446520" y="2651760"/>
            <a:ext cx="4800600" cy="1371600"/>
          </a:xfrm>
          <a:prstGeom prst="rect">
            <a:avLst/>
          </a:prstGeom>
          <a:noFill/>
        </p:spPr>
        <p:txBody>
          <a:bodyPr wrap="square" rtlCol="0" anchor="t"/>
          <a:lstStyle/>
          <a:p>
            <a:pPr marL="0" indent="0" algn="r" rtl="1">
              <a:lnSpc>
                <a:spcPct val="130000"/>
              </a:lnSpc>
              <a:buNone/>
            </a:pPr>
            <a:r>
              <a:rPr lang="en-US" sz="1250" dirty="0">
                <a:solidFill>
                  <a:srgbClr val="5B7285"/>
                </a:solidFill>
                <a:latin typeface="Arial" panose="020B0604020202020204" pitchFamily="34" charset="0"/>
                <a:ea typeface="Arial" panose="020B0604020202020204" pitchFamily="34" charset="-122"/>
                <a:cs typeface="Arial" panose="020B0604020202020204" pitchFamily="34" charset="-120"/>
              </a:rPr>
              <a:t>سیستم آزمون‌ها و تکالیف به‌صورت ماژولار طراحی شده‌اند تا امکان افزودن نوع سؤال جدید (تستی، تشریحی، آپلود فایل) بدون تغییر ساختار اصلی فراهم شود.</a:t>
            </a:r>
            <a:endParaRPr lang="en-US" sz="1250" dirty="0"/>
          </a:p>
        </p:txBody>
      </p:sp>
      <p:sp>
        <p:nvSpPr>
          <p:cNvPr id="20" name="Shape 15"/>
          <p:cNvSpPr/>
          <p:nvPr/>
        </p:nvSpPr>
        <p:spPr>
          <a:xfrm>
            <a:off x="6446520" y="4160520"/>
            <a:ext cx="4800600" cy="0"/>
          </a:xfrm>
          <a:prstGeom prst="line">
            <a:avLst/>
          </a:prstGeom>
          <a:noFill/>
          <a:ln w="12700">
            <a:solidFill>
              <a:srgbClr val="E3EAF0"/>
            </a:solidFill>
            <a:prstDash val="solid"/>
          </a:ln>
        </p:spPr>
      </p:sp>
      <p:sp>
        <p:nvSpPr>
          <p:cNvPr id="21" name="Shape 16"/>
          <p:cNvSpPr/>
          <p:nvPr/>
        </p:nvSpPr>
        <p:spPr>
          <a:xfrm>
            <a:off x="10767060" y="4366260"/>
            <a:ext cx="502920" cy="502920"/>
          </a:xfrm>
          <a:prstGeom prst="ellipse">
            <a:avLst/>
          </a:prstGeom>
          <a:solidFill>
            <a:srgbClr val="1E9E6C"/>
          </a:solidFill>
          <a:effectLst>
            <a:outerShdw blurRad="76200" dist="25400" dir="5400000" algn="bl" rotWithShape="0">
              <a:srgbClr val="1B2A4A">
                <a:alpha val="25000"/>
              </a:srgbClr>
            </a:outerShdw>
          </a:effectLst>
        </p:spPr>
      </p:sp>
      <p:pic>
        <p:nvPicPr>
          <p:cNvPr id="22" name="Image 3" descr="/home/claude/build/icons/check.png"/>
          <p:cNvPicPr>
            <a:picLocks noChangeAspect="1"/>
          </p:cNvPicPr>
          <p:nvPr/>
        </p:nvPicPr>
        <p:blipFill>
          <a:blip r:embed="rId4"/>
          <a:stretch>
            <a:fillRect/>
          </a:stretch>
        </p:blipFill>
        <p:spPr>
          <a:xfrm>
            <a:off x="10897819" y="4497019"/>
            <a:ext cx="241402" cy="241402"/>
          </a:xfrm>
          <a:prstGeom prst="rect">
            <a:avLst/>
          </a:prstGeom>
        </p:spPr>
      </p:pic>
      <p:sp>
        <p:nvSpPr>
          <p:cNvPr id="23" name="Text 17"/>
          <p:cNvSpPr/>
          <p:nvPr/>
        </p:nvSpPr>
        <p:spPr>
          <a:xfrm>
            <a:off x="6446520" y="4389120"/>
            <a:ext cx="4251960" cy="1691640"/>
          </a:xfrm>
          <a:prstGeom prst="rect">
            <a:avLst/>
          </a:prstGeom>
          <a:noFill/>
        </p:spPr>
        <p:txBody>
          <a:bodyPr wrap="square" rtlCol="0" anchor="t"/>
          <a:lstStyle/>
          <a:p>
            <a:pPr marL="0" indent="0" algn="r" rtl="1">
              <a:lnSpc>
                <a:spcPct val="130000"/>
              </a:lnSpc>
              <a:buNone/>
            </a:pPr>
            <a:r>
              <a:rPr lang="en-US" sz="1250" dirty="0">
                <a:solidFill>
                  <a:srgbClr val="13314D"/>
                </a:solidFill>
                <a:latin typeface="Arial" panose="020B0604020202020204" pitchFamily="34" charset="0"/>
                <a:ea typeface="Arial" panose="020B0604020202020204" pitchFamily="34" charset="-122"/>
                <a:cs typeface="Arial" panose="020B0604020202020204" pitchFamily="34" charset="-120"/>
              </a:rPr>
              <a:t>با توسعه کلاس QuestionType می‌توان انواع جدید سؤال را بدون تغییر در منطق اصلی آزمون اضافه کرد. ساختار سیستم تا حد زیادی با OCP سازگار است.</a:t>
            </a:r>
            <a:endParaRPr lang="en-US" sz="1250" dirty="0"/>
          </a:p>
        </p:txBody>
      </p:sp>
      <p:sp>
        <p:nvSpPr>
          <p:cNvPr id="24" name="Text 18"/>
          <p:cNvSpPr/>
          <p:nvPr/>
        </p:nvSpPr>
        <p:spPr>
          <a:xfrm>
            <a:off x="11548872" y="6446520"/>
            <a:ext cx="365760" cy="274320"/>
          </a:xfrm>
          <a:prstGeom prst="rect">
            <a:avLst/>
          </a:prstGeom>
          <a:noFill/>
        </p:spPr>
        <p:txBody>
          <a:bodyPr wrap="square" rtlCol="0" anchor="ctr"/>
          <a:lstStyle/>
          <a:p>
            <a:pPr marL="0" indent="0" algn="l">
              <a:buNone/>
            </a:pPr>
            <a:r>
              <a:rPr lang="en-US" sz="1100" dirty="0">
                <a:solidFill>
                  <a:srgbClr val="5B7285"/>
                </a:solidFill>
                <a:latin typeface="Arial" panose="020B0604020202020204" pitchFamily="34" charset="0"/>
                <a:ea typeface="Arial" panose="020B0604020202020204" pitchFamily="34" charset="-122"/>
                <a:cs typeface="Arial" panose="020B0604020202020204"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908792" cy="548640"/>
          </a:xfrm>
          <a:prstGeom prst="rect">
            <a:avLst/>
          </a:prstGeom>
          <a:noFill/>
        </p:spPr>
        <p:txBody>
          <a:bodyPr wrap="square" rtlCol="0" anchor="ctr"/>
          <a:lstStyle/>
          <a:p>
            <a:pPr marL="0" indent="0" algn="r" rtl="1">
              <a:buNone/>
            </a:pPr>
            <a:r>
              <a:rPr lang="en-US" sz="2600" b="1" dirty="0">
                <a:solidFill>
                  <a:srgbClr val="13314D"/>
                </a:solidFill>
                <a:latin typeface="Arial" panose="020B0604020202020204" pitchFamily="34" charset="0"/>
                <a:ea typeface="Arial" panose="020B0604020202020204" pitchFamily="34" charset="-122"/>
                <a:cs typeface="Arial" panose="020B0604020202020204" pitchFamily="34" charset="-120"/>
              </a:rPr>
              <a:t>ارزیابی طراحی بر اساس اصول SOLID</a:t>
            </a:r>
            <a:endParaRPr lang="en-US" sz="2600" dirty="0"/>
          </a:p>
        </p:txBody>
      </p:sp>
      <p:sp>
        <p:nvSpPr>
          <p:cNvPr id="3" name="Text 1"/>
          <p:cNvSpPr/>
          <p:nvPr/>
        </p:nvSpPr>
        <p:spPr>
          <a:xfrm>
            <a:off x="640080" y="960120"/>
            <a:ext cx="1828800" cy="320040"/>
          </a:xfrm>
          <a:prstGeom prst="rect">
            <a:avLst/>
          </a:prstGeom>
          <a:noFill/>
        </p:spPr>
        <p:txBody>
          <a:bodyPr wrap="square" rtlCol="0" anchor="ctr"/>
          <a:lstStyle/>
          <a:p>
            <a:pPr marL="0" indent="0" algn="r" rtl="1">
              <a:buNone/>
            </a:pPr>
            <a:r>
              <a:rPr lang="en-US" sz="1200" dirty="0">
                <a:solidFill>
                  <a:srgbClr val="5B7285"/>
                </a:solidFill>
                <a:latin typeface="Arial" panose="020B0604020202020204" pitchFamily="34" charset="0"/>
                <a:ea typeface="Arial" panose="020B0604020202020204" pitchFamily="34" charset="-122"/>
                <a:cs typeface="Arial" panose="020B0604020202020204" pitchFamily="34" charset="-120"/>
              </a:rPr>
              <a:t>۲ از ۳</a:t>
            </a:r>
            <a:endParaRPr lang="en-US" sz="1200" dirty="0"/>
          </a:p>
        </p:txBody>
      </p:sp>
      <p:sp>
        <p:nvSpPr>
          <p:cNvPr id="4" name="Shape 2"/>
          <p:cNvSpPr/>
          <p:nvPr/>
        </p:nvSpPr>
        <p:spPr>
          <a:xfrm>
            <a:off x="640080" y="1417320"/>
            <a:ext cx="5349240" cy="4846320"/>
          </a:xfrm>
          <a:prstGeom prst="roundRect">
            <a:avLst>
              <a:gd name="adj" fmla="val 2264"/>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5" name="Shape 3"/>
          <p:cNvSpPr/>
          <p:nvPr/>
        </p:nvSpPr>
        <p:spPr>
          <a:xfrm>
            <a:off x="4983480" y="1600200"/>
            <a:ext cx="822960" cy="822960"/>
          </a:xfrm>
          <a:prstGeom prst="ellipse">
            <a:avLst/>
          </a:prstGeom>
          <a:solidFill>
            <a:srgbClr val="065A82"/>
          </a:solidFill>
          <a:effectLst>
            <a:outerShdw blurRad="76200" dist="25400" dir="5400000" algn="bl" rotWithShape="0">
              <a:srgbClr val="1B2A4A">
                <a:alpha val="25000"/>
              </a:srgbClr>
            </a:outerShdw>
          </a:effectLst>
        </p:spPr>
      </p:sp>
      <p:pic>
        <p:nvPicPr>
          <p:cNvPr id="6" name="Image 0" descr="/home/claude/build/icons/exchange.png"/>
          <p:cNvPicPr>
            <a:picLocks noChangeAspect="1"/>
          </p:cNvPicPr>
          <p:nvPr/>
        </p:nvPicPr>
        <p:blipFill>
          <a:blip r:embed="rId1"/>
          <a:stretch>
            <a:fillRect/>
          </a:stretch>
        </p:blipFill>
        <p:spPr>
          <a:xfrm>
            <a:off x="5197450" y="1814170"/>
            <a:ext cx="395021" cy="395021"/>
          </a:xfrm>
          <a:prstGeom prst="rect">
            <a:avLst/>
          </a:prstGeom>
        </p:spPr>
      </p:pic>
      <p:sp>
        <p:nvSpPr>
          <p:cNvPr id="7" name="Text 4"/>
          <p:cNvSpPr/>
          <p:nvPr/>
        </p:nvSpPr>
        <p:spPr>
          <a:xfrm>
            <a:off x="914400" y="1645920"/>
            <a:ext cx="3977640" cy="365760"/>
          </a:xfrm>
          <a:prstGeom prst="rect">
            <a:avLst/>
          </a:prstGeom>
          <a:noFill/>
        </p:spPr>
        <p:txBody>
          <a:bodyPr wrap="square" rtlCol="0" anchor="ctr"/>
          <a:lstStyle/>
          <a:p>
            <a:pPr marL="0" indent="0" algn="r">
              <a:buNone/>
            </a:pPr>
            <a:r>
              <a:rPr lang="en-US" sz="1300" b="1" dirty="0">
                <a:solidFill>
                  <a:srgbClr val="1C7293"/>
                </a:solidFill>
                <a:latin typeface="Calibri" panose="020F0502020204030204" pitchFamily="34" charset="0"/>
                <a:ea typeface="Calibri" panose="020F0502020204030204" pitchFamily="34" charset="-122"/>
                <a:cs typeface="Calibri" panose="020F0502020204030204" pitchFamily="34" charset="-120"/>
              </a:rPr>
              <a:t>LSP — Liskov Substitution Principle</a:t>
            </a:r>
            <a:endParaRPr lang="en-US" sz="1300" dirty="0"/>
          </a:p>
        </p:txBody>
      </p:sp>
      <p:sp>
        <p:nvSpPr>
          <p:cNvPr id="8" name="Text 5"/>
          <p:cNvSpPr/>
          <p:nvPr/>
        </p:nvSpPr>
        <p:spPr>
          <a:xfrm>
            <a:off x="914400" y="1965960"/>
            <a:ext cx="3977640" cy="548640"/>
          </a:xfrm>
          <a:prstGeom prst="rect">
            <a:avLst/>
          </a:prstGeom>
          <a:noFill/>
        </p:spPr>
        <p:txBody>
          <a:bodyPr wrap="square" rtlCol="0" anchor="ctr"/>
          <a:lstStyle/>
          <a:p>
            <a:pPr marL="0" indent="0" algn="r" rtl="1">
              <a:buNone/>
            </a:pPr>
            <a:r>
              <a:rPr lang="en-US" sz="1800" b="1" dirty="0">
                <a:solidFill>
                  <a:srgbClr val="13314D"/>
                </a:solidFill>
                <a:latin typeface="Arial" panose="020B0604020202020204" pitchFamily="34" charset="0"/>
                <a:ea typeface="Arial" panose="020B0604020202020204" pitchFamily="34" charset="-122"/>
                <a:cs typeface="Arial" panose="020B0604020202020204" pitchFamily="34" charset="-120"/>
              </a:rPr>
              <a:t>اصل جایگزینی لیسکوف</a:t>
            </a:r>
            <a:endParaRPr lang="en-US" sz="1800" dirty="0"/>
          </a:p>
        </p:txBody>
      </p:sp>
      <p:sp>
        <p:nvSpPr>
          <p:cNvPr id="9" name="Text 6"/>
          <p:cNvSpPr/>
          <p:nvPr/>
        </p:nvSpPr>
        <p:spPr>
          <a:xfrm>
            <a:off x="914400" y="2651760"/>
            <a:ext cx="4800600" cy="1371600"/>
          </a:xfrm>
          <a:prstGeom prst="rect">
            <a:avLst/>
          </a:prstGeom>
          <a:noFill/>
        </p:spPr>
        <p:txBody>
          <a:bodyPr wrap="square" rtlCol="0" anchor="t"/>
          <a:lstStyle/>
          <a:p>
            <a:pPr marL="0" indent="0" algn="r" rtl="1">
              <a:lnSpc>
                <a:spcPct val="130000"/>
              </a:lnSpc>
              <a:buNone/>
            </a:pPr>
            <a:r>
              <a:rPr lang="en-US" sz="1250" dirty="0">
                <a:solidFill>
                  <a:srgbClr val="5B7285"/>
                </a:solidFill>
                <a:latin typeface="Arial" panose="020B0604020202020204" pitchFamily="34" charset="0"/>
                <a:ea typeface="Arial" panose="020B0604020202020204" pitchFamily="34" charset="-122"/>
                <a:cs typeface="Arial" panose="020B0604020202020204" pitchFamily="34" charset="-120"/>
              </a:rPr>
              <a:t>ساختار کاربران به‌صورت ارث‌بری طراحی شده: کلاس پایه User و زیرکلاس‌های Student، Teacher و Admin.</a:t>
            </a:r>
            <a:endParaRPr lang="en-US" sz="1250" dirty="0"/>
          </a:p>
        </p:txBody>
      </p:sp>
      <p:sp>
        <p:nvSpPr>
          <p:cNvPr id="10" name="Shape 7"/>
          <p:cNvSpPr/>
          <p:nvPr/>
        </p:nvSpPr>
        <p:spPr>
          <a:xfrm>
            <a:off x="914400" y="4160520"/>
            <a:ext cx="4800600" cy="0"/>
          </a:xfrm>
          <a:prstGeom prst="line">
            <a:avLst/>
          </a:prstGeom>
          <a:noFill/>
          <a:ln w="12700">
            <a:solidFill>
              <a:srgbClr val="E3EAF0"/>
            </a:solidFill>
            <a:prstDash val="solid"/>
          </a:ln>
        </p:spPr>
      </p:sp>
      <p:sp>
        <p:nvSpPr>
          <p:cNvPr id="11" name="Shape 8"/>
          <p:cNvSpPr/>
          <p:nvPr/>
        </p:nvSpPr>
        <p:spPr>
          <a:xfrm>
            <a:off x="5234940" y="4366260"/>
            <a:ext cx="502920" cy="502920"/>
          </a:xfrm>
          <a:prstGeom prst="ellipse">
            <a:avLst/>
          </a:prstGeom>
          <a:solidFill>
            <a:srgbClr val="1E9E6C"/>
          </a:solidFill>
          <a:effectLst>
            <a:outerShdw blurRad="76200" dist="25400" dir="5400000" algn="bl" rotWithShape="0">
              <a:srgbClr val="1B2A4A">
                <a:alpha val="25000"/>
              </a:srgbClr>
            </a:outerShdw>
          </a:effectLst>
        </p:spPr>
      </p:sp>
      <p:pic>
        <p:nvPicPr>
          <p:cNvPr id="12" name="Image 1" descr="/home/claude/build/icons/check.png"/>
          <p:cNvPicPr>
            <a:picLocks noChangeAspect="1"/>
          </p:cNvPicPr>
          <p:nvPr/>
        </p:nvPicPr>
        <p:blipFill>
          <a:blip r:embed="rId2"/>
          <a:stretch>
            <a:fillRect/>
          </a:stretch>
        </p:blipFill>
        <p:spPr>
          <a:xfrm>
            <a:off x="5365699" y="4497019"/>
            <a:ext cx="241402" cy="241402"/>
          </a:xfrm>
          <a:prstGeom prst="rect">
            <a:avLst/>
          </a:prstGeom>
        </p:spPr>
      </p:pic>
      <p:sp>
        <p:nvSpPr>
          <p:cNvPr id="13" name="Text 9"/>
          <p:cNvSpPr/>
          <p:nvPr/>
        </p:nvSpPr>
        <p:spPr>
          <a:xfrm>
            <a:off x="914400" y="4389120"/>
            <a:ext cx="4251960" cy="1691640"/>
          </a:xfrm>
          <a:prstGeom prst="rect">
            <a:avLst/>
          </a:prstGeom>
          <a:noFill/>
        </p:spPr>
        <p:txBody>
          <a:bodyPr wrap="square" rtlCol="0" anchor="t"/>
          <a:lstStyle/>
          <a:p>
            <a:pPr marL="0" indent="0" algn="r" rtl="1">
              <a:lnSpc>
                <a:spcPct val="130000"/>
              </a:lnSpc>
              <a:buNone/>
            </a:pPr>
            <a:r>
              <a:rPr lang="en-US" sz="1250" dirty="0">
                <a:solidFill>
                  <a:srgbClr val="13314D"/>
                </a:solidFill>
                <a:latin typeface="Arial" panose="020B0604020202020204" pitchFamily="34" charset="0"/>
                <a:ea typeface="Arial" panose="020B0604020202020204" pitchFamily="34" charset="-122"/>
                <a:cs typeface="Arial" panose="020B0604020202020204" pitchFamily="34" charset="-120"/>
              </a:rPr>
              <a:t>تمام زیرکلاس‌ها می‌توانند بدون اختلال در سیستم جایگزین کلاس پایه شوند. نکته: در عملیاتی مانند دسترسی به نمرات، بررسی نقش در زمان اجرا لازم است که در طراحی ضعیف می‌تواند LSP را نقض کند.</a:t>
            </a:r>
            <a:endParaRPr lang="en-US" sz="1250" dirty="0"/>
          </a:p>
        </p:txBody>
      </p:sp>
      <p:sp>
        <p:nvSpPr>
          <p:cNvPr id="14" name="Shape 10"/>
          <p:cNvSpPr/>
          <p:nvPr/>
        </p:nvSpPr>
        <p:spPr>
          <a:xfrm>
            <a:off x="6172200" y="1417320"/>
            <a:ext cx="5349240" cy="4846320"/>
          </a:xfrm>
          <a:prstGeom prst="roundRect">
            <a:avLst>
              <a:gd name="adj" fmla="val 2264"/>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15" name="Shape 11"/>
          <p:cNvSpPr/>
          <p:nvPr/>
        </p:nvSpPr>
        <p:spPr>
          <a:xfrm>
            <a:off x="10515600" y="1600200"/>
            <a:ext cx="822960" cy="822960"/>
          </a:xfrm>
          <a:prstGeom prst="ellipse">
            <a:avLst/>
          </a:prstGeom>
          <a:solidFill>
            <a:srgbClr val="065A82"/>
          </a:solidFill>
          <a:effectLst>
            <a:outerShdw blurRad="76200" dist="25400" dir="5400000" algn="bl" rotWithShape="0">
              <a:srgbClr val="1B2A4A">
                <a:alpha val="25000"/>
              </a:srgbClr>
            </a:outerShdw>
          </a:effectLst>
        </p:spPr>
      </p:sp>
      <p:pic>
        <p:nvPicPr>
          <p:cNvPr id="16" name="Image 2" descr="/home/claude/build/icons/puzzle.png"/>
          <p:cNvPicPr>
            <a:picLocks noChangeAspect="1"/>
          </p:cNvPicPr>
          <p:nvPr/>
        </p:nvPicPr>
        <p:blipFill>
          <a:blip r:embed="rId3"/>
          <a:stretch>
            <a:fillRect/>
          </a:stretch>
        </p:blipFill>
        <p:spPr>
          <a:xfrm>
            <a:off x="10729570" y="1814170"/>
            <a:ext cx="395021" cy="395021"/>
          </a:xfrm>
          <a:prstGeom prst="rect">
            <a:avLst/>
          </a:prstGeom>
        </p:spPr>
      </p:pic>
      <p:sp>
        <p:nvSpPr>
          <p:cNvPr id="17" name="Text 12"/>
          <p:cNvSpPr/>
          <p:nvPr/>
        </p:nvSpPr>
        <p:spPr>
          <a:xfrm>
            <a:off x="6446520" y="1645920"/>
            <a:ext cx="3977640" cy="365760"/>
          </a:xfrm>
          <a:prstGeom prst="rect">
            <a:avLst/>
          </a:prstGeom>
          <a:noFill/>
        </p:spPr>
        <p:txBody>
          <a:bodyPr wrap="square" rtlCol="0" anchor="ctr"/>
          <a:lstStyle/>
          <a:p>
            <a:pPr marL="0" indent="0" algn="r">
              <a:buNone/>
            </a:pPr>
            <a:r>
              <a:rPr lang="en-US" sz="1300" b="1" dirty="0">
                <a:solidFill>
                  <a:srgbClr val="1C7293"/>
                </a:solidFill>
                <a:latin typeface="Calibri" panose="020F0502020204030204" pitchFamily="34" charset="0"/>
                <a:ea typeface="Calibri" panose="020F0502020204030204" pitchFamily="34" charset="-122"/>
                <a:cs typeface="Calibri" panose="020F0502020204030204" pitchFamily="34" charset="-120"/>
              </a:rPr>
              <a:t>ISP — Interface Segregation Principle</a:t>
            </a:r>
            <a:endParaRPr lang="en-US" sz="1300" dirty="0"/>
          </a:p>
        </p:txBody>
      </p:sp>
      <p:sp>
        <p:nvSpPr>
          <p:cNvPr id="18" name="Text 13"/>
          <p:cNvSpPr/>
          <p:nvPr/>
        </p:nvSpPr>
        <p:spPr>
          <a:xfrm>
            <a:off x="6446520" y="1965960"/>
            <a:ext cx="3977640" cy="548640"/>
          </a:xfrm>
          <a:prstGeom prst="rect">
            <a:avLst/>
          </a:prstGeom>
          <a:noFill/>
        </p:spPr>
        <p:txBody>
          <a:bodyPr wrap="square" rtlCol="0" anchor="ctr"/>
          <a:lstStyle/>
          <a:p>
            <a:pPr marL="0" indent="0" algn="r" rtl="1">
              <a:buNone/>
            </a:pPr>
            <a:r>
              <a:rPr lang="en-US" sz="1800" b="1" dirty="0">
                <a:solidFill>
                  <a:srgbClr val="13314D"/>
                </a:solidFill>
                <a:latin typeface="Arial" panose="020B0604020202020204" pitchFamily="34" charset="0"/>
                <a:ea typeface="Arial" panose="020B0604020202020204" pitchFamily="34" charset="-122"/>
                <a:cs typeface="Arial" panose="020B0604020202020204" pitchFamily="34" charset="-120"/>
              </a:rPr>
              <a:t>اصل تفکیک رابط‌ها</a:t>
            </a:r>
            <a:endParaRPr lang="en-US" sz="1800" dirty="0"/>
          </a:p>
        </p:txBody>
      </p:sp>
      <p:sp>
        <p:nvSpPr>
          <p:cNvPr id="19" name="Text 14"/>
          <p:cNvSpPr/>
          <p:nvPr/>
        </p:nvSpPr>
        <p:spPr>
          <a:xfrm>
            <a:off x="6446520" y="2651760"/>
            <a:ext cx="4800600" cy="1371600"/>
          </a:xfrm>
          <a:prstGeom prst="rect">
            <a:avLst/>
          </a:prstGeom>
          <a:noFill/>
        </p:spPr>
        <p:txBody>
          <a:bodyPr wrap="square" rtlCol="0" anchor="t"/>
          <a:lstStyle/>
          <a:p>
            <a:pPr marL="0" indent="0" algn="r" rtl="1">
              <a:lnSpc>
                <a:spcPct val="130000"/>
              </a:lnSpc>
              <a:buNone/>
            </a:pPr>
            <a:r>
              <a:rPr lang="en-US" sz="1250" dirty="0">
                <a:solidFill>
                  <a:srgbClr val="5B7285"/>
                </a:solidFill>
                <a:latin typeface="Arial" panose="020B0604020202020204" pitchFamily="34" charset="0"/>
                <a:ea typeface="Arial" panose="020B0604020202020204" pitchFamily="34" charset="-122"/>
                <a:cs typeface="Arial" panose="020B0604020202020204" pitchFamily="34" charset="-120"/>
              </a:rPr>
              <a:t>هیچ کاربری نباید مجبور به پیاده‌سازی متدهایی شود که به آن نیازی ندارد. رابط‌ها به‌صورت جداگانه تعریف شده‌اند: IAuthService، IClassService، IExamService، IChatService.</a:t>
            </a:r>
            <a:endParaRPr lang="en-US" sz="1250" dirty="0"/>
          </a:p>
        </p:txBody>
      </p:sp>
      <p:sp>
        <p:nvSpPr>
          <p:cNvPr id="20" name="Shape 15"/>
          <p:cNvSpPr/>
          <p:nvPr/>
        </p:nvSpPr>
        <p:spPr>
          <a:xfrm>
            <a:off x="6446520" y="4160520"/>
            <a:ext cx="4800600" cy="0"/>
          </a:xfrm>
          <a:prstGeom prst="line">
            <a:avLst/>
          </a:prstGeom>
          <a:noFill/>
          <a:ln w="12700">
            <a:solidFill>
              <a:srgbClr val="E3EAF0"/>
            </a:solidFill>
            <a:prstDash val="solid"/>
          </a:ln>
        </p:spPr>
      </p:sp>
      <p:sp>
        <p:nvSpPr>
          <p:cNvPr id="21" name="Shape 16"/>
          <p:cNvSpPr/>
          <p:nvPr/>
        </p:nvSpPr>
        <p:spPr>
          <a:xfrm>
            <a:off x="10767060" y="4366260"/>
            <a:ext cx="502920" cy="502920"/>
          </a:xfrm>
          <a:prstGeom prst="ellipse">
            <a:avLst/>
          </a:prstGeom>
          <a:solidFill>
            <a:srgbClr val="1E9E6C"/>
          </a:solidFill>
          <a:effectLst>
            <a:outerShdw blurRad="76200" dist="25400" dir="5400000" algn="bl" rotWithShape="0">
              <a:srgbClr val="1B2A4A">
                <a:alpha val="25000"/>
              </a:srgbClr>
            </a:outerShdw>
          </a:effectLst>
        </p:spPr>
      </p:sp>
      <p:pic>
        <p:nvPicPr>
          <p:cNvPr id="22" name="Image 3" descr="/home/claude/build/icons/check.png"/>
          <p:cNvPicPr>
            <a:picLocks noChangeAspect="1"/>
          </p:cNvPicPr>
          <p:nvPr/>
        </p:nvPicPr>
        <p:blipFill>
          <a:blip r:embed="rId2"/>
          <a:stretch>
            <a:fillRect/>
          </a:stretch>
        </p:blipFill>
        <p:spPr>
          <a:xfrm>
            <a:off x="10897819" y="4497019"/>
            <a:ext cx="241402" cy="241402"/>
          </a:xfrm>
          <a:prstGeom prst="rect">
            <a:avLst/>
          </a:prstGeom>
        </p:spPr>
      </p:pic>
      <p:sp>
        <p:nvSpPr>
          <p:cNvPr id="23" name="Text 17"/>
          <p:cNvSpPr/>
          <p:nvPr/>
        </p:nvSpPr>
        <p:spPr>
          <a:xfrm>
            <a:off x="6446520" y="4389120"/>
            <a:ext cx="4251960" cy="1691640"/>
          </a:xfrm>
          <a:prstGeom prst="rect">
            <a:avLst/>
          </a:prstGeom>
          <a:noFill/>
        </p:spPr>
        <p:txBody>
          <a:bodyPr wrap="square" rtlCol="0" anchor="t"/>
          <a:lstStyle/>
          <a:p>
            <a:pPr marL="0" indent="0" algn="r" rtl="1">
              <a:lnSpc>
                <a:spcPct val="130000"/>
              </a:lnSpc>
              <a:buNone/>
            </a:pPr>
            <a:r>
              <a:rPr lang="en-US" sz="1250" dirty="0">
                <a:solidFill>
                  <a:srgbClr val="13314D"/>
                </a:solidFill>
                <a:latin typeface="Arial" panose="020B0604020202020204" pitchFamily="34" charset="0"/>
                <a:ea typeface="Arial" panose="020B0604020202020204" pitchFamily="34" charset="-122"/>
                <a:cs typeface="Arial" panose="020B0604020202020204" pitchFamily="34" charset="-120"/>
              </a:rPr>
              <a:t>این تفکیک باعث شده معلمان، دانش‌آموزان و مدیران فقط با سرویس‌های مرتبط با نقش خود در تعامل باشند و از وابستگی غیرضروری جلوگیری شود.</a:t>
            </a:r>
            <a:endParaRPr lang="en-US" sz="1250" dirty="0"/>
          </a:p>
        </p:txBody>
      </p:sp>
      <p:sp>
        <p:nvSpPr>
          <p:cNvPr id="24" name="Text 18"/>
          <p:cNvSpPr/>
          <p:nvPr/>
        </p:nvSpPr>
        <p:spPr>
          <a:xfrm>
            <a:off x="11548872" y="6446520"/>
            <a:ext cx="365760" cy="274320"/>
          </a:xfrm>
          <a:prstGeom prst="rect">
            <a:avLst/>
          </a:prstGeom>
          <a:noFill/>
        </p:spPr>
        <p:txBody>
          <a:bodyPr wrap="square" rtlCol="0" anchor="ctr"/>
          <a:lstStyle/>
          <a:p>
            <a:pPr marL="0" indent="0" algn="l">
              <a:buNone/>
            </a:pPr>
            <a:r>
              <a:rPr lang="en-US" sz="1100" dirty="0">
                <a:solidFill>
                  <a:srgbClr val="5B7285"/>
                </a:solidFill>
                <a:latin typeface="Arial" panose="020B0604020202020204" pitchFamily="34" charset="0"/>
                <a:ea typeface="Arial" panose="020B0604020202020204" pitchFamily="34" charset="-122"/>
                <a:cs typeface="Arial" panose="020B0604020202020204"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908792" cy="548640"/>
          </a:xfrm>
          <a:prstGeom prst="rect">
            <a:avLst/>
          </a:prstGeom>
          <a:noFill/>
        </p:spPr>
        <p:txBody>
          <a:bodyPr wrap="square" rtlCol="0" anchor="ctr"/>
          <a:lstStyle/>
          <a:p>
            <a:pPr marL="0" indent="0" algn="r" rtl="1">
              <a:buNone/>
            </a:pPr>
            <a:r>
              <a:rPr lang="en-US" sz="2600" b="1" dirty="0">
                <a:solidFill>
                  <a:srgbClr val="13314D"/>
                </a:solidFill>
                <a:latin typeface="Arial" panose="020B0604020202020204" pitchFamily="34" charset="0"/>
                <a:ea typeface="Arial" panose="020B0604020202020204" pitchFamily="34" charset="-122"/>
                <a:cs typeface="Arial" panose="020B0604020202020204" pitchFamily="34" charset="-120"/>
              </a:rPr>
              <a:t>ارزیابی طراحی بر اساس اصول SOLID</a:t>
            </a:r>
            <a:endParaRPr lang="en-US" sz="2600" dirty="0"/>
          </a:p>
        </p:txBody>
      </p:sp>
      <p:sp>
        <p:nvSpPr>
          <p:cNvPr id="3" name="Text 1"/>
          <p:cNvSpPr/>
          <p:nvPr/>
        </p:nvSpPr>
        <p:spPr>
          <a:xfrm>
            <a:off x="640080" y="960120"/>
            <a:ext cx="1828800" cy="320040"/>
          </a:xfrm>
          <a:prstGeom prst="rect">
            <a:avLst/>
          </a:prstGeom>
          <a:noFill/>
        </p:spPr>
        <p:txBody>
          <a:bodyPr wrap="square" rtlCol="0" anchor="ctr"/>
          <a:lstStyle/>
          <a:p>
            <a:pPr marL="0" indent="0" algn="r" rtl="1">
              <a:buNone/>
            </a:pPr>
            <a:r>
              <a:rPr lang="en-US" sz="1200" dirty="0">
                <a:solidFill>
                  <a:srgbClr val="5B7285"/>
                </a:solidFill>
                <a:latin typeface="Arial" panose="020B0604020202020204" pitchFamily="34" charset="0"/>
                <a:ea typeface="Arial" panose="020B0604020202020204" pitchFamily="34" charset="-122"/>
                <a:cs typeface="Arial" panose="020B0604020202020204" pitchFamily="34" charset="-120"/>
              </a:rPr>
              <a:t>۳ از ۳</a:t>
            </a:r>
            <a:endParaRPr lang="en-US" sz="1200" dirty="0"/>
          </a:p>
        </p:txBody>
      </p:sp>
      <p:sp>
        <p:nvSpPr>
          <p:cNvPr id="4" name="Shape 2"/>
          <p:cNvSpPr/>
          <p:nvPr/>
        </p:nvSpPr>
        <p:spPr>
          <a:xfrm>
            <a:off x="640080" y="1417320"/>
            <a:ext cx="5349240" cy="4846320"/>
          </a:xfrm>
          <a:prstGeom prst="roundRect">
            <a:avLst>
              <a:gd name="adj" fmla="val 2264"/>
            </a:avLst>
          </a:prstGeom>
          <a:solidFill>
            <a:srgbClr val="FFFFFF"/>
          </a:solidFill>
          <a:ln w="12700">
            <a:solidFill>
              <a:srgbClr val="DCE6ED"/>
            </a:solidFill>
            <a:prstDash val="solid"/>
          </a:ln>
          <a:effectLst>
            <a:outerShdw blurRad="76200" dist="25400" dir="5400000" algn="bl" rotWithShape="0">
              <a:srgbClr val="1B2A4A">
                <a:alpha val="10000"/>
              </a:srgbClr>
            </a:outerShdw>
          </a:effectLst>
        </p:spPr>
      </p:sp>
      <p:sp>
        <p:nvSpPr>
          <p:cNvPr id="5" name="Shape 3"/>
          <p:cNvSpPr/>
          <p:nvPr/>
        </p:nvSpPr>
        <p:spPr>
          <a:xfrm>
            <a:off x="4983480" y="1600200"/>
            <a:ext cx="822960" cy="822960"/>
          </a:xfrm>
          <a:prstGeom prst="ellipse">
            <a:avLst/>
          </a:prstGeom>
          <a:solidFill>
            <a:srgbClr val="065A82"/>
          </a:solidFill>
          <a:effectLst>
            <a:outerShdw blurRad="76200" dist="25400" dir="5400000" algn="bl" rotWithShape="0">
              <a:srgbClr val="1B2A4A">
                <a:alpha val="25000"/>
              </a:srgbClr>
            </a:outerShdw>
          </a:effectLst>
        </p:spPr>
      </p:sp>
      <p:pic>
        <p:nvPicPr>
          <p:cNvPr id="6" name="Image 0" descr="/home/claude/build/icons/random.png"/>
          <p:cNvPicPr>
            <a:picLocks noChangeAspect="1"/>
          </p:cNvPicPr>
          <p:nvPr/>
        </p:nvPicPr>
        <p:blipFill>
          <a:blip r:embed="rId1"/>
          <a:stretch>
            <a:fillRect/>
          </a:stretch>
        </p:blipFill>
        <p:spPr>
          <a:xfrm>
            <a:off x="5197450" y="1814170"/>
            <a:ext cx="395021" cy="395021"/>
          </a:xfrm>
          <a:prstGeom prst="rect">
            <a:avLst/>
          </a:prstGeom>
        </p:spPr>
      </p:pic>
      <p:sp>
        <p:nvSpPr>
          <p:cNvPr id="7" name="Text 4"/>
          <p:cNvSpPr/>
          <p:nvPr/>
        </p:nvSpPr>
        <p:spPr>
          <a:xfrm>
            <a:off x="914400" y="1645920"/>
            <a:ext cx="3977640" cy="365760"/>
          </a:xfrm>
          <a:prstGeom prst="rect">
            <a:avLst/>
          </a:prstGeom>
          <a:noFill/>
        </p:spPr>
        <p:txBody>
          <a:bodyPr wrap="square" rtlCol="0" anchor="ctr"/>
          <a:lstStyle/>
          <a:p>
            <a:pPr marL="0" indent="0" algn="r">
              <a:buNone/>
            </a:pPr>
            <a:r>
              <a:rPr lang="en-US" sz="1300" b="1" dirty="0">
                <a:solidFill>
                  <a:srgbClr val="1C7293"/>
                </a:solidFill>
                <a:latin typeface="Calibri" panose="020F0502020204030204" pitchFamily="34" charset="0"/>
                <a:ea typeface="Calibri" panose="020F0502020204030204" pitchFamily="34" charset="-122"/>
                <a:cs typeface="Calibri" panose="020F0502020204030204" pitchFamily="34" charset="-120"/>
              </a:rPr>
              <a:t>DIP — Dependency Inversion Principle</a:t>
            </a:r>
            <a:endParaRPr lang="en-US" sz="1300" dirty="0"/>
          </a:p>
        </p:txBody>
      </p:sp>
      <p:sp>
        <p:nvSpPr>
          <p:cNvPr id="8" name="Text 5"/>
          <p:cNvSpPr/>
          <p:nvPr/>
        </p:nvSpPr>
        <p:spPr>
          <a:xfrm>
            <a:off x="914400" y="1965960"/>
            <a:ext cx="3977640" cy="548640"/>
          </a:xfrm>
          <a:prstGeom prst="rect">
            <a:avLst/>
          </a:prstGeom>
          <a:noFill/>
        </p:spPr>
        <p:txBody>
          <a:bodyPr wrap="square" rtlCol="0" anchor="ctr"/>
          <a:lstStyle/>
          <a:p>
            <a:pPr marL="0" indent="0" algn="r" rtl="1">
              <a:buNone/>
            </a:pPr>
            <a:r>
              <a:rPr lang="en-US" sz="1800" b="1" dirty="0">
                <a:solidFill>
                  <a:srgbClr val="13314D"/>
                </a:solidFill>
                <a:latin typeface="Arial" panose="020B0604020202020204" pitchFamily="34" charset="0"/>
                <a:ea typeface="Arial" panose="020B0604020202020204" pitchFamily="34" charset="-122"/>
                <a:cs typeface="Arial" panose="020B0604020202020204" pitchFamily="34" charset="-120"/>
              </a:rPr>
              <a:t>اصل معکوس‌سازی وابستگی</a:t>
            </a:r>
            <a:endParaRPr lang="en-US" sz="1800" dirty="0"/>
          </a:p>
        </p:txBody>
      </p:sp>
      <p:sp>
        <p:nvSpPr>
          <p:cNvPr id="9" name="Text 6"/>
          <p:cNvSpPr/>
          <p:nvPr/>
        </p:nvSpPr>
        <p:spPr>
          <a:xfrm>
            <a:off x="914400" y="2651760"/>
            <a:ext cx="4800600" cy="1554480"/>
          </a:xfrm>
          <a:prstGeom prst="rect">
            <a:avLst/>
          </a:prstGeom>
          <a:noFill/>
        </p:spPr>
        <p:txBody>
          <a:bodyPr wrap="square" rtlCol="0" anchor="t"/>
          <a:lstStyle/>
          <a:p>
            <a:pPr marL="0" indent="0" algn="r" rtl="1">
              <a:lnSpc>
                <a:spcPct val="130000"/>
              </a:lnSpc>
              <a:buNone/>
            </a:pPr>
            <a:r>
              <a:rPr lang="en-US" sz="1250" dirty="0">
                <a:solidFill>
                  <a:srgbClr val="5B7285"/>
                </a:solidFill>
                <a:latin typeface="Arial" panose="020B0604020202020204" pitchFamily="34" charset="0"/>
                <a:ea typeface="Arial" panose="020B0604020202020204" pitchFamily="34" charset="-122"/>
                <a:cs typeface="Arial" panose="020B0604020202020204" pitchFamily="34" charset="-120"/>
              </a:rPr>
              <a:t>ماژول‌های سطح بالا نباید به ماژول‌های سطح پایین وابسته باشند. فرانت‌اند از طریق REST API Interface و تزریق وابستگی (Dependency Injection) با بک‌اند ارتباط برقرار می‌کند: Dashboard → ClassService → API → Database.</a:t>
            </a:r>
            <a:endParaRPr lang="en-US" sz="1250" dirty="0"/>
          </a:p>
        </p:txBody>
      </p:sp>
      <p:sp>
        <p:nvSpPr>
          <p:cNvPr id="10" name="Shape 7"/>
          <p:cNvSpPr/>
          <p:nvPr/>
        </p:nvSpPr>
        <p:spPr>
          <a:xfrm>
            <a:off x="914400" y="4297680"/>
            <a:ext cx="4800600" cy="0"/>
          </a:xfrm>
          <a:prstGeom prst="line">
            <a:avLst/>
          </a:prstGeom>
          <a:noFill/>
          <a:ln w="12700">
            <a:solidFill>
              <a:srgbClr val="E3EAF0"/>
            </a:solidFill>
            <a:prstDash val="solid"/>
          </a:ln>
        </p:spPr>
      </p:sp>
      <p:sp>
        <p:nvSpPr>
          <p:cNvPr id="11" name="Shape 8"/>
          <p:cNvSpPr/>
          <p:nvPr/>
        </p:nvSpPr>
        <p:spPr>
          <a:xfrm>
            <a:off x="5234940" y="4503420"/>
            <a:ext cx="502920" cy="502920"/>
          </a:xfrm>
          <a:prstGeom prst="ellipse">
            <a:avLst/>
          </a:prstGeom>
          <a:solidFill>
            <a:srgbClr val="1E9E6C"/>
          </a:solidFill>
          <a:effectLst>
            <a:outerShdw blurRad="76200" dist="25400" dir="5400000" algn="bl" rotWithShape="0">
              <a:srgbClr val="1B2A4A">
                <a:alpha val="25000"/>
              </a:srgbClr>
            </a:outerShdw>
          </a:effectLst>
        </p:spPr>
      </p:sp>
      <p:pic>
        <p:nvPicPr>
          <p:cNvPr id="12" name="Image 1" descr="/home/claude/build/icons/check.png"/>
          <p:cNvPicPr>
            <a:picLocks noChangeAspect="1"/>
          </p:cNvPicPr>
          <p:nvPr/>
        </p:nvPicPr>
        <p:blipFill>
          <a:blip r:embed="rId2"/>
          <a:stretch>
            <a:fillRect/>
          </a:stretch>
        </p:blipFill>
        <p:spPr>
          <a:xfrm>
            <a:off x="5365699" y="4634179"/>
            <a:ext cx="241402" cy="241402"/>
          </a:xfrm>
          <a:prstGeom prst="rect">
            <a:avLst/>
          </a:prstGeom>
        </p:spPr>
      </p:pic>
      <p:sp>
        <p:nvSpPr>
          <p:cNvPr id="13" name="Text 9"/>
          <p:cNvSpPr/>
          <p:nvPr/>
        </p:nvSpPr>
        <p:spPr>
          <a:xfrm>
            <a:off x="914400" y="4526280"/>
            <a:ext cx="4251960" cy="1554480"/>
          </a:xfrm>
          <a:prstGeom prst="rect">
            <a:avLst/>
          </a:prstGeom>
          <a:noFill/>
        </p:spPr>
        <p:txBody>
          <a:bodyPr wrap="square" rtlCol="0" anchor="t"/>
          <a:lstStyle/>
          <a:p>
            <a:pPr marL="0" indent="0" algn="r" rtl="1">
              <a:lnSpc>
                <a:spcPct val="130000"/>
              </a:lnSpc>
              <a:buNone/>
            </a:pPr>
            <a:r>
              <a:rPr lang="en-US" sz="1250" dirty="0">
                <a:solidFill>
                  <a:srgbClr val="13314D"/>
                </a:solidFill>
                <a:latin typeface="Arial" panose="020B0604020202020204" pitchFamily="34" charset="0"/>
                <a:ea typeface="Arial" panose="020B0604020202020204" pitchFamily="34" charset="-122"/>
                <a:cs typeface="Arial" panose="020B0604020202020204" pitchFamily="34" charset="-120"/>
              </a:rPr>
              <a:t>این ساختار باعث شده تغییر در دیتابیس یا بک‌اند تأثیری بر فرانت‌اند نداشته باشد و لایه‌بندی سیستم مستحکم بماند.</a:t>
            </a:r>
            <a:endParaRPr lang="en-US" sz="1250" dirty="0"/>
          </a:p>
        </p:txBody>
      </p:sp>
      <p:sp>
        <p:nvSpPr>
          <p:cNvPr id="14" name="Shape 10"/>
          <p:cNvSpPr/>
          <p:nvPr/>
        </p:nvSpPr>
        <p:spPr>
          <a:xfrm>
            <a:off x="6172200" y="1417320"/>
            <a:ext cx="5349240" cy="4846320"/>
          </a:xfrm>
          <a:prstGeom prst="roundRect">
            <a:avLst>
              <a:gd name="adj" fmla="val 2264"/>
            </a:avLst>
          </a:prstGeom>
          <a:solidFill>
            <a:srgbClr val="1B2A4A"/>
          </a:solidFill>
        </p:spPr>
      </p:sp>
      <p:sp>
        <p:nvSpPr>
          <p:cNvPr id="15" name="Text 11"/>
          <p:cNvSpPr/>
          <p:nvPr/>
        </p:nvSpPr>
        <p:spPr>
          <a:xfrm>
            <a:off x="6492240" y="1691640"/>
            <a:ext cx="4709160" cy="457200"/>
          </a:xfrm>
          <a:prstGeom prst="rect">
            <a:avLst/>
          </a:prstGeom>
          <a:noFill/>
        </p:spPr>
        <p:txBody>
          <a:bodyPr wrap="square" rtlCol="0" anchor="ctr"/>
          <a:lstStyle/>
          <a:p>
            <a:pPr marL="0" indent="0" algn="r" rtl="1">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جمع‌بندی کلی ارزیابی SOLID</a:t>
            </a:r>
            <a:endParaRPr lang="en-US" sz="1800" dirty="0"/>
          </a:p>
        </p:txBody>
      </p:sp>
      <p:sp>
        <p:nvSpPr>
          <p:cNvPr id="16" name="Shape 12"/>
          <p:cNvSpPr/>
          <p:nvPr/>
        </p:nvSpPr>
        <p:spPr>
          <a:xfrm>
            <a:off x="10744200" y="2350008"/>
            <a:ext cx="457200" cy="457200"/>
          </a:xfrm>
          <a:prstGeom prst="ellipse">
            <a:avLst/>
          </a:prstGeom>
          <a:solidFill>
            <a:srgbClr val="02C39A"/>
          </a:solidFill>
          <a:effectLst>
            <a:outerShdw blurRad="76200" dist="25400" dir="5400000" algn="bl" rotWithShape="0">
              <a:srgbClr val="1B2A4A">
                <a:alpha val="25000"/>
              </a:srgbClr>
            </a:outerShdw>
          </a:effectLst>
        </p:spPr>
      </p:sp>
      <p:pic>
        <p:nvPicPr>
          <p:cNvPr id="17" name="Image 2" descr="/home/claude/build/icons/check.png"/>
          <p:cNvPicPr>
            <a:picLocks noChangeAspect="1"/>
          </p:cNvPicPr>
          <p:nvPr/>
        </p:nvPicPr>
        <p:blipFill>
          <a:blip r:embed="rId2"/>
          <a:stretch>
            <a:fillRect/>
          </a:stretch>
        </p:blipFill>
        <p:spPr>
          <a:xfrm>
            <a:off x="10863072" y="2468880"/>
            <a:ext cx="219456" cy="219456"/>
          </a:xfrm>
          <a:prstGeom prst="rect">
            <a:avLst/>
          </a:prstGeom>
        </p:spPr>
      </p:pic>
      <p:sp>
        <p:nvSpPr>
          <p:cNvPr id="18" name="Text 13"/>
          <p:cNvSpPr/>
          <p:nvPr/>
        </p:nvSpPr>
        <p:spPr>
          <a:xfrm>
            <a:off x="6492240" y="2331720"/>
            <a:ext cx="4160520" cy="502920"/>
          </a:xfrm>
          <a:prstGeom prst="rect">
            <a:avLst/>
          </a:prstGeom>
          <a:noFill/>
        </p:spPr>
        <p:txBody>
          <a:bodyPr wrap="square" rtlCol="0" anchor="ctr"/>
          <a:lstStyle/>
          <a:p>
            <a:pPr marL="0" indent="0" algn="r" rtl="1">
              <a:buNone/>
            </a:pPr>
            <a:r>
              <a:rPr lang="en-US" sz="1400" dirty="0">
                <a:solidFill>
                  <a:srgbClr val="FFFFFF"/>
                </a:solidFill>
                <a:latin typeface="Arial" panose="020B0604020202020204" pitchFamily="34" charset="0"/>
                <a:ea typeface="Arial" panose="020B0604020202020204" pitchFamily="34" charset="-122"/>
                <a:cs typeface="Arial" panose="020B0604020202020204" pitchFamily="34" charset="-120"/>
              </a:rPr>
              <a:t>افزایش مقیاس‌پذیری سیستم</a:t>
            </a:r>
            <a:endParaRPr lang="en-US" sz="1400" dirty="0"/>
          </a:p>
        </p:txBody>
      </p:sp>
      <p:sp>
        <p:nvSpPr>
          <p:cNvPr id="19" name="Shape 14"/>
          <p:cNvSpPr/>
          <p:nvPr/>
        </p:nvSpPr>
        <p:spPr>
          <a:xfrm>
            <a:off x="10744200" y="2971800"/>
            <a:ext cx="457200" cy="457200"/>
          </a:xfrm>
          <a:prstGeom prst="ellipse">
            <a:avLst/>
          </a:prstGeom>
          <a:solidFill>
            <a:srgbClr val="02C39A"/>
          </a:solidFill>
          <a:effectLst>
            <a:outerShdw blurRad="76200" dist="25400" dir="5400000" algn="bl" rotWithShape="0">
              <a:srgbClr val="1B2A4A">
                <a:alpha val="25000"/>
              </a:srgbClr>
            </a:outerShdw>
          </a:effectLst>
        </p:spPr>
      </p:sp>
      <p:pic>
        <p:nvPicPr>
          <p:cNvPr id="20" name="Image 3" descr="/home/claude/build/icons/check.png"/>
          <p:cNvPicPr>
            <a:picLocks noChangeAspect="1"/>
          </p:cNvPicPr>
          <p:nvPr/>
        </p:nvPicPr>
        <p:blipFill>
          <a:blip r:embed="rId2"/>
          <a:stretch>
            <a:fillRect/>
          </a:stretch>
        </p:blipFill>
        <p:spPr>
          <a:xfrm>
            <a:off x="10863072" y="3090672"/>
            <a:ext cx="219456" cy="219456"/>
          </a:xfrm>
          <a:prstGeom prst="rect">
            <a:avLst/>
          </a:prstGeom>
        </p:spPr>
      </p:pic>
      <p:sp>
        <p:nvSpPr>
          <p:cNvPr id="21" name="Text 15"/>
          <p:cNvSpPr/>
          <p:nvPr/>
        </p:nvSpPr>
        <p:spPr>
          <a:xfrm>
            <a:off x="6492240" y="2953512"/>
            <a:ext cx="4160520" cy="502920"/>
          </a:xfrm>
          <a:prstGeom prst="rect">
            <a:avLst/>
          </a:prstGeom>
          <a:noFill/>
        </p:spPr>
        <p:txBody>
          <a:bodyPr wrap="square" rtlCol="0" anchor="ctr"/>
          <a:lstStyle/>
          <a:p>
            <a:pPr marL="0" indent="0" algn="r" rtl="1">
              <a:buNone/>
            </a:pPr>
            <a:r>
              <a:rPr lang="en-US" sz="1400" dirty="0">
                <a:solidFill>
                  <a:srgbClr val="FFFFFF"/>
                </a:solidFill>
                <a:latin typeface="Arial" panose="020B0604020202020204" pitchFamily="34" charset="0"/>
                <a:ea typeface="Arial" panose="020B0604020202020204" pitchFamily="34" charset="-122"/>
                <a:cs typeface="Arial" panose="020B0604020202020204" pitchFamily="34" charset="-120"/>
              </a:rPr>
              <a:t>کاهش وابستگی میان ماژول‌ها</a:t>
            </a:r>
            <a:endParaRPr lang="en-US" sz="1400" dirty="0"/>
          </a:p>
        </p:txBody>
      </p:sp>
      <p:sp>
        <p:nvSpPr>
          <p:cNvPr id="22" name="Shape 16"/>
          <p:cNvSpPr/>
          <p:nvPr/>
        </p:nvSpPr>
        <p:spPr>
          <a:xfrm>
            <a:off x="10744200" y="3593592"/>
            <a:ext cx="457200" cy="457200"/>
          </a:xfrm>
          <a:prstGeom prst="ellipse">
            <a:avLst/>
          </a:prstGeom>
          <a:solidFill>
            <a:srgbClr val="02C39A"/>
          </a:solidFill>
          <a:effectLst>
            <a:outerShdw blurRad="76200" dist="25400" dir="5400000" algn="bl" rotWithShape="0">
              <a:srgbClr val="1B2A4A">
                <a:alpha val="25000"/>
              </a:srgbClr>
            </a:outerShdw>
          </a:effectLst>
        </p:spPr>
      </p:sp>
      <p:pic>
        <p:nvPicPr>
          <p:cNvPr id="23" name="Image 4" descr="/home/claude/build/icons/check.png"/>
          <p:cNvPicPr>
            <a:picLocks noChangeAspect="1"/>
          </p:cNvPicPr>
          <p:nvPr/>
        </p:nvPicPr>
        <p:blipFill>
          <a:blip r:embed="rId2"/>
          <a:stretch>
            <a:fillRect/>
          </a:stretch>
        </p:blipFill>
        <p:spPr>
          <a:xfrm>
            <a:off x="10863072" y="3712464"/>
            <a:ext cx="219456" cy="219456"/>
          </a:xfrm>
          <a:prstGeom prst="rect">
            <a:avLst/>
          </a:prstGeom>
        </p:spPr>
      </p:pic>
      <p:sp>
        <p:nvSpPr>
          <p:cNvPr id="24" name="Text 17"/>
          <p:cNvSpPr/>
          <p:nvPr/>
        </p:nvSpPr>
        <p:spPr>
          <a:xfrm>
            <a:off x="6492240" y="3575304"/>
            <a:ext cx="4160520" cy="502920"/>
          </a:xfrm>
          <a:prstGeom prst="rect">
            <a:avLst/>
          </a:prstGeom>
          <a:noFill/>
        </p:spPr>
        <p:txBody>
          <a:bodyPr wrap="square" rtlCol="0" anchor="ctr"/>
          <a:lstStyle/>
          <a:p>
            <a:pPr marL="0" indent="0" algn="r" rtl="1">
              <a:buNone/>
            </a:pPr>
            <a:r>
              <a:rPr lang="en-US" sz="1400" dirty="0">
                <a:solidFill>
                  <a:srgbClr val="FFFFFF"/>
                </a:solidFill>
                <a:latin typeface="Arial" panose="020B0604020202020204" pitchFamily="34" charset="0"/>
                <a:ea typeface="Arial" panose="020B0604020202020204" pitchFamily="34" charset="-122"/>
                <a:cs typeface="Arial" panose="020B0604020202020204" pitchFamily="34" charset="-120"/>
              </a:rPr>
              <a:t>افزایش قابلیت تست‌پذیری</a:t>
            </a:r>
            <a:endParaRPr lang="en-US" sz="1400" dirty="0"/>
          </a:p>
        </p:txBody>
      </p:sp>
      <p:sp>
        <p:nvSpPr>
          <p:cNvPr id="25" name="Shape 18"/>
          <p:cNvSpPr/>
          <p:nvPr/>
        </p:nvSpPr>
        <p:spPr>
          <a:xfrm>
            <a:off x="10744200" y="4215384"/>
            <a:ext cx="457200" cy="457200"/>
          </a:xfrm>
          <a:prstGeom prst="ellipse">
            <a:avLst/>
          </a:prstGeom>
          <a:solidFill>
            <a:srgbClr val="02C39A"/>
          </a:solidFill>
          <a:effectLst>
            <a:outerShdw blurRad="76200" dist="25400" dir="5400000" algn="bl" rotWithShape="0">
              <a:srgbClr val="1B2A4A">
                <a:alpha val="25000"/>
              </a:srgbClr>
            </a:outerShdw>
          </a:effectLst>
        </p:spPr>
      </p:sp>
      <p:pic>
        <p:nvPicPr>
          <p:cNvPr id="26" name="Image 5" descr="/home/claude/build/icons/check.png"/>
          <p:cNvPicPr>
            <a:picLocks noChangeAspect="1"/>
          </p:cNvPicPr>
          <p:nvPr/>
        </p:nvPicPr>
        <p:blipFill>
          <a:blip r:embed="rId2"/>
          <a:stretch>
            <a:fillRect/>
          </a:stretch>
        </p:blipFill>
        <p:spPr>
          <a:xfrm>
            <a:off x="10863072" y="4334256"/>
            <a:ext cx="219456" cy="219456"/>
          </a:xfrm>
          <a:prstGeom prst="rect">
            <a:avLst/>
          </a:prstGeom>
        </p:spPr>
      </p:pic>
      <p:sp>
        <p:nvSpPr>
          <p:cNvPr id="27" name="Text 19"/>
          <p:cNvSpPr/>
          <p:nvPr/>
        </p:nvSpPr>
        <p:spPr>
          <a:xfrm>
            <a:off x="6492240" y="4197096"/>
            <a:ext cx="4160520" cy="502920"/>
          </a:xfrm>
          <a:prstGeom prst="rect">
            <a:avLst/>
          </a:prstGeom>
          <a:noFill/>
        </p:spPr>
        <p:txBody>
          <a:bodyPr wrap="square" rtlCol="0" anchor="ctr"/>
          <a:lstStyle/>
          <a:p>
            <a:pPr marL="0" indent="0" algn="r" rtl="1">
              <a:buNone/>
            </a:pPr>
            <a:r>
              <a:rPr lang="en-US" sz="1400" dirty="0">
                <a:solidFill>
                  <a:srgbClr val="FFFFFF"/>
                </a:solidFill>
                <a:latin typeface="Arial" panose="020B0604020202020204" pitchFamily="34" charset="0"/>
                <a:ea typeface="Arial" panose="020B0604020202020204" pitchFamily="34" charset="-122"/>
                <a:cs typeface="Arial" panose="020B0604020202020204" pitchFamily="34" charset="-120"/>
              </a:rPr>
              <a:t>بهبود نگهداری و توسعه آینده</a:t>
            </a:r>
            <a:endParaRPr lang="en-US" sz="1400" dirty="0"/>
          </a:p>
        </p:txBody>
      </p:sp>
      <p:sp>
        <p:nvSpPr>
          <p:cNvPr id="28" name="Shape 20"/>
          <p:cNvSpPr/>
          <p:nvPr/>
        </p:nvSpPr>
        <p:spPr>
          <a:xfrm>
            <a:off x="6492240" y="4910328"/>
            <a:ext cx="4709160" cy="0"/>
          </a:xfrm>
          <a:prstGeom prst="line">
            <a:avLst/>
          </a:prstGeom>
          <a:noFill/>
          <a:ln w="12700">
            <a:solidFill>
              <a:srgbClr val="3C5878"/>
            </a:solidFill>
            <a:prstDash val="solid"/>
          </a:ln>
        </p:spPr>
      </p:sp>
      <p:sp>
        <p:nvSpPr>
          <p:cNvPr id="29" name="Text 21"/>
          <p:cNvSpPr/>
          <p:nvPr/>
        </p:nvSpPr>
        <p:spPr>
          <a:xfrm>
            <a:off x="6492240" y="5093208"/>
            <a:ext cx="4709160" cy="1280160"/>
          </a:xfrm>
          <a:prstGeom prst="rect">
            <a:avLst/>
          </a:prstGeom>
          <a:noFill/>
        </p:spPr>
        <p:txBody>
          <a:bodyPr wrap="square" rtlCol="0" anchor="t"/>
          <a:lstStyle/>
          <a:p>
            <a:pPr marL="0" indent="0" algn="r" rtl="1">
              <a:lnSpc>
                <a:spcPct val="130000"/>
              </a:lnSpc>
              <a:buNone/>
            </a:pPr>
            <a:r>
              <a:rPr lang="en-US" sz="1250" dirty="0">
                <a:solidFill>
                  <a:srgbClr val="CADCFC"/>
                </a:solidFill>
                <a:latin typeface="Arial" panose="020B0604020202020204" pitchFamily="34" charset="0"/>
                <a:ea typeface="Arial" panose="020B0604020202020204" pitchFamily="34" charset="-122"/>
                <a:cs typeface="Arial" panose="020B0604020202020204" pitchFamily="34" charset="-120"/>
              </a:rPr>
              <a:t>با این حال، بخش‌هایی مانند داشبوردهای ترکیبی و منطق‌های چندمسئولیتی نیازمند بازطراحی و Refactoring هستند تا انطباق کامل با اصول SOLID حاصل شود.</a:t>
            </a:r>
            <a:endParaRPr lang="en-US" sz="1250" dirty="0"/>
          </a:p>
        </p:txBody>
      </p:sp>
      <p:sp>
        <p:nvSpPr>
          <p:cNvPr id="30" name="Text 22"/>
          <p:cNvSpPr/>
          <p:nvPr/>
        </p:nvSpPr>
        <p:spPr>
          <a:xfrm>
            <a:off x="11548872" y="6446520"/>
            <a:ext cx="365760" cy="274320"/>
          </a:xfrm>
          <a:prstGeom prst="rect">
            <a:avLst/>
          </a:prstGeom>
          <a:noFill/>
        </p:spPr>
        <p:txBody>
          <a:bodyPr wrap="square" rtlCol="0" anchor="ctr"/>
          <a:lstStyle/>
          <a:p>
            <a:pPr marL="0" indent="0" algn="l">
              <a:buNone/>
            </a:pPr>
            <a:r>
              <a:rPr lang="en-US" sz="1100" dirty="0">
                <a:solidFill>
                  <a:srgbClr val="5B7285"/>
                </a:solidFill>
                <a:latin typeface="Arial" panose="020B0604020202020204" pitchFamily="34" charset="0"/>
                <a:ea typeface="Arial" panose="020B0604020202020204" pitchFamily="34" charset="-122"/>
                <a:cs typeface="Arial" panose="020B0604020202020204"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908792" cy="640080"/>
          </a:xfrm>
          <a:prstGeom prst="rect">
            <a:avLst/>
          </a:prstGeom>
          <a:noFill/>
        </p:spPr>
        <p:txBody>
          <a:bodyPr wrap="square" rtlCol="0" anchor="ctr"/>
          <a:lstStyle/>
          <a:p>
            <a:pPr marL="0" indent="0" algn="r" rtl="1">
              <a:buNone/>
            </a:pPr>
            <a:r>
              <a:rPr lang="en-US" sz="2800" b="1" dirty="0">
                <a:solidFill>
                  <a:srgbClr val="13314D"/>
                </a:solidFill>
                <a:latin typeface="Arial" panose="020B0604020202020204" pitchFamily="34" charset="0"/>
                <a:ea typeface="Arial" panose="020B0604020202020204" pitchFamily="34" charset="-122"/>
                <a:cs typeface="Arial" panose="020B0604020202020204" pitchFamily="34" charset="-120"/>
              </a:rPr>
              <a:t>الگوی طراحی Observer</a:t>
            </a:r>
            <a:endParaRPr lang="en-US" sz="2800" dirty="0"/>
          </a:p>
        </p:txBody>
      </p:sp>
      <p:sp>
        <p:nvSpPr>
          <p:cNvPr id="3" name="Text 1"/>
          <p:cNvSpPr/>
          <p:nvPr/>
        </p:nvSpPr>
        <p:spPr>
          <a:xfrm>
            <a:off x="640080" y="1051560"/>
            <a:ext cx="10908792" cy="365760"/>
          </a:xfrm>
          <a:prstGeom prst="rect">
            <a:avLst/>
          </a:prstGeom>
          <a:noFill/>
        </p:spPr>
        <p:txBody>
          <a:bodyPr wrap="square" rtlCol="0" anchor="ctr"/>
          <a:lstStyle/>
          <a:p>
            <a:pPr marL="0" indent="0" algn="r" rtl="1">
              <a:buNone/>
            </a:pPr>
            <a:r>
              <a:rPr lang="en-US" sz="1400" dirty="0">
                <a:solidFill>
                  <a:srgbClr val="5B7285"/>
                </a:solidFill>
                <a:latin typeface="Arial" panose="020B0604020202020204" pitchFamily="34" charset="0"/>
                <a:ea typeface="Arial" panose="020B0604020202020204" pitchFamily="34" charset="-122"/>
                <a:cs typeface="Arial" panose="020B0604020202020204" pitchFamily="34" charset="-120"/>
              </a:rPr>
              <a:t>مدیریت اعلان‌ها و اطلاع‌رسانی رویدادهای سیستم</a:t>
            </a:r>
            <a:endParaRPr lang="en-US" sz="1400" dirty="0"/>
          </a:p>
        </p:txBody>
      </p:sp>
      <p:sp>
        <p:nvSpPr>
          <p:cNvPr id="4" name="Shape 2"/>
          <p:cNvSpPr/>
          <p:nvPr/>
        </p:nvSpPr>
        <p:spPr>
          <a:xfrm>
            <a:off x="822960" y="1600200"/>
            <a:ext cx="4023360" cy="713232"/>
          </a:xfrm>
          <a:prstGeom prst="roundRect">
            <a:avLst>
              <a:gd name="adj" fmla="val 10256"/>
            </a:avLst>
          </a:prstGeom>
          <a:solidFill>
            <a:srgbClr val="1C7293"/>
          </a:solidFill>
          <a:effectLst>
            <a:outerShdw blurRad="63500" dist="25400" dir="5400000" algn="bl" rotWithShape="0">
              <a:srgbClr val="1B2A4A">
                <a:alpha val="15000"/>
              </a:srgbClr>
            </a:outerShdw>
          </a:effectLst>
        </p:spPr>
      </p:sp>
      <p:sp>
        <p:nvSpPr>
          <p:cNvPr id="5" name="Shape 3"/>
          <p:cNvSpPr/>
          <p:nvPr/>
        </p:nvSpPr>
        <p:spPr>
          <a:xfrm>
            <a:off x="978408" y="1728216"/>
            <a:ext cx="457200" cy="457200"/>
          </a:xfrm>
          <a:prstGeom prst="ellipse">
            <a:avLst/>
          </a:prstGeom>
          <a:solidFill>
            <a:srgbClr val="02C39A"/>
          </a:solidFill>
          <a:effectLst>
            <a:outerShdw blurRad="76200" dist="25400" dir="5400000" algn="bl" rotWithShape="0">
              <a:srgbClr val="1B2A4A">
                <a:alpha val="25000"/>
              </a:srgbClr>
            </a:outerShdw>
          </a:effectLst>
        </p:spPr>
      </p:sp>
      <p:pic>
        <p:nvPicPr>
          <p:cNvPr id="6" name="Image 0" descr="/home/claude/build/icons/diagram.png"/>
          <p:cNvPicPr>
            <a:picLocks noChangeAspect="1"/>
          </p:cNvPicPr>
          <p:nvPr/>
        </p:nvPicPr>
        <p:blipFill>
          <a:blip r:embed="rId1"/>
          <a:stretch>
            <a:fillRect/>
          </a:stretch>
        </p:blipFill>
        <p:spPr>
          <a:xfrm>
            <a:off x="1097280" y="1847088"/>
            <a:ext cx="219456" cy="219456"/>
          </a:xfrm>
          <a:prstGeom prst="rect">
            <a:avLst/>
          </a:prstGeom>
        </p:spPr>
      </p:pic>
      <p:sp>
        <p:nvSpPr>
          <p:cNvPr id="7" name="Text 4"/>
          <p:cNvSpPr/>
          <p:nvPr/>
        </p:nvSpPr>
        <p:spPr>
          <a:xfrm>
            <a:off x="1508760" y="1655064"/>
            <a:ext cx="3154680" cy="365760"/>
          </a:xfrm>
          <a:prstGeom prst="rect">
            <a:avLst/>
          </a:prstGeom>
          <a:noFill/>
        </p:spPr>
        <p:txBody>
          <a:bodyPr wrap="square" rtlCol="0" anchor="ctr"/>
          <a:lstStyle/>
          <a:p>
            <a:pPr marL="0" indent="0" algn="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Assignment / Exam / ClassSession</a:t>
            </a:r>
            <a:endParaRPr lang="en-US" sz="1200" dirty="0"/>
          </a:p>
        </p:txBody>
      </p:sp>
      <p:sp>
        <p:nvSpPr>
          <p:cNvPr id="8" name="Text 5"/>
          <p:cNvSpPr/>
          <p:nvPr/>
        </p:nvSpPr>
        <p:spPr>
          <a:xfrm>
            <a:off x="1508760" y="1984248"/>
            <a:ext cx="3154680" cy="292608"/>
          </a:xfrm>
          <a:prstGeom prst="rect">
            <a:avLst/>
          </a:prstGeom>
          <a:noFill/>
        </p:spPr>
        <p:txBody>
          <a:bodyPr wrap="square" rtlCol="0" anchor="ctr"/>
          <a:lstStyle/>
          <a:p>
            <a:pPr marL="0" indent="0" algn="r" rtl="1">
              <a:buNone/>
            </a:pPr>
            <a:r>
              <a:rPr lang="en-US" sz="1050" dirty="0">
                <a:solidFill>
                  <a:srgbClr val="DDEBF3"/>
                </a:solidFill>
                <a:latin typeface="Arial" panose="020B0604020202020204" pitchFamily="34" charset="0"/>
                <a:ea typeface="Arial" panose="020B0604020202020204" pitchFamily="34" charset="-122"/>
                <a:cs typeface="Arial" panose="020B0604020202020204" pitchFamily="34" charset="-120"/>
              </a:rPr>
              <a:t>ایجاد رویداد</a:t>
            </a:r>
            <a:endParaRPr lang="en-US" sz="1050" dirty="0"/>
          </a:p>
        </p:txBody>
      </p:sp>
      <p:sp>
        <p:nvSpPr>
          <p:cNvPr id="9" name="Shape 6"/>
          <p:cNvSpPr/>
          <p:nvPr/>
        </p:nvSpPr>
        <p:spPr>
          <a:xfrm>
            <a:off x="2834640" y="2313432"/>
            <a:ext cx="0" cy="201168"/>
          </a:xfrm>
          <a:prstGeom prst="line">
            <a:avLst/>
          </a:prstGeom>
          <a:noFill/>
          <a:ln w="25400">
            <a:solidFill>
              <a:srgbClr val="1C7293"/>
            </a:solidFill>
            <a:prstDash val="solid"/>
            <a:tailEnd type="triangle"/>
          </a:ln>
        </p:spPr>
      </p:sp>
      <p:sp>
        <p:nvSpPr>
          <p:cNvPr id="10" name="Shape 7"/>
          <p:cNvSpPr/>
          <p:nvPr/>
        </p:nvSpPr>
        <p:spPr>
          <a:xfrm>
            <a:off x="822960" y="2514600"/>
            <a:ext cx="4023360" cy="713232"/>
          </a:xfrm>
          <a:prstGeom prst="roundRect">
            <a:avLst>
              <a:gd name="adj" fmla="val 10256"/>
            </a:avLst>
          </a:prstGeom>
          <a:solidFill>
            <a:srgbClr val="065A82"/>
          </a:solidFill>
          <a:effectLst>
            <a:outerShdw blurRad="63500" dist="25400" dir="5400000" algn="bl" rotWithShape="0">
              <a:srgbClr val="1B2A4A">
                <a:alpha val="15000"/>
              </a:srgbClr>
            </a:outerShdw>
          </a:effectLst>
        </p:spPr>
      </p:sp>
      <p:sp>
        <p:nvSpPr>
          <p:cNvPr id="11" name="Shape 8"/>
          <p:cNvSpPr/>
          <p:nvPr/>
        </p:nvSpPr>
        <p:spPr>
          <a:xfrm>
            <a:off x="978408" y="2642616"/>
            <a:ext cx="457200" cy="457200"/>
          </a:xfrm>
          <a:prstGeom prst="ellipse">
            <a:avLst/>
          </a:prstGeom>
          <a:solidFill>
            <a:srgbClr val="02C39A"/>
          </a:solidFill>
          <a:effectLst>
            <a:outerShdw blurRad="76200" dist="25400" dir="5400000" algn="bl" rotWithShape="0">
              <a:srgbClr val="1B2A4A">
                <a:alpha val="25000"/>
              </a:srgbClr>
            </a:outerShdw>
          </a:effectLst>
        </p:spPr>
      </p:sp>
      <p:pic>
        <p:nvPicPr>
          <p:cNvPr id="12" name="Image 1" descr="/home/claude/build/icons/bell.png"/>
          <p:cNvPicPr>
            <a:picLocks noChangeAspect="1"/>
          </p:cNvPicPr>
          <p:nvPr/>
        </p:nvPicPr>
        <p:blipFill>
          <a:blip r:embed="rId2"/>
          <a:stretch>
            <a:fillRect/>
          </a:stretch>
        </p:blipFill>
        <p:spPr>
          <a:xfrm>
            <a:off x="1097280" y="2761488"/>
            <a:ext cx="219456" cy="219456"/>
          </a:xfrm>
          <a:prstGeom prst="rect">
            <a:avLst/>
          </a:prstGeom>
        </p:spPr>
      </p:pic>
      <p:sp>
        <p:nvSpPr>
          <p:cNvPr id="13" name="Text 9"/>
          <p:cNvSpPr/>
          <p:nvPr/>
        </p:nvSpPr>
        <p:spPr>
          <a:xfrm>
            <a:off x="1508760" y="2569464"/>
            <a:ext cx="3154680" cy="365760"/>
          </a:xfrm>
          <a:prstGeom prst="rect">
            <a:avLst/>
          </a:prstGeom>
          <a:noFill/>
        </p:spPr>
        <p:txBody>
          <a:bodyPr wrap="square" rtlCol="0" anchor="ctr"/>
          <a:lstStyle/>
          <a:p>
            <a:pPr marL="0" indent="0" algn="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DomainEvent → EventPublisher</a:t>
            </a:r>
            <a:endParaRPr lang="en-US" sz="1200" dirty="0"/>
          </a:p>
        </p:txBody>
      </p:sp>
      <p:sp>
        <p:nvSpPr>
          <p:cNvPr id="14" name="Text 10"/>
          <p:cNvSpPr/>
          <p:nvPr/>
        </p:nvSpPr>
        <p:spPr>
          <a:xfrm>
            <a:off x="1508760" y="2898648"/>
            <a:ext cx="3154680" cy="292608"/>
          </a:xfrm>
          <a:prstGeom prst="rect">
            <a:avLst/>
          </a:prstGeom>
          <a:noFill/>
        </p:spPr>
        <p:txBody>
          <a:bodyPr wrap="square" rtlCol="0" anchor="ctr"/>
          <a:lstStyle/>
          <a:p>
            <a:pPr marL="0" indent="0" algn="r" rtl="1">
              <a:buNone/>
            </a:pPr>
            <a:r>
              <a:rPr lang="en-US" sz="1050" dirty="0">
                <a:solidFill>
                  <a:srgbClr val="DDEBF3"/>
                </a:solidFill>
                <a:latin typeface="Arial" panose="020B0604020202020204" pitchFamily="34" charset="0"/>
                <a:ea typeface="Arial" panose="020B0604020202020204" pitchFamily="34" charset="-122"/>
                <a:cs typeface="Arial" panose="020B0604020202020204" pitchFamily="34" charset="-120"/>
              </a:rPr>
              <a:t>انتشار رویداد (Subject)</a:t>
            </a:r>
            <a:endParaRPr lang="en-US" sz="1050" dirty="0"/>
          </a:p>
        </p:txBody>
      </p:sp>
      <p:sp>
        <p:nvSpPr>
          <p:cNvPr id="15" name="Shape 11"/>
          <p:cNvSpPr/>
          <p:nvPr/>
        </p:nvSpPr>
        <p:spPr>
          <a:xfrm>
            <a:off x="2834640" y="3227832"/>
            <a:ext cx="0" cy="201168"/>
          </a:xfrm>
          <a:prstGeom prst="line">
            <a:avLst/>
          </a:prstGeom>
          <a:noFill/>
          <a:ln w="25400">
            <a:solidFill>
              <a:srgbClr val="1C7293"/>
            </a:solidFill>
            <a:prstDash val="solid"/>
            <a:tailEnd type="triangle"/>
          </a:ln>
        </p:spPr>
      </p:sp>
      <p:sp>
        <p:nvSpPr>
          <p:cNvPr id="16" name="Shape 12"/>
          <p:cNvSpPr/>
          <p:nvPr/>
        </p:nvSpPr>
        <p:spPr>
          <a:xfrm>
            <a:off x="822960" y="3429000"/>
            <a:ext cx="4023360" cy="713232"/>
          </a:xfrm>
          <a:prstGeom prst="roundRect">
            <a:avLst>
              <a:gd name="adj" fmla="val 10256"/>
            </a:avLst>
          </a:prstGeom>
          <a:solidFill>
            <a:srgbClr val="065A82"/>
          </a:solidFill>
          <a:effectLst>
            <a:outerShdw blurRad="63500" dist="25400" dir="5400000" algn="bl" rotWithShape="0">
              <a:srgbClr val="1B2A4A">
                <a:alpha val="15000"/>
              </a:srgbClr>
            </a:outerShdw>
          </a:effectLst>
        </p:spPr>
      </p:sp>
      <p:sp>
        <p:nvSpPr>
          <p:cNvPr id="17" name="Shape 13"/>
          <p:cNvSpPr/>
          <p:nvPr/>
        </p:nvSpPr>
        <p:spPr>
          <a:xfrm>
            <a:off x="978408" y="3557016"/>
            <a:ext cx="457200" cy="457200"/>
          </a:xfrm>
          <a:prstGeom prst="ellipse">
            <a:avLst/>
          </a:prstGeom>
          <a:solidFill>
            <a:srgbClr val="02C39A"/>
          </a:solidFill>
          <a:effectLst>
            <a:outerShdw blurRad="76200" dist="25400" dir="5400000" algn="bl" rotWithShape="0">
              <a:srgbClr val="1B2A4A">
                <a:alpha val="25000"/>
              </a:srgbClr>
            </a:outerShdw>
          </a:effectLst>
        </p:spPr>
      </p:sp>
      <p:pic>
        <p:nvPicPr>
          <p:cNvPr id="18" name="Image 2" descr="/home/claude/build/icons/eye.png"/>
          <p:cNvPicPr>
            <a:picLocks noChangeAspect="1"/>
          </p:cNvPicPr>
          <p:nvPr/>
        </p:nvPicPr>
        <p:blipFill>
          <a:blip r:embed="rId3"/>
          <a:stretch>
            <a:fillRect/>
          </a:stretch>
        </p:blipFill>
        <p:spPr>
          <a:xfrm>
            <a:off x="1097280" y="3675888"/>
            <a:ext cx="219456" cy="219456"/>
          </a:xfrm>
          <a:prstGeom prst="rect">
            <a:avLst/>
          </a:prstGeom>
        </p:spPr>
      </p:pic>
      <p:sp>
        <p:nvSpPr>
          <p:cNvPr id="19" name="Text 14"/>
          <p:cNvSpPr/>
          <p:nvPr/>
        </p:nvSpPr>
        <p:spPr>
          <a:xfrm>
            <a:off x="1508760" y="3483864"/>
            <a:ext cx="3154680" cy="365760"/>
          </a:xfrm>
          <a:prstGeom prst="rect">
            <a:avLst/>
          </a:prstGeom>
          <a:noFill/>
        </p:spPr>
        <p:txBody>
          <a:bodyPr wrap="square" rtlCol="0" anchor="ctr"/>
          <a:lstStyle/>
          <a:p>
            <a:pPr marL="0" indent="0" algn="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NotificationEventListener</a:t>
            </a:r>
            <a:endParaRPr lang="en-US" sz="1200" dirty="0"/>
          </a:p>
        </p:txBody>
      </p:sp>
      <p:sp>
        <p:nvSpPr>
          <p:cNvPr id="20" name="Text 15"/>
          <p:cNvSpPr/>
          <p:nvPr/>
        </p:nvSpPr>
        <p:spPr>
          <a:xfrm>
            <a:off x="1508760" y="3813048"/>
            <a:ext cx="3154680" cy="292608"/>
          </a:xfrm>
          <a:prstGeom prst="rect">
            <a:avLst/>
          </a:prstGeom>
          <a:noFill/>
        </p:spPr>
        <p:txBody>
          <a:bodyPr wrap="square" rtlCol="0" anchor="ctr"/>
          <a:lstStyle/>
          <a:p>
            <a:pPr marL="0" indent="0" algn="r" rtl="1">
              <a:buNone/>
            </a:pPr>
            <a:r>
              <a:rPr lang="en-US" sz="1050" dirty="0">
                <a:solidFill>
                  <a:srgbClr val="DDEBF3"/>
                </a:solidFill>
                <a:latin typeface="Arial" panose="020B0604020202020204" pitchFamily="34" charset="0"/>
                <a:ea typeface="Arial" panose="020B0604020202020204" pitchFamily="34" charset="-122"/>
                <a:cs typeface="Arial" panose="020B0604020202020204" pitchFamily="34" charset="-120"/>
              </a:rPr>
              <a:t>دریافت رویداد (Observer)</a:t>
            </a:r>
            <a:endParaRPr lang="en-US" sz="1050" dirty="0"/>
          </a:p>
        </p:txBody>
      </p:sp>
      <p:sp>
        <p:nvSpPr>
          <p:cNvPr id="21" name="Shape 16"/>
          <p:cNvSpPr/>
          <p:nvPr/>
        </p:nvSpPr>
        <p:spPr>
          <a:xfrm>
            <a:off x="2834640" y="4142232"/>
            <a:ext cx="0" cy="201168"/>
          </a:xfrm>
          <a:prstGeom prst="line">
            <a:avLst/>
          </a:prstGeom>
          <a:noFill/>
          <a:ln w="25400">
            <a:solidFill>
              <a:srgbClr val="1C7293"/>
            </a:solidFill>
            <a:prstDash val="solid"/>
            <a:tailEnd type="triangle"/>
          </a:ln>
        </p:spPr>
      </p:sp>
      <p:sp>
        <p:nvSpPr>
          <p:cNvPr id="22" name="Shape 17"/>
          <p:cNvSpPr/>
          <p:nvPr/>
        </p:nvSpPr>
        <p:spPr>
          <a:xfrm>
            <a:off x="822960" y="4343400"/>
            <a:ext cx="4023360" cy="713232"/>
          </a:xfrm>
          <a:prstGeom prst="roundRect">
            <a:avLst>
              <a:gd name="adj" fmla="val 10256"/>
            </a:avLst>
          </a:prstGeom>
          <a:solidFill>
            <a:srgbClr val="065A82"/>
          </a:solidFill>
          <a:effectLst>
            <a:outerShdw blurRad="63500" dist="25400" dir="5400000" algn="bl" rotWithShape="0">
              <a:srgbClr val="1B2A4A">
                <a:alpha val="15000"/>
              </a:srgbClr>
            </a:outerShdw>
          </a:effectLst>
        </p:spPr>
      </p:sp>
      <p:sp>
        <p:nvSpPr>
          <p:cNvPr id="23" name="Shape 18"/>
          <p:cNvSpPr/>
          <p:nvPr/>
        </p:nvSpPr>
        <p:spPr>
          <a:xfrm>
            <a:off x="978408" y="4471416"/>
            <a:ext cx="457200" cy="457200"/>
          </a:xfrm>
          <a:prstGeom prst="ellipse">
            <a:avLst/>
          </a:prstGeom>
          <a:solidFill>
            <a:srgbClr val="02C39A"/>
          </a:solidFill>
          <a:effectLst>
            <a:outerShdw blurRad="76200" dist="25400" dir="5400000" algn="bl" rotWithShape="0">
              <a:srgbClr val="1B2A4A">
                <a:alpha val="25000"/>
              </a:srgbClr>
            </a:outerShdw>
          </a:effectLst>
        </p:spPr>
      </p:sp>
      <p:pic>
        <p:nvPicPr>
          <p:cNvPr id="24" name="Image 3" descr="/home/claude/build/icons/comments.png"/>
          <p:cNvPicPr>
            <a:picLocks noChangeAspect="1"/>
          </p:cNvPicPr>
          <p:nvPr/>
        </p:nvPicPr>
        <p:blipFill>
          <a:blip r:embed="rId4"/>
          <a:stretch>
            <a:fillRect/>
          </a:stretch>
        </p:blipFill>
        <p:spPr>
          <a:xfrm>
            <a:off x="1097280" y="4590288"/>
            <a:ext cx="219456" cy="219456"/>
          </a:xfrm>
          <a:prstGeom prst="rect">
            <a:avLst/>
          </a:prstGeom>
        </p:spPr>
      </p:pic>
      <p:sp>
        <p:nvSpPr>
          <p:cNvPr id="25" name="Text 19"/>
          <p:cNvSpPr/>
          <p:nvPr/>
        </p:nvSpPr>
        <p:spPr>
          <a:xfrm>
            <a:off x="1508760" y="4398264"/>
            <a:ext cx="3154680" cy="365760"/>
          </a:xfrm>
          <a:prstGeom prst="rect">
            <a:avLst/>
          </a:prstGeom>
          <a:noFill/>
        </p:spPr>
        <p:txBody>
          <a:bodyPr wrap="square" rtlCol="0" anchor="ctr"/>
          <a:lstStyle/>
          <a:p>
            <a:pPr marL="0" indent="0" algn="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NotificationService</a:t>
            </a:r>
            <a:endParaRPr lang="en-US" sz="1200" dirty="0"/>
          </a:p>
        </p:txBody>
      </p:sp>
      <p:sp>
        <p:nvSpPr>
          <p:cNvPr id="26" name="Text 20"/>
          <p:cNvSpPr/>
          <p:nvPr/>
        </p:nvSpPr>
        <p:spPr>
          <a:xfrm>
            <a:off x="1508760" y="4727448"/>
            <a:ext cx="3154680" cy="292608"/>
          </a:xfrm>
          <a:prstGeom prst="rect">
            <a:avLst/>
          </a:prstGeom>
          <a:noFill/>
        </p:spPr>
        <p:txBody>
          <a:bodyPr wrap="square" rtlCol="0" anchor="ctr"/>
          <a:lstStyle/>
          <a:p>
            <a:pPr marL="0" indent="0" algn="r" rtl="1">
              <a:buNone/>
            </a:pPr>
            <a:r>
              <a:rPr lang="en-US" sz="1050" dirty="0">
                <a:solidFill>
                  <a:srgbClr val="DDEBF3"/>
                </a:solidFill>
                <a:latin typeface="Arial" panose="020B0604020202020204" pitchFamily="34" charset="0"/>
                <a:ea typeface="Arial" panose="020B0604020202020204" pitchFamily="34" charset="-122"/>
                <a:cs typeface="Arial" panose="020B0604020202020204" pitchFamily="34" charset="-120"/>
              </a:rPr>
              <a:t>تولید اعلان مناسب</a:t>
            </a:r>
            <a:endParaRPr lang="en-US" sz="1050" dirty="0"/>
          </a:p>
        </p:txBody>
      </p:sp>
      <p:sp>
        <p:nvSpPr>
          <p:cNvPr id="27" name="Shape 21"/>
          <p:cNvSpPr/>
          <p:nvPr/>
        </p:nvSpPr>
        <p:spPr>
          <a:xfrm>
            <a:off x="2834640" y="5056632"/>
            <a:ext cx="0" cy="201168"/>
          </a:xfrm>
          <a:prstGeom prst="line">
            <a:avLst/>
          </a:prstGeom>
          <a:noFill/>
          <a:ln w="25400">
            <a:solidFill>
              <a:srgbClr val="1C7293"/>
            </a:solidFill>
            <a:prstDash val="solid"/>
            <a:tailEnd type="triangle"/>
          </a:ln>
        </p:spPr>
      </p:sp>
      <p:sp>
        <p:nvSpPr>
          <p:cNvPr id="28" name="Shape 22"/>
          <p:cNvSpPr/>
          <p:nvPr/>
        </p:nvSpPr>
        <p:spPr>
          <a:xfrm>
            <a:off x="822960" y="5257800"/>
            <a:ext cx="4023360" cy="713232"/>
          </a:xfrm>
          <a:prstGeom prst="roundRect">
            <a:avLst>
              <a:gd name="adj" fmla="val 10256"/>
            </a:avLst>
          </a:prstGeom>
          <a:solidFill>
            <a:srgbClr val="1C7293"/>
          </a:solidFill>
          <a:effectLst>
            <a:outerShdw blurRad="63500" dist="25400" dir="5400000" algn="bl" rotWithShape="0">
              <a:srgbClr val="1B2A4A">
                <a:alpha val="15000"/>
              </a:srgbClr>
            </a:outerShdw>
          </a:effectLst>
        </p:spPr>
      </p:sp>
      <p:sp>
        <p:nvSpPr>
          <p:cNvPr id="29" name="Shape 23"/>
          <p:cNvSpPr/>
          <p:nvPr/>
        </p:nvSpPr>
        <p:spPr>
          <a:xfrm>
            <a:off x="978408" y="5385816"/>
            <a:ext cx="457200" cy="457200"/>
          </a:xfrm>
          <a:prstGeom prst="ellipse">
            <a:avLst/>
          </a:prstGeom>
          <a:solidFill>
            <a:srgbClr val="02C39A"/>
          </a:solidFill>
          <a:effectLst>
            <a:outerShdw blurRad="76200" dist="25400" dir="5400000" algn="bl" rotWithShape="0">
              <a:srgbClr val="1B2A4A">
                <a:alpha val="25000"/>
              </a:srgbClr>
            </a:outerShdw>
          </a:effectLst>
        </p:spPr>
      </p:sp>
      <p:pic>
        <p:nvPicPr>
          <p:cNvPr id="30" name="Image 4" descr="/home/claude/build/icons/check.png"/>
          <p:cNvPicPr>
            <a:picLocks noChangeAspect="1"/>
          </p:cNvPicPr>
          <p:nvPr/>
        </p:nvPicPr>
        <p:blipFill>
          <a:blip r:embed="rId5"/>
          <a:stretch>
            <a:fillRect/>
          </a:stretch>
        </p:blipFill>
        <p:spPr>
          <a:xfrm>
            <a:off x="1097280" y="5504688"/>
            <a:ext cx="219456" cy="219456"/>
          </a:xfrm>
          <a:prstGeom prst="rect">
            <a:avLst/>
          </a:prstGeom>
        </p:spPr>
      </p:pic>
      <p:sp>
        <p:nvSpPr>
          <p:cNvPr id="31" name="Text 24"/>
          <p:cNvSpPr/>
          <p:nvPr/>
        </p:nvSpPr>
        <p:spPr>
          <a:xfrm>
            <a:off x="1508760" y="5312664"/>
            <a:ext cx="3154680" cy="365760"/>
          </a:xfrm>
          <a:prstGeom prst="rect">
            <a:avLst/>
          </a:prstGeom>
          <a:noFill/>
        </p:spPr>
        <p:txBody>
          <a:bodyPr wrap="square" rtlCol="0" anchor="ctr"/>
          <a:lstStyle/>
          <a:p>
            <a:pPr marL="0" indent="0" algn="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Notification</a:t>
            </a:r>
            <a:endParaRPr lang="en-US" sz="1200" dirty="0"/>
          </a:p>
        </p:txBody>
      </p:sp>
      <p:sp>
        <p:nvSpPr>
          <p:cNvPr id="32" name="Text 25"/>
          <p:cNvSpPr/>
          <p:nvPr/>
        </p:nvSpPr>
        <p:spPr>
          <a:xfrm>
            <a:off x="1508760" y="5641848"/>
            <a:ext cx="3154680" cy="292608"/>
          </a:xfrm>
          <a:prstGeom prst="rect">
            <a:avLst/>
          </a:prstGeom>
          <a:noFill/>
        </p:spPr>
        <p:txBody>
          <a:bodyPr wrap="square" rtlCol="0" anchor="ctr"/>
          <a:lstStyle/>
          <a:p>
            <a:pPr marL="0" indent="0" algn="r" rtl="1">
              <a:buNone/>
            </a:pPr>
            <a:r>
              <a:rPr lang="en-US" sz="1050" dirty="0">
                <a:solidFill>
                  <a:srgbClr val="DDEBF3"/>
                </a:solidFill>
                <a:latin typeface="Arial" panose="020B0604020202020204" pitchFamily="34" charset="0"/>
                <a:ea typeface="Arial" panose="020B0604020202020204" pitchFamily="34" charset="-122"/>
                <a:cs typeface="Arial" panose="020B0604020202020204" pitchFamily="34" charset="-120"/>
              </a:rPr>
              <a:t>ارسال و ذخیره برای کاربر</a:t>
            </a:r>
            <a:endParaRPr lang="en-US" sz="1050" dirty="0"/>
          </a:p>
        </p:txBody>
      </p:sp>
      <p:sp>
        <p:nvSpPr>
          <p:cNvPr id="33" name="Shape 26"/>
          <p:cNvSpPr/>
          <p:nvPr/>
        </p:nvSpPr>
        <p:spPr>
          <a:xfrm>
            <a:off x="6309360" y="1600200"/>
            <a:ext cx="5212080" cy="4617720"/>
          </a:xfrm>
          <a:prstGeom prst="roundRect">
            <a:avLst>
              <a:gd name="adj" fmla="val 2376"/>
            </a:avLst>
          </a:prstGeom>
          <a:solidFill>
            <a:srgbClr val="FFFFFF"/>
          </a:solidFill>
          <a:ln w="12700">
            <a:solidFill>
              <a:srgbClr val="DCE6ED"/>
            </a:solidFill>
            <a:prstDash val="solid"/>
          </a:ln>
        </p:spPr>
      </p:sp>
      <p:sp>
        <p:nvSpPr>
          <p:cNvPr id="34" name="Text 27"/>
          <p:cNvSpPr/>
          <p:nvPr/>
        </p:nvSpPr>
        <p:spPr>
          <a:xfrm>
            <a:off x="6583680" y="1783080"/>
            <a:ext cx="4663440" cy="411480"/>
          </a:xfrm>
          <a:prstGeom prst="rect">
            <a:avLst/>
          </a:prstGeom>
          <a:noFill/>
        </p:spPr>
        <p:txBody>
          <a:bodyPr wrap="square" rtlCol="0" anchor="ctr"/>
          <a:lstStyle/>
          <a:p>
            <a:pPr marL="0" indent="0" algn="r" rtl="1">
              <a:buNone/>
            </a:pPr>
            <a:r>
              <a:rPr lang="en-US" sz="1600" b="1" dirty="0">
                <a:solidFill>
                  <a:srgbClr val="065A82"/>
                </a:solidFill>
                <a:latin typeface="Arial" panose="020B0604020202020204" pitchFamily="34" charset="0"/>
                <a:ea typeface="Arial" panose="020B0604020202020204" pitchFamily="34" charset="-122"/>
                <a:cs typeface="Arial" panose="020B0604020202020204" pitchFamily="34" charset="-120"/>
              </a:rPr>
              <a:t>توجیه انتخاب</a:t>
            </a:r>
            <a:endParaRPr lang="en-US" sz="1600" dirty="0"/>
          </a:p>
        </p:txBody>
      </p:sp>
      <p:sp>
        <p:nvSpPr>
          <p:cNvPr id="35" name="Text 28"/>
          <p:cNvSpPr/>
          <p:nvPr/>
        </p:nvSpPr>
        <p:spPr>
          <a:xfrm>
            <a:off x="6583680" y="2240280"/>
            <a:ext cx="4663440" cy="1554480"/>
          </a:xfrm>
          <a:prstGeom prst="rect">
            <a:avLst/>
          </a:prstGeom>
          <a:noFill/>
        </p:spPr>
        <p:txBody>
          <a:bodyPr wrap="square" rtlCol="0" anchor="t"/>
          <a:lstStyle/>
          <a:p>
            <a:pPr marL="0" indent="0" algn="r" rtl="1">
              <a:lnSpc>
                <a:spcPct val="135000"/>
              </a:lnSpc>
              <a:buNone/>
            </a:pPr>
            <a:r>
              <a:rPr lang="en-US" sz="1250" dirty="0">
                <a:solidFill>
                  <a:srgbClr val="13314D"/>
                </a:solidFill>
                <a:latin typeface="Arial" panose="020B0604020202020204" pitchFamily="34" charset="0"/>
                <a:ea typeface="Arial" panose="020B0604020202020204" pitchFamily="34" charset="-122"/>
                <a:cs typeface="Arial" panose="020B0604020202020204" pitchFamily="34" charset="-120"/>
              </a:rPr>
              <a:t>کلاس‌های دامنه مانند Assignment، Exam و ClassSession تنها رویداد خود را منتشر می‌کنند و هیچ وابستگی مستقیمی به سیستم اعلان ندارند؛ برای نمونه، ایجاد یک تکلیف جدید صرفاً یک رویداد منتشر می‌کند و NotificationEventListener مستقل از آن، اعلان مرتبط را برای دانش‌آموزان ارسال می‌کند.</a:t>
            </a:r>
            <a:endParaRPr lang="en-US" sz="1250" dirty="0"/>
          </a:p>
        </p:txBody>
      </p:sp>
      <p:sp>
        <p:nvSpPr>
          <p:cNvPr id="36" name="Shape 29"/>
          <p:cNvSpPr/>
          <p:nvPr/>
        </p:nvSpPr>
        <p:spPr>
          <a:xfrm>
            <a:off x="6583680" y="3886200"/>
            <a:ext cx="4663440" cy="0"/>
          </a:xfrm>
          <a:prstGeom prst="line">
            <a:avLst/>
          </a:prstGeom>
          <a:noFill/>
          <a:ln w="12700">
            <a:solidFill>
              <a:srgbClr val="E3EAF0"/>
            </a:solidFill>
            <a:prstDash val="solid"/>
          </a:ln>
        </p:spPr>
      </p:sp>
      <p:sp>
        <p:nvSpPr>
          <p:cNvPr id="37" name="Shape 30"/>
          <p:cNvSpPr/>
          <p:nvPr/>
        </p:nvSpPr>
        <p:spPr>
          <a:xfrm>
            <a:off x="10872216" y="4096512"/>
            <a:ext cx="384048" cy="384048"/>
          </a:xfrm>
          <a:prstGeom prst="ellipse">
            <a:avLst/>
          </a:prstGeom>
          <a:solidFill>
            <a:srgbClr val="1E9E6C"/>
          </a:solidFill>
          <a:effectLst>
            <a:outerShdw blurRad="76200" dist="25400" dir="5400000" algn="bl" rotWithShape="0">
              <a:srgbClr val="1B2A4A">
                <a:alpha val="25000"/>
              </a:srgbClr>
            </a:outerShdw>
          </a:effectLst>
        </p:spPr>
      </p:sp>
      <p:pic>
        <p:nvPicPr>
          <p:cNvPr id="38" name="Image 5" descr="/home/claude/build/icons/check.png"/>
          <p:cNvPicPr>
            <a:picLocks noChangeAspect="1"/>
          </p:cNvPicPr>
          <p:nvPr/>
        </p:nvPicPr>
        <p:blipFill>
          <a:blip r:embed="rId5"/>
          <a:stretch>
            <a:fillRect/>
          </a:stretch>
        </p:blipFill>
        <p:spPr>
          <a:xfrm>
            <a:off x="10972068" y="4196364"/>
            <a:ext cx="184343" cy="184343"/>
          </a:xfrm>
          <a:prstGeom prst="rect">
            <a:avLst/>
          </a:prstGeom>
        </p:spPr>
      </p:pic>
      <p:sp>
        <p:nvSpPr>
          <p:cNvPr id="39" name="Text 31"/>
          <p:cNvSpPr/>
          <p:nvPr/>
        </p:nvSpPr>
        <p:spPr>
          <a:xfrm>
            <a:off x="6583680" y="4069080"/>
            <a:ext cx="4206240" cy="457200"/>
          </a:xfrm>
          <a:prstGeom prst="rect">
            <a:avLst/>
          </a:prstGeom>
          <a:noFill/>
        </p:spPr>
        <p:txBody>
          <a:bodyPr wrap="square" rtlCol="0" anchor="ct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کاهش وابستگی بین کلاس‌ها (Loose Coupling)</a:t>
            </a:r>
            <a:endParaRPr lang="en-US" sz="1200" dirty="0"/>
          </a:p>
        </p:txBody>
      </p:sp>
      <p:sp>
        <p:nvSpPr>
          <p:cNvPr id="40" name="Shape 32"/>
          <p:cNvSpPr/>
          <p:nvPr/>
        </p:nvSpPr>
        <p:spPr>
          <a:xfrm>
            <a:off x="10872216" y="4645152"/>
            <a:ext cx="384048" cy="384048"/>
          </a:xfrm>
          <a:prstGeom prst="ellipse">
            <a:avLst/>
          </a:prstGeom>
          <a:solidFill>
            <a:srgbClr val="1E9E6C"/>
          </a:solidFill>
          <a:effectLst>
            <a:outerShdw blurRad="76200" dist="25400" dir="5400000" algn="bl" rotWithShape="0">
              <a:srgbClr val="1B2A4A">
                <a:alpha val="25000"/>
              </a:srgbClr>
            </a:outerShdw>
          </a:effectLst>
        </p:spPr>
      </p:sp>
      <p:pic>
        <p:nvPicPr>
          <p:cNvPr id="41" name="Image 6" descr="/home/claude/build/icons/check.png"/>
          <p:cNvPicPr>
            <a:picLocks noChangeAspect="1"/>
          </p:cNvPicPr>
          <p:nvPr/>
        </p:nvPicPr>
        <p:blipFill>
          <a:blip r:embed="rId5"/>
          <a:stretch>
            <a:fillRect/>
          </a:stretch>
        </p:blipFill>
        <p:spPr>
          <a:xfrm>
            <a:off x="10972068" y="4745004"/>
            <a:ext cx="184343" cy="184343"/>
          </a:xfrm>
          <a:prstGeom prst="rect">
            <a:avLst/>
          </a:prstGeom>
        </p:spPr>
      </p:pic>
      <p:sp>
        <p:nvSpPr>
          <p:cNvPr id="42" name="Text 33"/>
          <p:cNvSpPr/>
          <p:nvPr/>
        </p:nvSpPr>
        <p:spPr>
          <a:xfrm>
            <a:off x="6583680" y="4617720"/>
            <a:ext cx="4206240" cy="457200"/>
          </a:xfrm>
          <a:prstGeom prst="rect">
            <a:avLst/>
          </a:prstGeom>
          <a:noFill/>
        </p:spPr>
        <p:txBody>
          <a:bodyPr wrap="square" rtlCol="0" anchor="ct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افزایش قابلیت توسعه سیستم</a:t>
            </a:r>
            <a:endParaRPr lang="en-US" sz="1200" dirty="0"/>
          </a:p>
        </p:txBody>
      </p:sp>
      <p:sp>
        <p:nvSpPr>
          <p:cNvPr id="43" name="Shape 34"/>
          <p:cNvSpPr/>
          <p:nvPr/>
        </p:nvSpPr>
        <p:spPr>
          <a:xfrm>
            <a:off x="10872216" y="5193792"/>
            <a:ext cx="384048" cy="384048"/>
          </a:xfrm>
          <a:prstGeom prst="ellipse">
            <a:avLst/>
          </a:prstGeom>
          <a:solidFill>
            <a:srgbClr val="1E9E6C"/>
          </a:solidFill>
          <a:effectLst>
            <a:outerShdw blurRad="76200" dist="25400" dir="5400000" algn="bl" rotWithShape="0">
              <a:srgbClr val="1B2A4A">
                <a:alpha val="25000"/>
              </a:srgbClr>
            </a:outerShdw>
          </a:effectLst>
        </p:spPr>
      </p:sp>
      <p:pic>
        <p:nvPicPr>
          <p:cNvPr id="44" name="Image 7" descr="/home/claude/build/icons/check.png"/>
          <p:cNvPicPr>
            <a:picLocks noChangeAspect="1"/>
          </p:cNvPicPr>
          <p:nvPr/>
        </p:nvPicPr>
        <p:blipFill>
          <a:blip r:embed="rId5"/>
          <a:stretch>
            <a:fillRect/>
          </a:stretch>
        </p:blipFill>
        <p:spPr>
          <a:xfrm>
            <a:off x="10972068" y="5293644"/>
            <a:ext cx="184343" cy="184343"/>
          </a:xfrm>
          <a:prstGeom prst="rect">
            <a:avLst/>
          </a:prstGeom>
        </p:spPr>
      </p:pic>
      <p:sp>
        <p:nvSpPr>
          <p:cNvPr id="45" name="Text 35"/>
          <p:cNvSpPr/>
          <p:nvPr/>
        </p:nvSpPr>
        <p:spPr>
          <a:xfrm>
            <a:off x="6583680" y="5166360"/>
            <a:ext cx="4206240" cy="457200"/>
          </a:xfrm>
          <a:prstGeom prst="rect">
            <a:avLst/>
          </a:prstGeom>
          <a:noFill/>
        </p:spPr>
        <p:txBody>
          <a:bodyPr wrap="square" rtlCol="0" anchor="ct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امکان افزودن کانال‌های اطلاع‌رسانی جدید (پیامک، ایمیل)</a:t>
            </a:r>
            <a:endParaRPr lang="en-US" sz="1200" dirty="0"/>
          </a:p>
        </p:txBody>
      </p:sp>
      <p:sp>
        <p:nvSpPr>
          <p:cNvPr id="46" name="Shape 36"/>
          <p:cNvSpPr/>
          <p:nvPr/>
        </p:nvSpPr>
        <p:spPr>
          <a:xfrm>
            <a:off x="10872216" y="5742432"/>
            <a:ext cx="384048" cy="384048"/>
          </a:xfrm>
          <a:prstGeom prst="ellipse">
            <a:avLst/>
          </a:prstGeom>
          <a:solidFill>
            <a:srgbClr val="1E9E6C"/>
          </a:solidFill>
          <a:effectLst>
            <a:outerShdw blurRad="76200" dist="25400" dir="5400000" algn="bl" rotWithShape="0">
              <a:srgbClr val="1B2A4A">
                <a:alpha val="25000"/>
              </a:srgbClr>
            </a:outerShdw>
          </a:effectLst>
        </p:spPr>
      </p:sp>
      <p:pic>
        <p:nvPicPr>
          <p:cNvPr id="47" name="Image 8" descr="/home/claude/build/icons/check.png"/>
          <p:cNvPicPr>
            <a:picLocks noChangeAspect="1"/>
          </p:cNvPicPr>
          <p:nvPr/>
        </p:nvPicPr>
        <p:blipFill>
          <a:blip r:embed="rId5"/>
          <a:stretch>
            <a:fillRect/>
          </a:stretch>
        </p:blipFill>
        <p:spPr>
          <a:xfrm>
            <a:off x="10972068" y="5842284"/>
            <a:ext cx="184343" cy="184343"/>
          </a:xfrm>
          <a:prstGeom prst="rect">
            <a:avLst/>
          </a:prstGeom>
        </p:spPr>
      </p:pic>
      <p:sp>
        <p:nvSpPr>
          <p:cNvPr id="48" name="Text 37"/>
          <p:cNvSpPr/>
          <p:nvPr/>
        </p:nvSpPr>
        <p:spPr>
          <a:xfrm>
            <a:off x="6583680" y="5715000"/>
            <a:ext cx="4206240" cy="457200"/>
          </a:xfrm>
          <a:prstGeom prst="rect">
            <a:avLst/>
          </a:prstGeom>
          <a:noFill/>
        </p:spPr>
        <p:txBody>
          <a:bodyPr wrap="square" rtlCol="0" anchor="ct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سازگار با اصل Open/Closed (OCP)</a:t>
            </a:r>
            <a:endParaRPr lang="en-US" sz="1200" dirty="0"/>
          </a:p>
        </p:txBody>
      </p:sp>
      <p:sp>
        <p:nvSpPr>
          <p:cNvPr id="49" name="Text 38"/>
          <p:cNvSpPr/>
          <p:nvPr/>
        </p:nvSpPr>
        <p:spPr>
          <a:xfrm>
            <a:off x="11548872" y="6446520"/>
            <a:ext cx="365760" cy="274320"/>
          </a:xfrm>
          <a:prstGeom prst="rect">
            <a:avLst/>
          </a:prstGeom>
          <a:noFill/>
        </p:spPr>
        <p:txBody>
          <a:bodyPr wrap="square" rtlCol="0" anchor="ctr"/>
          <a:lstStyle/>
          <a:p>
            <a:pPr marL="0" indent="0" algn="l">
              <a:buNone/>
            </a:pPr>
            <a:r>
              <a:rPr lang="en-US" sz="1100" dirty="0">
                <a:solidFill>
                  <a:srgbClr val="5B7285"/>
                </a:solidFill>
                <a:latin typeface="Arial" panose="020B0604020202020204" pitchFamily="34" charset="0"/>
                <a:ea typeface="Arial" panose="020B0604020202020204" pitchFamily="34" charset="-122"/>
                <a:cs typeface="Arial" panose="020B0604020202020204"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908792" cy="640080"/>
          </a:xfrm>
          <a:prstGeom prst="rect">
            <a:avLst/>
          </a:prstGeom>
          <a:noFill/>
        </p:spPr>
        <p:txBody>
          <a:bodyPr wrap="square" rtlCol="0" anchor="ctr"/>
          <a:lstStyle/>
          <a:p>
            <a:pPr marL="0" indent="0" algn="r" rtl="1">
              <a:buNone/>
            </a:pPr>
            <a:r>
              <a:rPr lang="en-US" sz="2800" b="1" dirty="0">
                <a:solidFill>
                  <a:srgbClr val="13314D"/>
                </a:solidFill>
                <a:latin typeface="Arial" panose="020B0604020202020204" pitchFamily="34" charset="0"/>
                <a:ea typeface="Arial" panose="020B0604020202020204" pitchFamily="34" charset="-122"/>
                <a:cs typeface="Arial" panose="020B0604020202020204" pitchFamily="34" charset="-120"/>
              </a:rPr>
              <a:t>الگوی طراحی Strategy</a:t>
            </a:r>
            <a:endParaRPr lang="en-US" sz="2800" dirty="0"/>
          </a:p>
        </p:txBody>
      </p:sp>
      <p:sp>
        <p:nvSpPr>
          <p:cNvPr id="3" name="Text 1"/>
          <p:cNvSpPr/>
          <p:nvPr/>
        </p:nvSpPr>
        <p:spPr>
          <a:xfrm>
            <a:off x="640080" y="1051560"/>
            <a:ext cx="10908792" cy="365760"/>
          </a:xfrm>
          <a:prstGeom prst="rect">
            <a:avLst/>
          </a:prstGeom>
          <a:noFill/>
        </p:spPr>
        <p:txBody>
          <a:bodyPr wrap="square" rtlCol="0" anchor="ctr"/>
          <a:lstStyle/>
          <a:p>
            <a:pPr marL="0" indent="0" algn="r" rtl="1">
              <a:buNone/>
            </a:pPr>
            <a:r>
              <a:rPr lang="en-US" sz="1400" dirty="0">
                <a:solidFill>
                  <a:srgbClr val="5B7285"/>
                </a:solidFill>
                <a:latin typeface="Arial" panose="020B0604020202020204" pitchFamily="34" charset="0"/>
                <a:ea typeface="Arial" panose="020B0604020202020204" pitchFamily="34" charset="-122"/>
                <a:cs typeface="Arial" panose="020B0604020202020204" pitchFamily="34" charset="-120"/>
              </a:rPr>
              <a:t>مدیریت فرآیند نمره‌دهی و ارزیابی پاسخ‌های دانش‌آموزان</a:t>
            </a:r>
            <a:endParaRPr lang="en-US" sz="1400" dirty="0"/>
          </a:p>
        </p:txBody>
      </p:sp>
      <p:sp>
        <p:nvSpPr>
          <p:cNvPr id="4" name="Shape 2"/>
          <p:cNvSpPr/>
          <p:nvPr/>
        </p:nvSpPr>
        <p:spPr>
          <a:xfrm>
            <a:off x="1828800" y="1600200"/>
            <a:ext cx="2926080" cy="640080"/>
          </a:xfrm>
          <a:prstGeom prst="roundRect">
            <a:avLst>
              <a:gd name="adj" fmla="val 11429"/>
            </a:avLst>
          </a:prstGeom>
          <a:solidFill>
            <a:srgbClr val="065A82"/>
          </a:solidFill>
        </p:spPr>
      </p:sp>
      <p:sp>
        <p:nvSpPr>
          <p:cNvPr id="5" name="Text 3"/>
          <p:cNvSpPr/>
          <p:nvPr/>
        </p:nvSpPr>
        <p:spPr>
          <a:xfrm>
            <a:off x="1828800" y="1600200"/>
            <a:ext cx="2926080" cy="640080"/>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GradeService (Context)</a:t>
            </a:r>
            <a:endParaRPr lang="en-US" sz="1300" dirty="0"/>
          </a:p>
        </p:txBody>
      </p:sp>
      <p:sp>
        <p:nvSpPr>
          <p:cNvPr id="6" name="Shape 4"/>
          <p:cNvSpPr/>
          <p:nvPr/>
        </p:nvSpPr>
        <p:spPr>
          <a:xfrm>
            <a:off x="3291840" y="2240280"/>
            <a:ext cx="0" cy="365760"/>
          </a:xfrm>
          <a:prstGeom prst="line">
            <a:avLst/>
          </a:prstGeom>
          <a:noFill/>
          <a:ln w="25400">
            <a:solidFill>
              <a:srgbClr val="1C7293"/>
            </a:solidFill>
            <a:prstDash val="solid"/>
            <a:tailEnd type="triangle"/>
          </a:ln>
        </p:spPr>
      </p:sp>
      <p:sp>
        <p:nvSpPr>
          <p:cNvPr id="7" name="Shape 5"/>
          <p:cNvSpPr/>
          <p:nvPr/>
        </p:nvSpPr>
        <p:spPr>
          <a:xfrm>
            <a:off x="1554480" y="2606040"/>
            <a:ext cx="3474720" cy="548640"/>
          </a:xfrm>
          <a:prstGeom prst="roundRect">
            <a:avLst>
              <a:gd name="adj" fmla="val 13333"/>
            </a:avLst>
          </a:prstGeom>
          <a:solidFill>
            <a:srgbClr val="1C7293"/>
          </a:solidFill>
        </p:spPr>
      </p:sp>
      <p:sp>
        <p:nvSpPr>
          <p:cNvPr id="8" name="Text 6"/>
          <p:cNvSpPr/>
          <p:nvPr/>
        </p:nvSpPr>
        <p:spPr>
          <a:xfrm>
            <a:off x="1554480" y="2606040"/>
            <a:ext cx="3474720" cy="548640"/>
          </a:xfrm>
          <a:prstGeom prst="rect">
            <a:avLst/>
          </a:prstGeom>
          <a:noFill/>
        </p:spPr>
        <p:txBody>
          <a:bodyPr wrap="square" rtlCol="0" anchor="ctr"/>
          <a:lstStyle/>
          <a:p>
            <a:pPr marL="0" indent="0" algn="ctr">
              <a:buNone/>
            </a:pPr>
            <a:r>
              <a:rPr lang="en-US" sz="1200" b="1" i="1" dirty="0">
                <a:solidFill>
                  <a:srgbClr val="FFFFFF"/>
                </a:solidFill>
                <a:latin typeface="Calibri" panose="020F0502020204030204" pitchFamily="34" charset="0"/>
                <a:ea typeface="Calibri" panose="020F0502020204030204" pitchFamily="34" charset="-122"/>
                <a:cs typeface="Calibri" panose="020F0502020204030204" pitchFamily="34" charset="-120"/>
              </a:rPr>
              <a:t>«interface» GradingStrategy</a:t>
            </a:r>
            <a:endParaRPr lang="en-US" sz="1200" dirty="0"/>
          </a:p>
        </p:txBody>
      </p:sp>
      <p:sp>
        <p:nvSpPr>
          <p:cNvPr id="9" name="Shape 7"/>
          <p:cNvSpPr/>
          <p:nvPr/>
        </p:nvSpPr>
        <p:spPr>
          <a:xfrm>
            <a:off x="2057400" y="3154680"/>
            <a:ext cx="1234440" cy="0"/>
          </a:xfrm>
          <a:prstGeom prst="line">
            <a:avLst/>
          </a:prstGeom>
          <a:noFill/>
          <a:ln w="15240">
            <a:solidFill>
              <a:srgbClr val="B9C9D6"/>
            </a:solidFill>
            <a:prstDash val="dash"/>
          </a:ln>
        </p:spPr>
      </p:sp>
      <p:sp>
        <p:nvSpPr>
          <p:cNvPr id="10" name="Shape 8"/>
          <p:cNvSpPr/>
          <p:nvPr/>
        </p:nvSpPr>
        <p:spPr>
          <a:xfrm>
            <a:off x="640080" y="3429000"/>
            <a:ext cx="2834640" cy="777240"/>
          </a:xfrm>
          <a:prstGeom prst="roundRect">
            <a:avLst>
              <a:gd name="adj" fmla="val 9412"/>
            </a:avLst>
          </a:prstGeom>
          <a:solidFill>
            <a:srgbClr val="FFFFFF"/>
          </a:solidFill>
          <a:ln w="16510">
            <a:solidFill>
              <a:srgbClr val="1C7293"/>
            </a:solidFill>
            <a:prstDash val="solid"/>
          </a:ln>
        </p:spPr>
      </p:sp>
      <p:sp>
        <p:nvSpPr>
          <p:cNvPr id="11" name="Text 9"/>
          <p:cNvSpPr/>
          <p:nvPr/>
        </p:nvSpPr>
        <p:spPr>
          <a:xfrm>
            <a:off x="731520" y="3474720"/>
            <a:ext cx="2651760" cy="365760"/>
          </a:xfrm>
          <a:prstGeom prst="rect">
            <a:avLst/>
          </a:prstGeom>
          <a:noFill/>
        </p:spPr>
        <p:txBody>
          <a:bodyPr wrap="square" rtlCol="0" anchor="ctr"/>
          <a:lstStyle/>
          <a:p>
            <a:pPr marL="0" indent="0" algn="ctr">
              <a:buNone/>
            </a:pPr>
            <a:r>
              <a:rPr lang="en-US" sz="1100" b="1" dirty="0">
                <a:solidFill>
                  <a:srgbClr val="065A82"/>
                </a:solidFill>
                <a:latin typeface="Calibri" panose="020F0502020204030204" pitchFamily="34" charset="0"/>
                <a:ea typeface="Calibri" panose="020F0502020204030204" pitchFamily="34" charset="-122"/>
                <a:cs typeface="Calibri" panose="020F0502020204030204" pitchFamily="34" charset="-120"/>
              </a:rPr>
              <a:t>AutoGradingStrategy</a:t>
            </a:r>
            <a:endParaRPr lang="en-US" sz="1100" dirty="0"/>
          </a:p>
        </p:txBody>
      </p:sp>
      <p:sp>
        <p:nvSpPr>
          <p:cNvPr id="12" name="Text 10"/>
          <p:cNvSpPr/>
          <p:nvPr/>
        </p:nvSpPr>
        <p:spPr>
          <a:xfrm>
            <a:off x="731520" y="3840480"/>
            <a:ext cx="2651760" cy="320040"/>
          </a:xfrm>
          <a:prstGeom prst="rect">
            <a:avLst/>
          </a:prstGeom>
          <a:noFill/>
        </p:spPr>
        <p:txBody>
          <a:bodyPr wrap="square" rtlCol="0" anchor="ctr"/>
          <a:lstStyle/>
          <a:p>
            <a:pPr marL="0" indent="0" algn="ctr" rtl="1">
              <a:buNone/>
            </a:pPr>
            <a:r>
              <a:rPr lang="en-US" sz="1050" dirty="0">
                <a:solidFill>
                  <a:srgbClr val="5B7285"/>
                </a:solidFill>
                <a:latin typeface="Arial" panose="020B0604020202020204" pitchFamily="34" charset="0"/>
                <a:ea typeface="Arial" panose="020B0604020202020204" pitchFamily="34" charset="-122"/>
                <a:cs typeface="Arial" panose="020B0604020202020204" pitchFamily="34" charset="-120"/>
              </a:rPr>
              <a:t>خودکار (آزمون تستی)</a:t>
            </a:r>
            <a:endParaRPr lang="en-US" sz="1050" dirty="0"/>
          </a:p>
        </p:txBody>
      </p:sp>
      <p:sp>
        <p:nvSpPr>
          <p:cNvPr id="13" name="Shape 11"/>
          <p:cNvSpPr/>
          <p:nvPr/>
        </p:nvSpPr>
        <p:spPr>
          <a:xfrm>
            <a:off x="3291840" y="3154680"/>
            <a:ext cx="0" cy="0"/>
          </a:xfrm>
          <a:prstGeom prst="line">
            <a:avLst/>
          </a:prstGeom>
          <a:noFill/>
          <a:ln w="15240">
            <a:solidFill>
              <a:srgbClr val="B9C9D6"/>
            </a:solidFill>
            <a:prstDash val="dash"/>
          </a:ln>
        </p:spPr>
      </p:sp>
      <p:sp>
        <p:nvSpPr>
          <p:cNvPr id="14" name="Shape 12"/>
          <p:cNvSpPr/>
          <p:nvPr/>
        </p:nvSpPr>
        <p:spPr>
          <a:xfrm>
            <a:off x="3108960" y="3429000"/>
            <a:ext cx="2834640" cy="777240"/>
          </a:xfrm>
          <a:prstGeom prst="roundRect">
            <a:avLst>
              <a:gd name="adj" fmla="val 9412"/>
            </a:avLst>
          </a:prstGeom>
          <a:solidFill>
            <a:srgbClr val="FFFFFF"/>
          </a:solidFill>
          <a:ln w="16510">
            <a:solidFill>
              <a:srgbClr val="1C7293"/>
            </a:solidFill>
            <a:prstDash val="solid"/>
          </a:ln>
        </p:spPr>
      </p:sp>
      <p:sp>
        <p:nvSpPr>
          <p:cNvPr id="15" name="Text 13"/>
          <p:cNvSpPr/>
          <p:nvPr/>
        </p:nvSpPr>
        <p:spPr>
          <a:xfrm>
            <a:off x="3291840" y="3535680"/>
            <a:ext cx="2651760" cy="290195"/>
          </a:xfrm>
          <a:prstGeom prst="rect">
            <a:avLst/>
          </a:prstGeom>
          <a:noFill/>
        </p:spPr>
        <p:txBody>
          <a:bodyPr wrap="square" rtlCol="0" anchor="ctr"/>
          <a:lstStyle/>
          <a:p>
            <a:pPr marL="0" indent="0" algn="ctr">
              <a:buNone/>
            </a:pPr>
            <a:r>
              <a:rPr lang="en-US" sz="1100" b="1" dirty="0">
                <a:solidFill>
                  <a:srgbClr val="065A82"/>
                </a:solidFill>
                <a:latin typeface="Calibri" panose="020F0502020204030204" pitchFamily="34" charset="0"/>
                <a:ea typeface="Calibri" panose="020F0502020204030204" pitchFamily="34" charset="-122"/>
                <a:cs typeface="Calibri" panose="020F0502020204030204" pitchFamily="34" charset="-120"/>
              </a:rPr>
              <a:t>ManualGradingStrategy</a:t>
            </a:r>
            <a:endParaRPr lang="en-US" sz="1100" dirty="0"/>
          </a:p>
        </p:txBody>
      </p:sp>
      <p:sp>
        <p:nvSpPr>
          <p:cNvPr id="16" name="Text 14"/>
          <p:cNvSpPr/>
          <p:nvPr/>
        </p:nvSpPr>
        <p:spPr>
          <a:xfrm>
            <a:off x="3556000" y="3822065"/>
            <a:ext cx="2651760" cy="320040"/>
          </a:xfrm>
          <a:prstGeom prst="rect">
            <a:avLst/>
          </a:prstGeom>
          <a:noFill/>
        </p:spPr>
        <p:txBody>
          <a:bodyPr wrap="square" rtlCol="0" anchor="ctr"/>
          <a:lstStyle/>
          <a:p>
            <a:pPr marL="0" indent="0" algn="ctr" rtl="1">
              <a:buNone/>
            </a:pPr>
            <a:r>
              <a:rPr lang="en-US" sz="1050" dirty="0">
                <a:solidFill>
                  <a:srgbClr val="5B7285"/>
                </a:solidFill>
                <a:latin typeface="Arial" panose="020B0604020202020204" pitchFamily="34" charset="0"/>
                <a:ea typeface="Arial" panose="020B0604020202020204" pitchFamily="34" charset="-122"/>
                <a:cs typeface="Arial" panose="020B0604020202020204" pitchFamily="34" charset="-120"/>
              </a:rPr>
              <a:t>دستی (توسط معلم)</a:t>
            </a:r>
            <a:endParaRPr lang="en-US" sz="1050" dirty="0"/>
          </a:p>
        </p:txBody>
      </p:sp>
      <p:sp>
        <p:nvSpPr>
          <p:cNvPr id="17" name="Shape 15"/>
          <p:cNvSpPr/>
          <p:nvPr/>
        </p:nvSpPr>
        <p:spPr>
          <a:xfrm>
            <a:off x="3291840" y="3154680"/>
            <a:ext cx="3977640" cy="0"/>
          </a:xfrm>
          <a:prstGeom prst="line">
            <a:avLst/>
          </a:prstGeom>
          <a:noFill/>
          <a:ln w="15240">
            <a:solidFill>
              <a:srgbClr val="B9C9D6"/>
            </a:solidFill>
            <a:prstDash val="dash"/>
          </a:ln>
        </p:spPr>
      </p:sp>
      <p:sp>
        <p:nvSpPr>
          <p:cNvPr id="18" name="Shape 16"/>
          <p:cNvSpPr/>
          <p:nvPr/>
        </p:nvSpPr>
        <p:spPr>
          <a:xfrm>
            <a:off x="5852160" y="3429000"/>
            <a:ext cx="2834640" cy="777240"/>
          </a:xfrm>
          <a:prstGeom prst="roundRect">
            <a:avLst>
              <a:gd name="adj" fmla="val 9412"/>
            </a:avLst>
          </a:prstGeom>
          <a:solidFill>
            <a:srgbClr val="FFFFFF"/>
          </a:solidFill>
          <a:ln w="16510">
            <a:solidFill>
              <a:srgbClr val="1C7293"/>
            </a:solidFill>
            <a:prstDash val="solid"/>
          </a:ln>
        </p:spPr>
      </p:sp>
      <p:sp>
        <p:nvSpPr>
          <p:cNvPr id="19" name="Text 17"/>
          <p:cNvSpPr/>
          <p:nvPr/>
        </p:nvSpPr>
        <p:spPr>
          <a:xfrm>
            <a:off x="5943600" y="3474720"/>
            <a:ext cx="2651760" cy="365760"/>
          </a:xfrm>
          <a:prstGeom prst="rect">
            <a:avLst/>
          </a:prstGeom>
          <a:noFill/>
        </p:spPr>
        <p:txBody>
          <a:bodyPr wrap="square" rtlCol="0" anchor="ctr"/>
          <a:lstStyle/>
          <a:p>
            <a:pPr marL="0" indent="0" algn="ctr">
              <a:buNone/>
            </a:pPr>
            <a:r>
              <a:rPr lang="en-US" sz="1100" b="1" dirty="0">
                <a:solidFill>
                  <a:srgbClr val="065A82"/>
                </a:solidFill>
                <a:latin typeface="Calibri" panose="020F0502020204030204" pitchFamily="34" charset="0"/>
                <a:ea typeface="Calibri" panose="020F0502020204030204" pitchFamily="34" charset="-122"/>
                <a:cs typeface="Calibri" panose="020F0502020204030204" pitchFamily="34" charset="-120"/>
              </a:rPr>
              <a:t>LatePenaltyGradingStrategy</a:t>
            </a:r>
            <a:endParaRPr lang="en-US" sz="1100" dirty="0"/>
          </a:p>
        </p:txBody>
      </p:sp>
      <p:sp>
        <p:nvSpPr>
          <p:cNvPr id="20" name="Text 18"/>
          <p:cNvSpPr/>
          <p:nvPr/>
        </p:nvSpPr>
        <p:spPr>
          <a:xfrm>
            <a:off x="6035040" y="3796030"/>
            <a:ext cx="2651760" cy="320040"/>
          </a:xfrm>
          <a:prstGeom prst="rect">
            <a:avLst/>
          </a:prstGeom>
          <a:noFill/>
        </p:spPr>
        <p:txBody>
          <a:bodyPr wrap="square" rtlCol="0" anchor="ctr"/>
          <a:lstStyle/>
          <a:p>
            <a:pPr marL="0" indent="0" algn="ctr" rtl="1">
              <a:buNone/>
            </a:pPr>
            <a:r>
              <a:rPr lang="en-US" sz="1050" dirty="0">
                <a:solidFill>
                  <a:srgbClr val="5B7285"/>
                </a:solidFill>
                <a:latin typeface="Arial" panose="020B0604020202020204" pitchFamily="34" charset="0"/>
                <a:ea typeface="Arial" panose="020B0604020202020204" pitchFamily="34" charset="-122"/>
                <a:cs typeface="Arial" panose="020B0604020202020204" pitchFamily="34" charset="-120"/>
              </a:rPr>
              <a:t>کسر نمره بابت تأخیر</a:t>
            </a:r>
            <a:endParaRPr lang="en-US" sz="1050" dirty="0"/>
          </a:p>
        </p:txBody>
      </p:sp>
      <p:sp>
        <p:nvSpPr>
          <p:cNvPr id="21" name="Shape 19"/>
          <p:cNvSpPr/>
          <p:nvPr/>
        </p:nvSpPr>
        <p:spPr>
          <a:xfrm>
            <a:off x="3291840" y="4206240"/>
            <a:ext cx="0" cy="320040"/>
          </a:xfrm>
          <a:prstGeom prst="line">
            <a:avLst/>
          </a:prstGeom>
          <a:noFill/>
          <a:ln w="25400">
            <a:solidFill>
              <a:srgbClr val="1C7293"/>
            </a:solidFill>
            <a:prstDash val="solid"/>
            <a:tailEnd type="triangle"/>
          </a:ln>
        </p:spPr>
      </p:sp>
      <p:sp>
        <p:nvSpPr>
          <p:cNvPr id="22" name="Shape 20"/>
          <p:cNvSpPr/>
          <p:nvPr/>
        </p:nvSpPr>
        <p:spPr>
          <a:xfrm>
            <a:off x="2103120" y="4526280"/>
            <a:ext cx="2377440" cy="502920"/>
          </a:xfrm>
          <a:prstGeom prst="roundRect">
            <a:avLst>
              <a:gd name="adj" fmla="val 14545"/>
            </a:avLst>
          </a:prstGeom>
          <a:solidFill>
            <a:srgbClr val="1B2A4A"/>
          </a:solidFill>
        </p:spPr>
      </p:sp>
      <p:sp>
        <p:nvSpPr>
          <p:cNvPr id="23" name="Text 21"/>
          <p:cNvSpPr/>
          <p:nvPr/>
        </p:nvSpPr>
        <p:spPr>
          <a:xfrm>
            <a:off x="2103120" y="4526280"/>
            <a:ext cx="2377440" cy="502920"/>
          </a:xfrm>
          <a:prstGeom prst="rect">
            <a:avLst/>
          </a:prstGeom>
          <a:noFill/>
        </p:spPr>
        <p:txBody>
          <a:bodyPr wrap="square"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Submission → Grade</a:t>
            </a:r>
            <a:endParaRPr lang="en-US" sz="1150" dirty="0"/>
          </a:p>
        </p:txBody>
      </p:sp>
      <p:sp>
        <p:nvSpPr>
          <p:cNvPr id="25" name="Text 23"/>
          <p:cNvSpPr/>
          <p:nvPr/>
        </p:nvSpPr>
        <p:spPr>
          <a:xfrm>
            <a:off x="7828915" y="1851660"/>
            <a:ext cx="3483610" cy="343535"/>
          </a:xfrm>
          <a:prstGeom prst="rect">
            <a:avLst/>
          </a:prstGeom>
          <a:noFill/>
        </p:spPr>
        <p:txBody>
          <a:bodyPr wrap="square" rtlCol="0" anchor="ctr"/>
          <a:lstStyle/>
          <a:p>
            <a:pPr marL="0" indent="0" algn="r" rtl="1">
              <a:buNone/>
            </a:pPr>
            <a:r>
              <a:rPr lang="en-US" sz="1600" b="1" dirty="0">
                <a:solidFill>
                  <a:srgbClr val="065A82"/>
                </a:solidFill>
                <a:latin typeface="Arial" panose="020B0604020202020204" pitchFamily="34" charset="0"/>
                <a:ea typeface="Arial" panose="020B0604020202020204" pitchFamily="34" charset="-122"/>
                <a:cs typeface="Arial" panose="020B0604020202020204" pitchFamily="34" charset="-120"/>
              </a:rPr>
              <a:t>توجیه انتخاب</a:t>
            </a:r>
            <a:endParaRPr lang="en-US" sz="1600" dirty="0"/>
          </a:p>
        </p:txBody>
      </p:sp>
      <p:sp>
        <p:nvSpPr>
          <p:cNvPr id="27" name="Shape 25"/>
          <p:cNvSpPr/>
          <p:nvPr/>
        </p:nvSpPr>
        <p:spPr>
          <a:xfrm>
            <a:off x="5467350" y="5607685"/>
            <a:ext cx="3483610" cy="635"/>
          </a:xfrm>
          <a:prstGeom prst="line">
            <a:avLst/>
          </a:prstGeom>
          <a:noFill/>
          <a:ln w="12700">
            <a:solidFill>
              <a:srgbClr val="E3EAF0"/>
            </a:solidFill>
            <a:prstDash val="solid"/>
          </a:ln>
        </p:spPr>
      </p:sp>
      <p:sp>
        <p:nvSpPr>
          <p:cNvPr id="30" name="Text 27"/>
          <p:cNvSpPr/>
          <p:nvPr/>
        </p:nvSpPr>
        <p:spPr>
          <a:xfrm>
            <a:off x="8184515" y="2259965"/>
            <a:ext cx="3128010" cy="372745"/>
          </a:xfrm>
          <a:prstGeom prst="rect">
            <a:avLst/>
          </a:prstGeom>
          <a:noFill/>
        </p:spPr>
        <p:txBody>
          <a:bodyPr wrap="square" rtlCol="0" anchor="ctr"/>
          <a:lstStyle/>
          <a:p>
            <a:pPr marL="0" indent="0" algn="r" rtl="1">
              <a:buNone/>
            </a:pPr>
            <a:r>
              <a:rPr lang="en-US" sz="1250" dirty="0">
                <a:solidFill>
                  <a:srgbClr val="13314D"/>
                </a:solidFill>
                <a:latin typeface="Arial" panose="020B0604020202020204" pitchFamily="34" charset="0"/>
                <a:ea typeface="Arial" panose="020B0604020202020204" pitchFamily="34" charset="-122"/>
                <a:cs typeface="Arial" panose="020B0604020202020204" pitchFamily="34" charset="-120"/>
              </a:rPr>
              <a:t>جداسازی منطق نمره‌دهی از کلاس‌های دامنه</a:t>
            </a:r>
            <a:endParaRPr lang="en-US" sz="1250" dirty="0"/>
          </a:p>
        </p:txBody>
      </p:sp>
      <p:sp>
        <p:nvSpPr>
          <p:cNvPr id="33" name="Text 29"/>
          <p:cNvSpPr/>
          <p:nvPr/>
        </p:nvSpPr>
        <p:spPr>
          <a:xfrm>
            <a:off x="8184515" y="2644140"/>
            <a:ext cx="3128010" cy="381635"/>
          </a:xfrm>
          <a:prstGeom prst="rect">
            <a:avLst/>
          </a:prstGeom>
          <a:noFill/>
        </p:spPr>
        <p:txBody>
          <a:bodyPr wrap="square" rtlCol="0" anchor="ctr"/>
          <a:lstStyle/>
          <a:p>
            <a:pPr marL="0" indent="0" algn="r" rtl="1">
              <a:buNone/>
            </a:pPr>
            <a:r>
              <a:rPr lang="en-US" sz="1250" dirty="0">
                <a:solidFill>
                  <a:srgbClr val="13314D"/>
                </a:solidFill>
                <a:latin typeface="Arial" panose="020B0604020202020204" pitchFamily="34" charset="0"/>
                <a:ea typeface="Arial" panose="020B0604020202020204" pitchFamily="34" charset="-122"/>
                <a:cs typeface="Arial" panose="020B0604020202020204" pitchFamily="34" charset="-120"/>
              </a:rPr>
              <a:t>جلوگیری از شرط‌های پیچیده در GradeService</a:t>
            </a:r>
            <a:endParaRPr lang="en-US" sz="1250" dirty="0"/>
          </a:p>
        </p:txBody>
      </p:sp>
      <p:sp>
        <p:nvSpPr>
          <p:cNvPr id="36" name="Text 31"/>
          <p:cNvSpPr/>
          <p:nvPr/>
        </p:nvSpPr>
        <p:spPr>
          <a:xfrm>
            <a:off x="8184515" y="3059430"/>
            <a:ext cx="3128010" cy="381635"/>
          </a:xfrm>
          <a:prstGeom prst="rect">
            <a:avLst/>
          </a:prstGeom>
          <a:noFill/>
        </p:spPr>
        <p:txBody>
          <a:bodyPr wrap="square" rtlCol="0" anchor="ctr"/>
          <a:lstStyle/>
          <a:p>
            <a:pPr marL="0" indent="0" algn="r" rtl="1">
              <a:buNone/>
            </a:pPr>
            <a:r>
              <a:rPr lang="en-US" sz="1250" dirty="0">
                <a:solidFill>
                  <a:srgbClr val="13314D"/>
                </a:solidFill>
                <a:latin typeface="Arial" panose="020B0604020202020204" pitchFamily="34" charset="0"/>
                <a:ea typeface="Arial" panose="020B0604020202020204" pitchFamily="34" charset="-122"/>
                <a:cs typeface="Arial" panose="020B0604020202020204" pitchFamily="34" charset="-120"/>
              </a:rPr>
              <a:t>سازگار با اصول OCP و DIP</a:t>
            </a:r>
            <a:endParaRPr lang="en-US" sz="1250" dirty="0"/>
          </a:p>
        </p:txBody>
      </p:sp>
      <p:sp>
        <p:nvSpPr>
          <p:cNvPr id="37" name="Text 32"/>
          <p:cNvSpPr/>
          <p:nvPr/>
        </p:nvSpPr>
        <p:spPr>
          <a:xfrm>
            <a:off x="11548872" y="6446520"/>
            <a:ext cx="365760" cy="274320"/>
          </a:xfrm>
          <a:prstGeom prst="rect">
            <a:avLst/>
          </a:prstGeom>
          <a:noFill/>
        </p:spPr>
        <p:txBody>
          <a:bodyPr wrap="square" rtlCol="0" anchor="ctr"/>
          <a:lstStyle/>
          <a:p>
            <a:pPr marL="0" indent="0" algn="l">
              <a:buNone/>
            </a:pPr>
            <a:r>
              <a:rPr lang="en-US" sz="1100" dirty="0">
                <a:solidFill>
                  <a:srgbClr val="5B7285"/>
                </a:solidFill>
                <a:latin typeface="Arial" panose="020B0604020202020204" pitchFamily="34" charset="0"/>
                <a:ea typeface="Arial" panose="020B0604020202020204" pitchFamily="34" charset="-122"/>
                <a:cs typeface="Arial" panose="020B0604020202020204"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908792" cy="731520"/>
          </a:xfrm>
          <a:prstGeom prst="rect">
            <a:avLst/>
          </a:prstGeom>
          <a:noFill/>
        </p:spPr>
        <p:txBody>
          <a:bodyPr wrap="square" rtlCol="0" anchor="ctr"/>
          <a:lstStyle/>
          <a:p>
            <a:pPr marL="0" indent="0" algn="r" rtl="1">
              <a:buNone/>
            </a:pPr>
            <a:r>
              <a:rPr lang="en-US" sz="3000" b="1" dirty="0">
                <a:solidFill>
                  <a:srgbClr val="13314D"/>
                </a:solidFill>
                <a:latin typeface="Arial" panose="020B0604020202020204" pitchFamily="34" charset="0"/>
                <a:ea typeface="Arial" panose="020B0604020202020204" pitchFamily="34" charset="-122"/>
                <a:cs typeface="Arial" panose="020B0604020202020204" pitchFamily="34" charset="-120"/>
              </a:rPr>
              <a:t>جمع‌بندی الگوهای طراحی GoF</a:t>
            </a:r>
            <a:endParaRPr lang="en-US" sz="3000" dirty="0"/>
          </a:p>
        </p:txBody>
      </p:sp>
      <p:graphicFrame>
        <p:nvGraphicFramePr>
          <p:cNvPr id="15" name="Table 0"/>
          <p:cNvGraphicFramePr>
            <a:graphicFrameLocks noGrp="1"/>
          </p:cNvGraphicFramePr>
          <p:nvPr/>
        </p:nvGraphicFramePr>
        <p:xfrm>
          <a:off x="640080" y="1463040"/>
          <a:ext cx="11274552" cy="3291840"/>
        </p:xfrm>
        <a:graphic>
          <a:graphicData uri="http://schemas.openxmlformats.org/drawingml/2006/table">
            <a:tbl>
              <a:tblPr/>
              <a:tblGrid>
                <a:gridCol w="3291840"/>
                <a:gridCol w="3776472"/>
                <a:gridCol w="2743200"/>
                <a:gridCol w="1463040"/>
              </a:tblGrid>
              <a:tr h="548640">
                <a:tc>
                  <a:txBody>
                    <a:bodyPr/>
                    <a:lstStyle/>
                    <a:p>
                      <a:pPr marL="0" indent="0" algn="ctr" rtl="1">
                        <a:buNone/>
                      </a:pPr>
                      <a:r>
                        <a:rPr lang="en-US" sz="1350" b="1" dirty="0">
                          <a:solidFill>
                            <a:srgbClr val="FFFFFF"/>
                          </a:solidFill>
                          <a:latin typeface="Arial" panose="020B0604020202020204" pitchFamily="34" charset="0"/>
                          <a:ea typeface="Arial" panose="020B0604020202020204" pitchFamily="34" charset="-122"/>
                          <a:cs typeface="Arial" panose="020B0604020202020204" pitchFamily="34" charset="-120"/>
                        </a:rPr>
                        <a:t>دلیل انتخاب</a:t>
                      </a:r>
                      <a:endParaRPr lang="en-US" sz="135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solidFill>
                      <a:srgbClr val="065A82"/>
                    </a:solidFill>
                  </a:tcPr>
                </a:tc>
                <a:tc>
                  <a:txBody>
                    <a:bodyPr/>
                    <a:lstStyle/>
                    <a:p>
                      <a:pPr marL="0" indent="0" algn="ctr" rtl="1">
                        <a:buNone/>
                      </a:pPr>
                      <a:r>
                        <a:rPr lang="en-US" sz="1350" b="1" dirty="0">
                          <a:solidFill>
                            <a:srgbClr val="FFFFFF"/>
                          </a:solidFill>
                          <a:latin typeface="Arial" panose="020B0604020202020204" pitchFamily="34" charset="0"/>
                          <a:ea typeface="Arial" panose="020B0604020202020204" pitchFamily="34" charset="-122"/>
                          <a:cs typeface="Arial" panose="020B0604020202020204" pitchFamily="34" charset="-120"/>
                        </a:rPr>
                        <a:t>کلاس‌های مرتبط</a:t>
                      </a:r>
                      <a:endParaRPr lang="en-US" sz="135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solidFill>
                      <a:srgbClr val="065A82"/>
                    </a:solidFill>
                  </a:tcPr>
                </a:tc>
                <a:tc>
                  <a:txBody>
                    <a:bodyPr/>
                    <a:lstStyle/>
                    <a:p>
                      <a:pPr marL="0" indent="0" algn="ctr" rtl="1">
                        <a:buNone/>
                      </a:pPr>
                      <a:r>
                        <a:rPr lang="en-US" sz="1350" b="1" dirty="0">
                          <a:solidFill>
                            <a:srgbClr val="FFFFFF"/>
                          </a:solidFill>
                          <a:latin typeface="Arial" panose="020B0604020202020204" pitchFamily="34" charset="0"/>
                          <a:ea typeface="Arial" panose="020B0604020202020204" pitchFamily="34" charset="-122"/>
                          <a:cs typeface="Arial" panose="020B0604020202020204" pitchFamily="34" charset="-120"/>
                        </a:rPr>
                        <a:t>محل استفاده</a:t>
                      </a:r>
                      <a:endParaRPr lang="en-US" sz="135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solidFill>
                      <a:srgbClr val="065A82"/>
                    </a:solidFill>
                  </a:tcPr>
                </a:tc>
                <a:tc>
                  <a:txBody>
                    <a:bodyPr/>
                    <a:lstStyle/>
                    <a:p>
                      <a:pPr marL="0" indent="0" algn="ctr" rtl="1">
                        <a:buNone/>
                      </a:pPr>
                      <a:r>
                        <a:rPr lang="en-US" sz="1350" b="1" dirty="0">
                          <a:solidFill>
                            <a:srgbClr val="FFFFFF"/>
                          </a:solidFill>
                          <a:latin typeface="Arial" panose="020B0604020202020204" pitchFamily="34" charset="0"/>
                          <a:ea typeface="Arial" panose="020B0604020202020204" pitchFamily="34" charset="-122"/>
                          <a:cs typeface="Arial" panose="020B0604020202020204" pitchFamily="34" charset="-120"/>
                        </a:rPr>
                        <a:t>الگو</a:t>
                      </a:r>
                      <a:endParaRPr lang="en-US" sz="135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solidFill>
                      <a:srgbClr val="065A82"/>
                    </a:solidFill>
                  </a:tcPr>
                </a:tc>
              </a:tr>
              <a:tr h="1371600">
                <a:tc>
                  <a:txBody>
                    <a:bodyP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کاهش وابستگی بین کلاس‌ها و اطلاع‌رسانی خودکار</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l">
                        <a:buNone/>
                      </a:pPr>
                      <a:r>
                        <a:rPr lang="en-US" sz="950" dirty="0">
                          <a:solidFill>
                            <a:srgbClr val="5B7285"/>
                          </a:solidFill>
                          <a:latin typeface="Consolas" panose="020B0609020204030204" pitchFamily="34" charset="0"/>
                          <a:ea typeface="Consolas" panose="020B0609020204030204" pitchFamily="34" charset="-122"/>
                          <a:cs typeface="Consolas" panose="020B0609020204030204" pitchFamily="34" charset="-120"/>
                        </a:rPr>
                        <a:t>DomainEvent, EventPublisher, EventListener, NotificationEventListener, NotificationService, Notification</a:t>
                      </a:r>
                      <a:endParaRPr lang="en-US" sz="950" dirty="0">
                        <a:latin typeface="Consolas" panose="020B0609020204030204" pitchFamily="34" charset="0"/>
                        <a:ea typeface="Consolas" panose="020B0609020204030204" pitchFamily="34" charset="0"/>
                        <a:cs typeface="Consolas" panose="020B0609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مدیریت اعلان‌ها — Assignment, Exam, ClassSession</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ctr">
                        <a:buNone/>
                      </a:pPr>
                      <a:r>
                        <a:rPr lang="en-US" sz="1400" b="1" dirty="0">
                          <a:solidFill>
                            <a:srgbClr val="1C7293"/>
                          </a:solidFill>
                          <a:latin typeface="Calibri" panose="020F0502020204030204" pitchFamily="34" charset="0"/>
                          <a:ea typeface="Calibri" panose="020F0502020204030204" pitchFamily="34" charset="-122"/>
                          <a:cs typeface="Calibri" panose="020F0502020204030204" pitchFamily="34" charset="-120"/>
                        </a:rPr>
                        <a:t>Observer</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r h="1371600">
                <a:tc>
                  <a:txBody>
                    <a:bodyP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جداسازی الگوریتم‌های نمره‌دهی و افزایش قابلیت توسعه</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l">
                        <a:buNone/>
                      </a:pPr>
                      <a:r>
                        <a:rPr lang="en-US" sz="950" dirty="0">
                          <a:solidFill>
                            <a:srgbClr val="5B7285"/>
                          </a:solidFill>
                          <a:latin typeface="Consolas" panose="020B0609020204030204" pitchFamily="34" charset="0"/>
                          <a:ea typeface="Consolas" panose="020B0609020204030204" pitchFamily="34" charset="-122"/>
                          <a:cs typeface="Consolas" panose="020B0609020204030204" pitchFamily="34" charset="-120"/>
                        </a:rPr>
                        <a:t>GradeService, Submission, GradingStrategy, AutoGradingStrategy, ManualGradingStrategy, LatePenaltyGradingStrategy, Grade</a:t>
                      </a:r>
                      <a:endParaRPr lang="en-US" sz="950" dirty="0">
                        <a:latin typeface="Consolas" panose="020B0609020204030204" pitchFamily="34" charset="0"/>
                        <a:ea typeface="Consolas" panose="020B0609020204030204" pitchFamily="34" charset="0"/>
                        <a:cs typeface="Consolas" panose="020B0609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r" rtl="1">
                        <a:buNone/>
                      </a:pPr>
                      <a:r>
                        <a:rPr lang="en-US" sz="1200" dirty="0">
                          <a:solidFill>
                            <a:srgbClr val="13314D"/>
                          </a:solidFill>
                          <a:latin typeface="Arial" panose="020B0604020202020204" pitchFamily="34" charset="0"/>
                          <a:ea typeface="Arial" panose="020B0604020202020204" pitchFamily="34" charset="-122"/>
                          <a:cs typeface="Arial" panose="020B0604020202020204" pitchFamily="34" charset="-120"/>
                        </a:rPr>
                        <a:t>نمره‌دهی و ارزیابی پاسخ‌ها</a:t>
                      </a:r>
                      <a:endParaRPr lang="en-US" sz="12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c>
                  <a:txBody>
                    <a:bodyPr/>
                    <a:lstStyle/>
                    <a:p>
                      <a:pPr marL="0" indent="0" algn="ctr">
                        <a:buNone/>
                      </a:pPr>
                      <a:r>
                        <a:rPr lang="en-US" sz="1400" b="1" dirty="0">
                          <a:solidFill>
                            <a:srgbClr val="1C7293"/>
                          </a:solidFill>
                          <a:latin typeface="Calibri" panose="020F0502020204030204" pitchFamily="34" charset="0"/>
                          <a:ea typeface="Calibri" panose="020F0502020204030204" pitchFamily="34" charset="-122"/>
                          <a:cs typeface="Calibri" panose="020F0502020204030204" pitchFamily="34" charset="-120"/>
                        </a:rPr>
                        <a:t>Strategy</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3EAF0"/>
                      </a:solidFill>
                      <a:prstDash val="solid"/>
                      <a:round/>
                      <a:headEnd type="none" w="med" len="med"/>
                      <a:tailEnd type="none" w="med" len="med"/>
                    </a:lnL>
                    <a:lnR w="12700" cap="flat" cmpd="sng" algn="ctr">
                      <a:solidFill>
                        <a:srgbClr val="E3EAF0"/>
                      </a:solidFill>
                      <a:prstDash val="solid"/>
                      <a:round/>
                      <a:headEnd type="none" w="med" len="med"/>
                      <a:tailEnd type="none" w="med" len="med"/>
                    </a:lnR>
                    <a:lnT w="12700" cap="flat" cmpd="sng" algn="ctr">
                      <a:solidFill>
                        <a:srgbClr val="E3EAF0"/>
                      </a:solidFill>
                      <a:prstDash val="solid"/>
                      <a:round/>
                      <a:headEnd type="none" w="med" len="med"/>
                      <a:tailEnd type="none" w="med" len="med"/>
                    </a:lnT>
                    <a:lnB w="12700" cap="flat" cmpd="sng" algn="ctr">
                      <a:solidFill>
                        <a:srgbClr val="E3EAF0"/>
                      </a:solidFill>
                      <a:prstDash val="solid"/>
                      <a:round/>
                      <a:headEnd type="none" w="med" len="med"/>
                      <a:tailEnd type="none" w="med" len="med"/>
                    </a:lnB>
                  </a:tcPr>
                </a:tc>
              </a:tr>
            </a:tbl>
          </a:graphicData>
        </a:graphic>
      </p:graphicFrame>
      <p:sp>
        <p:nvSpPr>
          <p:cNvPr id="4" name="Shape 1"/>
          <p:cNvSpPr/>
          <p:nvPr/>
        </p:nvSpPr>
        <p:spPr>
          <a:xfrm>
            <a:off x="640080" y="4800600"/>
            <a:ext cx="10908792" cy="1417320"/>
          </a:xfrm>
          <a:prstGeom prst="roundRect">
            <a:avLst>
              <a:gd name="adj" fmla="val 6452"/>
            </a:avLst>
          </a:prstGeom>
          <a:solidFill>
            <a:srgbClr val="1B2A4A"/>
          </a:solidFill>
        </p:spPr>
      </p:sp>
      <p:sp>
        <p:nvSpPr>
          <p:cNvPr id="5" name="Text 2"/>
          <p:cNvSpPr/>
          <p:nvPr/>
        </p:nvSpPr>
        <p:spPr>
          <a:xfrm>
            <a:off x="1005840" y="4983480"/>
            <a:ext cx="10177272" cy="1097280"/>
          </a:xfrm>
          <a:prstGeom prst="rect">
            <a:avLst/>
          </a:prstGeom>
          <a:noFill/>
        </p:spPr>
        <p:txBody>
          <a:bodyPr wrap="square" rtlCol="0" anchor="ctr"/>
          <a:lstStyle/>
          <a:p>
            <a:pPr marL="0" indent="0" algn="r" rtl="1">
              <a:lnSpc>
                <a:spcPct val="135000"/>
              </a:lnSpc>
              <a:buNone/>
            </a:pPr>
            <a:r>
              <a:rPr lang="en-US" sz="1350" dirty="0">
                <a:solidFill>
                  <a:srgbClr val="CADCFC"/>
                </a:solidFill>
                <a:latin typeface="Arial" panose="020B0604020202020204" pitchFamily="34" charset="0"/>
                <a:ea typeface="Arial" panose="020B0604020202020204" pitchFamily="34" charset="-122"/>
                <a:cs typeface="Arial" panose="020B0604020202020204" pitchFamily="34" charset="-120"/>
              </a:rPr>
              <a:t>الگوی Observer مدیریت رویدادها و اطلاع‌رسانی خودکار را بر عهده دارد و الگوی Strategy امکان استفاده از روش‌های مختلف نمره‌دهی را فراهم می‌کند؛ هر دو الگو با اصول OCP و DIP از مجموعه اصول SOLID سازگار هستند.</a:t>
            </a:r>
            <a:endParaRPr lang="en-US" sz="1350" dirty="0"/>
          </a:p>
        </p:txBody>
      </p:sp>
      <p:sp>
        <p:nvSpPr>
          <p:cNvPr id="6" name="Text 3"/>
          <p:cNvSpPr/>
          <p:nvPr/>
        </p:nvSpPr>
        <p:spPr>
          <a:xfrm>
            <a:off x="11548872" y="6446520"/>
            <a:ext cx="365760" cy="274320"/>
          </a:xfrm>
          <a:prstGeom prst="rect">
            <a:avLst/>
          </a:prstGeom>
          <a:noFill/>
        </p:spPr>
        <p:txBody>
          <a:bodyPr wrap="square" rtlCol="0" anchor="ctr"/>
          <a:lstStyle/>
          <a:p>
            <a:pPr marL="0" indent="0" algn="l">
              <a:buNone/>
            </a:pPr>
            <a:r>
              <a:rPr lang="en-US" sz="1100" dirty="0">
                <a:solidFill>
                  <a:srgbClr val="5B7285"/>
                </a:solidFill>
                <a:latin typeface="Arial" panose="020B0604020202020204" pitchFamily="34" charset="0"/>
                <a:ea typeface="Arial" panose="020B0604020202020204" pitchFamily="34" charset="-122"/>
                <a:cs typeface="Arial" panose="020B0604020202020204"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065A82">
              <a:alpha val="40000"/>
            </a:srgbClr>
          </a:solidFill>
        </p:spPr>
      </p:sp>
      <p:sp>
        <p:nvSpPr>
          <p:cNvPr id="3" name="Shape 1"/>
          <p:cNvSpPr/>
          <p:nvPr/>
        </p:nvSpPr>
        <p:spPr>
          <a:xfrm>
            <a:off x="9875520" y="4572000"/>
            <a:ext cx="3840480" cy="3840480"/>
          </a:xfrm>
          <a:prstGeom prst="ellipse">
            <a:avLst/>
          </a:prstGeom>
          <a:solidFill>
            <a:srgbClr val="1C7293">
              <a:alpha val="45000"/>
            </a:srgbClr>
          </a:solidFill>
        </p:spPr>
      </p:sp>
      <p:sp>
        <p:nvSpPr>
          <p:cNvPr id="4" name="Text 2"/>
          <p:cNvSpPr/>
          <p:nvPr/>
        </p:nvSpPr>
        <p:spPr>
          <a:xfrm>
            <a:off x="914400" y="640080"/>
            <a:ext cx="10360152" cy="822960"/>
          </a:xfrm>
          <a:prstGeom prst="rect">
            <a:avLst/>
          </a:prstGeom>
          <a:noFill/>
        </p:spPr>
        <p:txBody>
          <a:bodyPr wrap="square" rtlCol="0" anchor="ctr"/>
          <a:lstStyle/>
          <a:p>
            <a:pPr marL="0" indent="0" algn="ctr" rtl="1">
              <a:buNone/>
            </a:pPr>
            <a:r>
              <a:rPr lang="en-US" sz="3400" b="1" dirty="0">
                <a:solidFill>
                  <a:srgbClr val="FFFFFF"/>
                </a:solidFill>
                <a:latin typeface="Arial" panose="020B0604020202020204" pitchFamily="34" charset="0"/>
                <a:ea typeface="Arial" panose="020B0604020202020204" pitchFamily="34" charset="-122"/>
                <a:cs typeface="Arial" panose="020B0604020202020204" pitchFamily="34" charset="-120"/>
              </a:rPr>
              <a:t>جمع‌بندی نهایی</a:t>
            </a:r>
            <a:endParaRPr lang="en-US" sz="3400" dirty="0"/>
          </a:p>
        </p:txBody>
      </p:sp>
      <p:sp>
        <p:nvSpPr>
          <p:cNvPr id="5" name="Shape 3"/>
          <p:cNvSpPr/>
          <p:nvPr/>
        </p:nvSpPr>
        <p:spPr>
          <a:xfrm>
            <a:off x="822960" y="1920240"/>
            <a:ext cx="4997196" cy="1920240"/>
          </a:xfrm>
          <a:prstGeom prst="roundRect">
            <a:avLst>
              <a:gd name="adj" fmla="val 5714"/>
            </a:avLst>
          </a:prstGeom>
          <a:solidFill>
            <a:srgbClr val="24365C"/>
          </a:solidFill>
        </p:spPr>
        <p:txBody>
          <a:bodyPr/>
          <a:p>
            <a:endParaRPr lang="en-US"/>
          </a:p>
        </p:txBody>
      </p:sp>
      <p:sp>
        <p:nvSpPr>
          <p:cNvPr id="6" name="Shape 4"/>
          <p:cNvSpPr/>
          <p:nvPr/>
        </p:nvSpPr>
        <p:spPr>
          <a:xfrm>
            <a:off x="4745736" y="2125980"/>
            <a:ext cx="777240" cy="777240"/>
          </a:xfrm>
          <a:prstGeom prst="ellipse">
            <a:avLst/>
          </a:prstGeom>
          <a:solidFill>
            <a:srgbClr val="02C39A"/>
          </a:solidFill>
          <a:effectLst>
            <a:outerShdw blurRad="76200" dist="25400" dir="5400000" algn="bl" rotWithShape="0">
              <a:srgbClr val="1B2A4A">
                <a:alpha val="25000"/>
              </a:srgbClr>
            </a:outerShdw>
          </a:effectLst>
        </p:spPr>
      </p:sp>
      <p:pic>
        <p:nvPicPr>
          <p:cNvPr id="7" name="Image 0" descr="/home/claude/build/icons/diagram.png"/>
          <p:cNvPicPr>
            <a:picLocks noChangeAspect="1"/>
          </p:cNvPicPr>
          <p:nvPr/>
        </p:nvPicPr>
        <p:blipFill>
          <a:blip r:embed="rId1"/>
          <a:stretch>
            <a:fillRect/>
          </a:stretch>
        </p:blipFill>
        <p:spPr>
          <a:xfrm>
            <a:off x="4947818" y="2328062"/>
            <a:ext cx="373075" cy="373075"/>
          </a:xfrm>
          <a:prstGeom prst="rect">
            <a:avLst/>
          </a:prstGeom>
        </p:spPr>
      </p:pic>
      <p:sp>
        <p:nvSpPr>
          <p:cNvPr id="8" name="Text 5"/>
          <p:cNvSpPr/>
          <p:nvPr/>
        </p:nvSpPr>
        <p:spPr>
          <a:xfrm>
            <a:off x="1097280" y="2148840"/>
            <a:ext cx="3808476" cy="548640"/>
          </a:xfrm>
          <a:prstGeom prst="rect">
            <a:avLst/>
          </a:prstGeom>
          <a:noFill/>
        </p:spPr>
        <p:txBody>
          <a:bodyPr wrap="square" rtlCol="0" anchor="ctr"/>
          <a:lstStyle/>
          <a:p>
            <a:pPr marL="0" indent="0" algn="r" rtl="1">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معماری خدمت‌گرا و RESTful</a:t>
            </a:r>
            <a:endParaRPr lang="en-US" sz="1600" dirty="0"/>
          </a:p>
        </p:txBody>
      </p:sp>
      <p:sp>
        <p:nvSpPr>
          <p:cNvPr id="9" name="Text 6"/>
          <p:cNvSpPr/>
          <p:nvPr/>
        </p:nvSpPr>
        <p:spPr>
          <a:xfrm>
            <a:off x="1074420" y="2743200"/>
            <a:ext cx="4448556" cy="960120"/>
          </a:xfrm>
          <a:prstGeom prst="rect">
            <a:avLst/>
          </a:prstGeom>
          <a:noFill/>
        </p:spPr>
        <p:txBody>
          <a:bodyPr wrap="square" rtlCol="0" anchor="t"/>
          <a:lstStyle/>
          <a:p>
            <a:pPr marL="0" indent="0" algn="r" rtl="1">
              <a:lnSpc>
                <a:spcPct val="130000"/>
              </a:lnSpc>
              <a:buNone/>
            </a:pPr>
            <a:r>
              <a:rPr lang="en-US" sz="1200" dirty="0">
                <a:solidFill>
                  <a:srgbClr val="B9CBDD"/>
                </a:solidFill>
                <a:latin typeface="Arial" panose="020B0604020202020204" pitchFamily="34" charset="0"/>
                <a:ea typeface="Arial" panose="020B0604020202020204" pitchFamily="34" charset="-122"/>
                <a:cs typeface="Arial" panose="020B0604020202020204" pitchFamily="34" charset="-120"/>
              </a:rPr>
              <a:t>ده سرویس مستقل با قرارداد API استاندارد و نسخه‌بندی‌شده</a:t>
            </a:r>
            <a:endParaRPr lang="en-US" sz="1200" dirty="0"/>
          </a:p>
        </p:txBody>
      </p:sp>
      <p:sp>
        <p:nvSpPr>
          <p:cNvPr id="10" name="Shape 7"/>
          <p:cNvSpPr/>
          <p:nvPr/>
        </p:nvSpPr>
        <p:spPr>
          <a:xfrm>
            <a:off x="6368796" y="1920240"/>
            <a:ext cx="4997196" cy="1920240"/>
          </a:xfrm>
          <a:prstGeom prst="roundRect">
            <a:avLst>
              <a:gd name="adj" fmla="val 5714"/>
            </a:avLst>
          </a:prstGeom>
          <a:solidFill>
            <a:srgbClr val="24365C"/>
          </a:solidFill>
        </p:spPr>
      </p:sp>
      <p:sp>
        <p:nvSpPr>
          <p:cNvPr id="11" name="Shape 8"/>
          <p:cNvSpPr/>
          <p:nvPr/>
        </p:nvSpPr>
        <p:spPr>
          <a:xfrm>
            <a:off x="10291572" y="2125980"/>
            <a:ext cx="777240" cy="777240"/>
          </a:xfrm>
          <a:prstGeom prst="ellipse">
            <a:avLst/>
          </a:prstGeom>
          <a:solidFill>
            <a:srgbClr val="02C39A"/>
          </a:solidFill>
          <a:effectLst>
            <a:outerShdw blurRad="76200" dist="25400" dir="5400000" algn="bl" rotWithShape="0">
              <a:srgbClr val="1B2A4A">
                <a:alpha val="25000"/>
              </a:srgbClr>
            </a:outerShdw>
          </a:effectLst>
        </p:spPr>
      </p:sp>
      <p:pic>
        <p:nvPicPr>
          <p:cNvPr id="12" name="Image 1" descr="/home/claude/build/icons/cube.png"/>
          <p:cNvPicPr>
            <a:picLocks noChangeAspect="1"/>
          </p:cNvPicPr>
          <p:nvPr/>
        </p:nvPicPr>
        <p:blipFill>
          <a:blip r:embed="rId2"/>
          <a:stretch>
            <a:fillRect/>
          </a:stretch>
        </p:blipFill>
        <p:spPr>
          <a:xfrm>
            <a:off x="10493654" y="2328062"/>
            <a:ext cx="373075" cy="373075"/>
          </a:xfrm>
          <a:prstGeom prst="rect">
            <a:avLst/>
          </a:prstGeom>
        </p:spPr>
      </p:pic>
      <p:sp>
        <p:nvSpPr>
          <p:cNvPr id="13" name="Text 9"/>
          <p:cNvSpPr/>
          <p:nvPr/>
        </p:nvSpPr>
        <p:spPr>
          <a:xfrm>
            <a:off x="6643116" y="2148840"/>
            <a:ext cx="3808476" cy="548640"/>
          </a:xfrm>
          <a:prstGeom prst="rect">
            <a:avLst/>
          </a:prstGeom>
          <a:noFill/>
        </p:spPr>
        <p:txBody>
          <a:bodyPr wrap="square" rtlCol="0" anchor="ctr"/>
          <a:lstStyle/>
          <a:p>
            <a:pPr marL="0" indent="0" algn="r" rtl="1">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انطباق با اصول SOLID</a:t>
            </a:r>
            <a:endParaRPr lang="en-US" sz="1600" dirty="0"/>
          </a:p>
        </p:txBody>
      </p:sp>
      <p:sp>
        <p:nvSpPr>
          <p:cNvPr id="14" name="Text 10"/>
          <p:cNvSpPr/>
          <p:nvPr/>
        </p:nvSpPr>
        <p:spPr>
          <a:xfrm>
            <a:off x="6643116" y="2743200"/>
            <a:ext cx="4448556" cy="960120"/>
          </a:xfrm>
          <a:prstGeom prst="rect">
            <a:avLst/>
          </a:prstGeom>
          <a:noFill/>
        </p:spPr>
        <p:txBody>
          <a:bodyPr wrap="square" rtlCol="0" anchor="t"/>
          <a:lstStyle/>
          <a:p>
            <a:pPr marL="0" indent="0" algn="r" rtl="1">
              <a:lnSpc>
                <a:spcPct val="130000"/>
              </a:lnSpc>
              <a:buNone/>
            </a:pPr>
            <a:r>
              <a:rPr lang="en-US" sz="1200" dirty="0">
                <a:solidFill>
                  <a:srgbClr val="B9CBDD"/>
                </a:solidFill>
                <a:latin typeface="Arial" panose="020B0604020202020204" pitchFamily="34" charset="0"/>
                <a:ea typeface="Arial" panose="020B0604020202020204" pitchFamily="34" charset="-122"/>
                <a:cs typeface="Arial" panose="020B0604020202020204" pitchFamily="34" charset="-120"/>
              </a:rPr>
              <a:t>طراحی ماژولار، قابل توسعه و کم‌وابسته با نیاز به بهبود در بخش‌های ترکیبی</a:t>
            </a:r>
            <a:endParaRPr lang="en-US" sz="1200" dirty="0"/>
          </a:p>
        </p:txBody>
      </p:sp>
      <p:sp>
        <p:nvSpPr>
          <p:cNvPr id="15" name="Shape 11"/>
          <p:cNvSpPr/>
          <p:nvPr/>
        </p:nvSpPr>
        <p:spPr>
          <a:xfrm>
            <a:off x="822960" y="4114800"/>
            <a:ext cx="4997196" cy="1920240"/>
          </a:xfrm>
          <a:prstGeom prst="roundRect">
            <a:avLst>
              <a:gd name="adj" fmla="val 5714"/>
            </a:avLst>
          </a:prstGeom>
          <a:solidFill>
            <a:srgbClr val="24365C"/>
          </a:solidFill>
        </p:spPr>
      </p:sp>
      <p:sp>
        <p:nvSpPr>
          <p:cNvPr id="16" name="Shape 12"/>
          <p:cNvSpPr/>
          <p:nvPr/>
        </p:nvSpPr>
        <p:spPr>
          <a:xfrm>
            <a:off x="4745736" y="4320540"/>
            <a:ext cx="777240" cy="777240"/>
          </a:xfrm>
          <a:prstGeom prst="ellipse">
            <a:avLst/>
          </a:prstGeom>
          <a:solidFill>
            <a:srgbClr val="02C39A"/>
          </a:solidFill>
          <a:effectLst>
            <a:outerShdw blurRad="76200" dist="25400" dir="5400000" algn="bl" rotWithShape="0">
              <a:srgbClr val="1B2A4A">
                <a:alpha val="25000"/>
              </a:srgbClr>
            </a:outerShdw>
          </a:effectLst>
        </p:spPr>
      </p:sp>
      <p:pic>
        <p:nvPicPr>
          <p:cNvPr id="17" name="Image 2" descr="/home/claude/build/icons/diagram.png"/>
          <p:cNvPicPr>
            <a:picLocks noChangeAspect="1"/>
          </p:cNvPicPr>
          <p:nvPr/>
        </p:nvPicPr>
        <p:blipFill>
          <a:blip r:embed="rId1"/>
          <a:stretch>
            <a:fillRect/>
          </a:stretch>
        </p:blipFill>
        <p:spPr>
          <a:xfrm>
            <a:off x="4947818" y="4522622"/>
            <a:ext cx="373075" cy="373075"/>
          </a:xfrm>
          <a:prstGeom prst="rect">
            <a:avLst/>
          </a:prstGeom>
        </p:spPr>
      </p:pic>
      <p:sp>
        <p:nvSpPr>
          <p:cNvPr id="18" name="Text 13"/>
          <p:cNvSpPr/>
          <p:nvPr/>
        </p:nvSpPr>
        <p:spPr>
          <a:xfrm>
            <a:off x="1097280" y="4343400"/>
            <a:ext cx="3808476" cy="548640"/>
          </a:xfrm>
          <a:prstGeom prst="rect">
            <a:avLst/>
          </a:prstGeom>
          <a:noFill/>
        </p:spPr>
        <p:txBody>
          <a:bodyPr wrap="square" rtlCol="0" anchor="ctr"/>
          <a:lstStyle/>
          <a:p>
            <a:pPr marL="0" indent="0" algn="r" rtl="1">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الگوهای طراحی GoF</a:t>
            </a:r>
            <a:endParaRPr lang="en-US" sz="1600" dirty="0"/>
          </a:p>
        </p:txBody>
      </p:sp>
      <p:sp>
        <p:nvSpPr>
          <p:cNvPr id="19" name="Text 14"/>
          <p:cNvSpPr/>
          <p:nvPr/>
        </p:nvSpPr>
        <p:spPr>
          <a:xfrm>
            <a:off x="1097280" y="4937760"/>
            <a:ext cx="4448556" cy="960120"/>
          </a:xfrm>
          <a:prstGeom prst="rect">
            <a:avLst/>
          </a:prstGeom>
          <a:noFill/>
        </p:spPr>
        <p:txBody>
          <a:bodyPr wrap="square" rtlCol="0" anchor="t"/>
          <a:lstStyle/>
          <a:p>
            <a:pPr marL="0" indent="0" algn="r" rtl="1">
              <a:lnSpc>
                <a:spcPct val="130000"/>
              </a:lnSpc>
              <a:buNone/>
            </a:pPr>
            <a:r>
              <a:rPr lang="en-US" sz="1200" dirty="0">
                <a:solidFill>
                  <a:srgbClr val="B9CBDD"/>
                </a:solidFill>
                <a:latin typeface="Arial" panose="020B0604020202020204" pitchFamily="34" charset="0"/>
                <a:ea typeface="Arial" panose="020B0604020202020204" pitchFamily="34" charset="-122"/>
                <a:cs typeface="Arial" panose="020B0604020202020204" pitchFamily="34" charset="-120"/>
              </a:rPr>
              <a:t>Observer برای اعلان‌ها و Strategy برای نمره‌دهی، هر دو سازگار با OCP/DIP</a:t>
            </a:r>
            <a:endParaRPr lang="en-US" sz="1200" dirty="0"/>
          </a:p>
        </p:txBody>
      </p:sp>
      <p:sp>
        <p:nvSpPr>
          <p:cNvPr id="20" name="Shape 15"/>
          <p:cNvSpPr/>
          <p:nvPr/>
        </p:nvSpPr>
        <p:spPr>
          <a:xfrm>
            <a:off x="6368796" y="4114800"/>
            <a:ext cx="4997196" cy="1920240"/>
          </a:xfrm>
          <a:prstGeom prst="roundRect">
            <a:avLst>
              <a:gd name="adj" fmla="val 5714"/>
            </a:avLst>
          </a:prstGeom>
          <a:solidFill>
            <a:srgbClr val="24365C"/>
          </a:solidFill>
        </p:spPr>
      </p:sp>
      <p:sp>
        <p:nvSpPr>
          <p:cNvPr id="21" name="Shape 16"/>
          <p:cNvSpPr/>
          <p:nvPr/>
        </p:nvSpPr>
        <p:spPr>
          <a:xfrm>
            <a:off x="10291572" y="4320540"/>
            <a:ext cx="777240" cy="777240"/>
          </a:xfrm>
          <a:prstGeom prst="ellipse">
            <a:avLst/>
          </a:prstGeom>
          <a:solidFill>
            <a:srgbClr val="02C39A"/>
          </a:solidFill>
          <a:effectLst>
            <a:outerShdw blurRad="76200" dist="25400" dir="5400000" algn="bl" rotWithShape="0">
              <a:srgbClr val="1B2A4A">
                <a:alpha val="25000"/>
              </a:srgbClr>
            </a:outerShdw>
          </a:effectLst>
        </p:spPr>
      </p:sp>
      <p:pic>
        <p:nvPicPr>
          <p:cNvPr id="22" name="Image 3" descr="/home/claude/build/icons/shield.png"/>
          <p:cNvPicPr>
            <a:picLocks noChangeAspect="1"/>
          </p:cNvPicPr>
          <p:nvPr/>
        </p:nvPicPr>
        <p:blipFill>
          <a:blip r:embed="rId3"/>
          <a:stretch>
            <a:fillRect/>
          </a:stretch>
        </p:blipFill>
        <p:spPr>
          <a:xfrm>
            <a:off x="10493654" y="4522622"/>
            <a:ext cx="373075" cy="373075"/>
          </a:xfrm>
          <a:prstGeom prst="rect">
            <a:avLst/>
          </a:prstGeom>
        </p:spPr>
      </p:pic>
      <p:sp>
        <p:nvSpPr>
          <p:cNvPr id="23" name="Text 17"/>
          <p:cNvSpPr/>
          <p:nvPr/>
        </p:nvSpPr>
        <p:spPr>
          <a:xfrm>
            <a:off x="6643116" y="4343400"/>
            <a:ext cx="3808476" cy="548640"/>
          </a:xfrm>
          <a:prstGeom prst="rect">
            <a:avLst/>
          </a:prstGeom>
          <a:noFill/>
        </p:spPr>
        <p:txBody>
          <a:bodyPr wrap="square" rtlCol="0" anchor="ctr"/>
          <a:lstStyle/>
          <a:p>
            <a:pPr marL="0" indent="0" algn="r" rtl="1">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امنیت و مقیاس‌پذیری</a:t>
            </a:r>
            <a:endParaRPr lang="en-US" sz="1600" dirty="0"/>
          </a:p>
        </p:txBody>
      </p:sp>
      <p:sp>
        <p:nvSpPr>
          <p:cNvPr id="24" name="Text 18"/>
          <p:cNvSpPr/>
          <p:nvPr/>
        </p:nvSpPr>
        <p:spPr>
          <a:xfrm>
            <a:off x="6643116" y="4937760"/>
            <a:ext cx="4448556" cy="960120"/>
          </a:xfrm>
          <a:prstGeom prst="rect">
            <a:avLst/>
          </a:prstGeom>
          <a:noFill/>
        </p:spPr>
        <p:txBody>
          <a:bodyPr wrap="square" rtlCol="0" anchor="t"/>
          <a:lstStyle/>
          <a:p>
            <a:pPr marL="0" indent="0" algn="r" rtl="1">
              <a:lnSpc>
                <a:spcPct val="130000"/>
              </a:lnSpc>
              <a:buNone/>
            </a:pPr>
            <a:r>
              <a:rPr lang="en-US" sz="1200" dirty="0">
                <a:solidFill>
                  <a:srgbClr val="B9CBDD"/>
                </a:solidFill>
                <a:latin typeface="Arial" panose="020B0604020202020204" pitchFamily="34" charset="0"/>
                <a:ea typeface="Arial" panose="020B0604020202020204" pitchFamily="34" charset="-122"/>
                <a:cs typeface="Arial" panose="020B0604020202020204" pitchFamily="34" charset="-120"/>
              </a:rPr>
              <a:t>JWT، RBAC، HTTPS و معماری رویدادمحور برای عملکرد پایدار سامانه</a:t>
            </a:r>
            <a:endParaRPr lang="en-US" sz="1200" dirty="0"/>
          </a:p>
        </p:txBody>
      </p:sp>
      <p:sp>
        <p:nvSpPr>
          <p:cNvPr id="25" name="Text 19"/>
          <p:cNvSpPr/>
          <p:nvPr/>
        </p:nvSpPr>
        <p:spPr>
          <a:xfrm>
            <a:off x="914400" y="6263640"/>
            <a:ext cx="10360152" cy="365760"/>
          </a:xfrm>
          <a:prstGeom prst="rect">
            <a:avLst/>
          </a:prstGeom>
          <a:noFill/>
        </p:spPr>
        <p:txBody>
          <a:bodyPr wrap="square" rtlCol="0" anchor="ctr"/>
          <a:lstStyle/>
          <a:p>
            <a:pPr marL="0" indent="0" algn="ctr" rtl="1">
              <a:buNone/>
            </a:pPr>
            <a:r>
              <a:rPr lang="en-US" sz="1200" dirty="0">
                <a:solidFill>
                  <a:srgbClr val="8FA6BE"/>
                </a:solidFill>
                <a:latin typeface="Arial" panose="020B0604020202020204" pitchFamily="34" charset="0"/>
                <a:ea typeface="Arial" panose="020B0604020202020204" pitchFamily="34" charset="-122"/>
                <a:cs typeface="Arial" panose="020B0604020202020204" pitchFamily="34" charset="-120"/>
              </a:rPr>
              <a:t>سامانه یکپارچه آموزش آنلاین مدارس — فاز پنجم: طراحی تفصیلی سیستم</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7803</Words>
  <Application>WPS Presentation</Application>
  <PresentationFormat>On-screen Show (16:9)</PresentationFormat>
  <Paragraphs>436</Paragraphs>
  <Slides>15</Slides>
  <Notes>15</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15</vt:i4>
      </vt:variant>
    </vt:vector>
  </HeadingPairs>
  <TitlesOfParts>
    <vt:vector size="29" baseType="lpstr">
      <vt:lpstr>Arial</vt:lpstr>
      <vt:lpstr>SimSun</vt:lpstr>
      <vt:lpstr>Wingdings</vt:lpstr>
      <vt:lpstr>Arial</vt:lpstr>
      <vt:lpstr>Arial</vt:lpstr>
      <vt:lpstr>Calibri</vt:lpstr>
      <vt:lpstr>Calibri</vt:lpstr>
      <vt:lpstr>Calibri</vt:lpstr>
      <vt:lpstr>Consolas</vt:lpstr>
      <vt:lpstr>Consolas</vt:lpstr>
      <vt:lpstr>Consolas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98922</cp:lastModifiedBy>
  <cp:revision>2</cp:revision>
  <dcterms:created xsi:type="dcterms:W3CDTF">2026-07-10T07:43:00Z</dcterms:created>
  <dcterms:modified xsi:type="dcterms:W3CDTF">2026-07-10T20:08:11Z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F16770C79C634D87BE364C48A671F94F_12</vt:lpwstr>
  </property>
</Properties>
</file>