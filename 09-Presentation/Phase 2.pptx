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530"/>
        </a:solidFill>
      </p:bgPr>
    </p:bg>
    <p:spTree>
      <p:nvGrpSpPr>
        <p:cNvPr id="1" name=""/>
        <p:cNvGrpSpPr/>
        <p:nvPr/>
      </p:nvGrpSpPr>
      <p:grpSpPr>
        <a:xfrm>
          <a:off x="0" y="0"/>
          <a:ext cx="0" cy="0"/>
          <a:chOff x="0" y="0"/>
          <a:chExt cx="0" cy="0"/>
        </a:xfrm>
      </p:grpSpPr>
      <p:sp>
        <p:nvSpPr>
          <p:cNvPr id="2" name="Shape 0"/>
          <p:cNvSpPr/>
          <p:nvPr/>
        </p:nvSpPr>
        <p:spPr>
          <a:xfrm>
            <a:off x="-2011680" y="-2377440"/>
            <a:ext cx="5943600" cy="5943600"/>
          </a:xfrm>
          <a:prstGeom prst="ellipse">
            <a:avLst/>
          </a:prstGeom>
          <a:solidFill>
            <a:srgbClr val="0B3A4A"/>
          </a:solidFill>
          <a:ln/>
        </p:spPr>
      </p:sp>
      <p:sp>
        <p:nvSpPr>
          <p:cNvPr id="3" name="Shape 1"/>
          <p:cNvSpPr/>
          <p:nvPr/>
        </p:nvSpPr>
        <p:spPr>
          <a:xfrm>
            <a:off x="8778240" y="3931920"/>
            <a:ext cx="5029200" cy="5029200"/>
          </a:xfrm>
          <a:prstGeom prst="ellipse">
            <a:avLst/>
          </a:prstGeom>
          <a:solidFill>
            <a:srgbClr val="0E7C86">
              <a:alpha val="45000"/>
            </a:srgbClr>
          </a:solidFill>
          <a:ln/>
        </p:spPr>
      </p:sp>
      <p:sp>
        <p:nvSpPr>
          <p:cNvPr id="4" name="Shape 2"/>
          <p:cNvSpPr/>
          <p:nvPr/>
        </p:nvSpPr>
        <p:spPr>
          <a:xfrm>
            <a:off x="9692640" y="822960"/>
            <a:ext cx="1234440" cy="1234440"/>
          </a:xfrm>
          <a:prstGeom prst="ellipse">
            <a:avLst/>
          </a:prstGeom>
          <a:solidFill>
            <a:srgbClr val="F2A93B"/>
          </a:solidFill>
          <a:ln/>
        </p:spPr>
      </p:sp>
      <p:sp>
        <p:nvSpPr>
          <p:cNvPr id="5" name="Text 3"/>
          <p:cNvSpPr/>
          <p:nvPr/>
        </p:nvSpPr>
        <p:spPr>
          <a:xfrm>
            <a:off x="822960" y="1965960"/>
            <a:ext cx="10545775" cy="457200"/>
          </a:xfrm>
          <a:prstGeom prst="rect">
            <a:avLst/>
          </a:prstGeom>
          <a:noFill/>
          <a:ln/>
        </p:spPr>
        <p:txBody>
          <a:bodyPr wrap="square" rtlCol="0" anchor="ctr"/>
          <a:lstStyle/>
          <a:p>
            <a:pPr rtl="1" algn="r" indent="0" marL="0">
              <a:buNone/>
            </a:pPr>
            <a:r>
              <a:rPr lang="en-US" sz="1600" b="1" spc="120" kern="0" dirty="0">
                <a:solidFill>
                  <a:srgbClr val="F2A93B"/>
                </a:solidFill>
                <a:latin typeface="Tahoma" pitchFamily="34" charset="0"/>
                <a:ea typeface="Tahoma" pitchFamily="34" charset="-122"/>
                <a:cs typeface="Tahoma" pitchFamily="34" charset="-120"/>
              </a:rPr>
              <a:t>پروژه سامانه آموزش آنلین مدارس</a:t>
            </a:r>
            <a:endParaRPr lang="en-US" sz="1600" dirty="0"/>
          </a:p>
        </p:txBody>
      </p:sp>
      <p:sp>
        <p:nvSpPr>
          <p:cNvPr id="6" name="Text 4"/>
          <p:cNvSpPr/>
          <p:nvPr/>
        </p:nvSpPr>
        <p:spPr>
          <a:xfrm>
            <a:off x="822960" y="2423160"/>
            <a:ext cx="10545775" cy="1051560"/>
          </a:xfrm>
          <a:prstGeom prst="rect">
            <a:avLst/>
          </a:prstGeom>
          <a:noFill/>
          <a:ln/>
        </p:spPr>
        <p:txBody>
          <a:bodyPr wrap="square" rtlCol="0" anchor="ctr"/>
          <a:lstStyle/>
          <a:p>
            <a:pPr rtl="1" algn="r" indent="0" marL="0">
              <a:buNone/>
            </a:pPr>
            <a:r>
              <a:rPr lang="en-US" sz="4600" b="1" dirty="0">
                <a:solidFill>
                  <a:srgbClr val="FFFFFF"/>
                </a:solidFill>
                <a:latin typeface="Tahoma" pitchFamily="34" charset="0"/>
                <a:ea typeface="Tahoma" pitchFamily="34" charset="-122"/>
                <a:cs typeface="Tahoma" pitchFamily="34" charset="-120"/>
              </a:rPr>
              <a:t>فاز دوم: مدل‌سازی و تصویرسازی</a:t>
            </a:r>
            <a:endParaRPr lang="en-US" sz="4600" dirty="0"/>
          </a:p>
        </p:txBody>
      </p:sp>
      <p:sp>
        <p:nvSpPr>
          <p:cNvPr id="7" name="Text 5"/>
          <p:cNvSpPr/>
          <p:nvPr/>
        </p:nvSpPr>
        <p:spPr>
          <a:xfrm>
            <a:off x="822960" y="3520440"/>
            <a:ext cx="10545775" cy="548640"/>
          </a:xfrm>
          <a:prstGeom prst="rect">
            <a:avLst/>
          </a:prstGeom>
          <a:noFill/>
          <a:ln/>
        </p:spPr>
        <p:txBody>
          <a:bodyPr wrap="square" rtlCol="0" anchor="ctr"/>
          <a:lstStyle/>
          <a:p>
            <a:pPr rtl="1" algn="r" indent="0" marL="0">
              <a:buNone/>
            </a:pPr>
            <a:r>
              <a:rPr lang="en-US" sz="1600" i="1" dirty="0">
                <a:solidFill>
                  <a:srgbClr val="EAF4F5"/>
                </a:solidFill>
                <a:latin typeface="Tahoma" pitchFamily="34" charset="0"/>
                <a:ea typeface="Tahoma" pitchFamily="34" charset="-122"/>
                <a:cs typeface="Tahoma" pitchFamily="34" charset="-120"/>
              </a:rPr>
              <a:t>از نقشهٔ ذهنی تا نمودارهای رفتاری و ساختاری — یک مدل تحلیلی یکپارچه و قابل ردیابی</a:t>
            </a:r>
            <a:endParaRPr lang="en-US" sz="1600" dirty="0"/>
          </a:p>
        </p:txBody>
      </p:sp>
      <p:sp>
        <p:nvSpPr>
          <p:cNvPr id="8" name="Shape 6"/>
          <p:cNvSpPr/>
          <p:nvPr/>
        </p:nvSpPr>
        <p:spPr>
          <a:xfrm>
            <a:off x="822960" y="4617720"/>
            <a:ext cx="1365460" cy="566928"/>
          </a:xfrm>
          <a:prstGeom prst="roundRect">
            <a:avLst>
              <a:gd name="adj" fmla="val 9677"/>
            </a:avLst>
          </a:prstGeom>
          <a:solidFill>
            <a:srgbClr val="0B3A4A"/>
          </a:solidFill>
          <a:ln w="12700">
            <a:solidFill>
              <a:srgbClr val="0E7C86"/>
            </a:solidFill>
            <a:prstDash val="solid"/>
          </a:ln>
        </p:spPr>
      </p:sp>
      <p:sp>
        <p:nvSpPr>
          <p:cNvPr id="9" name="Text 7"/>
          <p:cNvSpPr/>
          <p:nvPr/>
        </p:nvSpPr>
        <p:spPr>
          <a:xfrm>
            <a:off x="822960"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Use Case</a:t>
            </a:r>
            <a:endParaRPr lang="en-US" sz="1050" dirty="0"/>
          </a:p>
        </p:txBody>
      </p:sp>
      <p:sp>
        <p:nvSpPr>
          <p:cNvPr id="10" name="Shape 8"/>
          <p:cNvSpPr/>
          <p:nvPr/>
        </p:nvSpPr>
        <p:spPr>
          <a:xfrm>
            <a:off x="2353012" y="4617720"/>
            <a:ext cx="1365460" cy="566928"/>
          </a:xfrm>
          <a:prstGeom prst="roundRect">
            <a:avLst>
              <a:gd name="adj" fmla="val 9677"/>
            </a:avLst>
          </a:prstGeom>
          <a:solidFill>
            <a:srgbClr val="0B3A4A"/>
          </a:solidFill>
          <a:ln w="12700">
            <a:solidFill>
              <a:srgbClr val="0E7C86"/>
            </a:solidFill>
            <a:prstDash val="solid"/>
          </a:ln>
        </p:spPr>
      </p:sp>
      <p:sp>
        <p:nvSpPr>
          <p:cNvPr id="11" name="Text 9"/>
          <p:cNvSpPr/>
          <p:nvPr/>
        </p:nvSpPr>
        <p:spPr>
          <a:xfrm>
            <a:off x="2353012"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Domain Class</a:t>
            </a:r>
            <a:endParaRPr lang="en-US" sz="1050" dirty="0"/>
          </a:p>
        </p:txBody>
      </p:sp>
      <p:sp>
        <p:nvSpPr>
          <p:cNvPr id="12" name="Shape 10"/>
          <p:cNvSpPr/>
          <p:nvPr/>
        </p:nvSpPr>
        <p:spPr>
          <a:xfrm>
            <a:off x="3883065" y="4617720"/>
            <a:ext cx="1365460" cy="566928"/>
          </a:xfrm>
          <a:prstGeom prst="roundRect">
            <a:avLst>
              <a:gd name="adj" fmla="val 9677"/>
            </a:avLst>
          </a:prstGeom>
          <a:solidFill>
            <a:srgbClr val="0B3A4A"/>
          </a:solidFill>
          <a:ln w="12700">
            <a:solidFill>
              <a:srgbClr val="0E7C86"/>
            </a:solidFill>
            <a:prstDash val="solid"/>
          </a:ln>
        </p:spPr>
      </p:sp>
      <p:sp>
        <p:nvSpPr>
          <p:cNvPr id="13" name="Text 11"/>
          <p:cNvSpPr/>
          <p:nvPr/>
        </p:nvSpPr>
        <p:spPr>
          <a:xfrm>
            <a:off x="3883065"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Sequence</a:t>
            </a:r>
            <a:endParaRPr lang="en-US" sz="1050" dirty="0"/>
          </a:p>
        </p:txBody>
      </p:sp>
      <p:sp>
        <p:nvSpPr>
          <p:cNvPr id="14" name="Shape 12"/>
          <p:cNvSpPr/>
          <p:nvPr/>
        </p:nvSpPr>
        <p:spPr>
          <a:xfrm>
            <a:off x="5413117" y="4617720"/>
            <a:ext cx="1365460" cy="566928"/>
          </a:xfrm>
          <a:prstGeom prst="roundRect">
            <a:avLst>
              <a:gd name="adj" fmla="val 9677"/>
            </a:avLst>
          </a:prstGeom>
          <a:solidFill>
            <a:srgbClr val="0B3A4A"/>
          </a:solidFill>
          <a:ln w="12700">
            <a:solidFill>
              <a:srgbClr val="0E7C86"/>
            </a:solidFill>
            <a:prstDash val="solid"/>
          </a:ln>
        </p:spPr>
      </p:sp>
      <p:sp>
        <p:nvSpPr>
          <p:cNvPr id="15" name="Text 13"/>
          <p:cNvSpPr/>
          <p:nvPr/>
        </p:nvSpPr>
        <p:spPr>
          <a:xfrm>
            <a:off x="5413117"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Activity</a:t>
            </a:r>
            <a:endParaRPr lang="en-US" sz="1050" dirty="0"/>
          </a:p>
        </p:txBody>
      </p:sp>
      <p:sp>
        <p:nvSpPr>
          <p:cNvPr id="16" name="Shape 14"/>
          <p:cNvSpPr/>
          <p:nvPr/>
        </p:nvSpPr>
        <p:spPr>
          <a:xfrm>
            <a:off x="6943170" y="4617720"/>
            <a:ext cx="1365460" cy="566928"/>
          </a:xfrm>
          <a:prstGeom prst="roundRect">
            <a:avLst>
              <a:gd name="adj" fmla="val 9677"/>
            </a:avLst>
          </a:prstGeom>
          <a:solidFill>
            <a:srgbClr val="0B3A4A"/>
          </a:solidFill>
          <a:ln w="12700">
            <a:solidFill>
              <a:srgbClr val="0E7C86"/>
            </a:solidFill>
            <a:prstDash val="solid"/>
          </a:ln>
        </p:spPr>
      </p:sp>
      <p:sp>
        <p:nvSpPr>
          <p:cNvPr id="17" name="Text 15"/>
          <p:cNvSpPr/>
          <p:nvPr/>
        </p:nvSpPr>
        <p:spPr>
          <a:xfrm>
            <a:off x="6943170"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State</a:t>
            </a:r>
            <a:endParaRPr lang="en-US" sz="1050" dirty="0"/>
          </a:p>
        </p:txBody>
      </p:sp>
      <p:sp>
        <p:nvSpPr>
          <p:cNvPr id="18" name="Shape 16"/>
          <p:cNvSpPr/>
          <p:nvPr/>
        </p:nvSpPr>
        <p:spPr>
          <a:xfrm>
            <a:off x="8473222" y="4617720"/>
            <a:ext cx="1365460" cy="566928"/>
          </a:xfrm>
          <a:prstGeom prst="roundRect">
            <a:avLst>
              <a:gd name="adj" fmla="val 9677"/>
            </a:avLst>
          </a:prstGeom>
          <a:solidFill>
            <a:srgbClr val="0B3A4A"/>
          </a:solidFill>
          <a:ln w="12700">
            <a:solidFill>
              <a:srgbClr val="0E7C86"/>
            </a:solidFill>
            <a:prstDash val="solid"/>
          </a:ln>
        </p:spPr>
      </p:sp>
      <p:sp>
        <p:nvSpPr>
          <p:cNvPr id="19" name="Text 17"/>
          <p:cNvSpPr/>
          <p:nvPr/>
        </p:nvSpPr>
        <p:spPr>
          <a:xfrm>
            <a:off x="8473222"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Mind Map</a:t>
            </a:r>
            <a:endParaRPr lang="en-US" sz="1050" dirty="0"/>
          </a:p>
        </p:txBody>
      </p:sp>
      <p:sp>
        <p:nvSpPr>
          <p:cNvPr id="20" name="Shape 18"/>
          <p:cNvSpPr/>
          <p:nvPr/>
        </p:nvSpPr>
        <p:spPr>
          <a:xfrm>
            <a:off x="10003275" y="4617720"/>
            <a:ext cx="1365460" cy="566928"/>
          </a:xfrm>
          <a:prstGeom prst="roundRect">
            <a:avLst>
              <a:gd name="adj" fmla="val 9677"/>
            </a:avLst>
          </a:prstGeom>
          <a:solidFill>
            <a:srgbClr val="0B3A4A"/>
          </a:solidFill>
          <a:ln w="12700">
            <a:solidFill>
              <a:srgbClr val="0E7C86"/>
            </a:solidFill>
            <a:prstDash val="solid"/>
          </a:ln>
        </p:spPr>
      </p:sp>
      <p:sp>
        <p:nvSpPr>
          <p:cNvPr id="21" name="Text 19"/>
          <p:cNvSpPr/>
          <p:nvPr/>
        </p:nvSpPr>
        <p:spPr>
          <a:xfrm>
            <a:off x="10003275" y="4617720"/>
            <a:ext cx="1365460" cy="566928"/>
          </a:xfrm>
          <a:prstGeom prst="rect">
            <a:avLst/>
          </a:prstGeom>
          <a:noFill/>
          <a:ln/>
        </p:spPr>
        <p:txBody>
          <a:bodyPr wrap="square" rtlCol="0" anchor="ctr"/>
          <a:lstStyle/>
          <a:p>
            <a:pPr algn="ctr" indent="0" marL="0">
              <a:buNone/>
            </a:pPr>
            <a:r>
              <a:rPr lang="en-US" sz="1050" b="1" dirty="0">
                <a:solidFill>
                  <a:srgbClr val="EAF4F5"/>
                </a:solidFill>
                <a:latin typeface="Tahoma" pitchFamily="34" charset="0"/>
                <a:ea typeface="Tahoma" pitchFamily="34" charset="-122"/>
                <a:cs typeface="Tahoma" pitchFamily="34" charset="-120"/>
              </a:rPr>
              <a:t>Integration</a:t>
            </a:r>
            <a:endParaRPr lang="en-US" sz="1050" dirty="0"/>
          </a:p>
        </p:txBody>
      </p:sp>
      <p:sp>
        <p:nvSpPr>
          <p:cNvPr id="22" name="Text 20"/>
          <p:cNvSpPr/>
          <p:nvPr/>
        </p:nvSpPr>
        <p:spPr>
          <a:xfrm>
            <a:off x="822960" y="6080760"/>
            <a:ext cx="10545775" cy="365760"/>
          </a:xfrm>
          <a:prstGeom prst="rect">
            <a:avLst/>
          </a:prstGeom>
          <a:noFill/>
          <a:ln/>
        </p:spPr>
        <p:txBody>
          <a:bodyPr wrap="square" rtlCol="0" anchor="ctr"/>
          <a:lstStyle/>
          <a:p>
            <a:pPr rtl="1" algn="r" indent="0" marL="0">
              <a:buNone/>
            </a:pPr>
            <a:r>
              <a:rPr lang="en-US" sz="1100" dirty="0">
                <a:solidFill>
                  <a:srgbClr val="6E8285"/>
                </a:solidFill>
                <a:latin typeface="Tahoma" pitchFamily="34" charset="0"/>
                <a:ea typeface="Tahoma" pitchFamily="34" charset="-122"/>
                <a:cs typeface="Tahoma" pitchFamily="34" charset="-120"/>
              </a:rPr>
              <a:t>تیم تحلیل و طراحی سیستم  •  مهندسی نیازمندی‌ها و مدل‌سازی نرم‌افزار</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نمای کلی تحویلی‌ها</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تحویلی‌های فاز دوم: مدل‌سازی و مصورسازی</a:t>
            </a:r>
            <a:endParaRPr lang="en-US" sz="3000" dirty="0"/>
          </a:p>
        </p:txBody>
      </p:sp>
      <p:sp>
        <p:nvSpPr>
          <p:cNvPr id="4" name="Text 2"/>
          <p:cNvSpPr/>
          <p:nvPr/>
        </p:nvSpPr>
        <p:spPr>
          <a:xfrm>
            <a:off x="548640" y="1325880"/>
            <a:ext cx="11094415" cy="365760"/>
          </a:xfrm>
          <a:prstGeom prst="rect">
            <a:avLst/>
          </a:prstGeom>
          <a:noFill/>
          <a:ln/>
        </p:spPr>
        <p:txBody>
          <a:bodyPr wrap="square" rtlCol="0" anchor="ctr"/>
          <a:lstStyle/>
          <a:p>
            <a:pPr rtl="1" algn="r" indent="0" marL="0">
              <a:buNone/>
            </a:pPr>
            <a:r>
              <a:rPr lang="en-US" sz="1300" dirty="0">
                <a:solidFill>
                  <a:srgbClr val="3A4A4E"/>
                </a:solidFill>
                <a:latin typeface="Tahoma" pitchFamily="34" charset="0"/>
                <a:ea typeface="Tahoma" pitchFamily="34" charset="-122"/>
                <a:cs typeface="Tahoma" pitchFamily="34" charset="-120"/>
              </a:rPr>
              <a:t>هفت تحویلی زیر، رفتار، ساختار و دید یکپارچهٔ سامانهٔ آموزش آنلین مدارس را از زوایای مختلف پوشش می‌دهند.</a:t>
            </a:r>
            <a:endParaRPr lang="en-US" sz="1300" dirty="0"/>
          </a:p>
        </p:txBody>
      </p:sp>
      <p:sp>
        <p:nvSpPr>
          <p:cNvPr id="5" name="Shape 3"/>
          <p:cNvSpPr/>
          <p:nvPr/>
        </p:nvSpPr>
        <p:spPr>
          <a:xfrm>
            <a:off x="548640" y="1874520"/>
            <a:ext cx="3484778" cy="1463040"/>
          </a:xfrm>
          <a:prstGeom prst="roundRect">
            <a:avLst>
              <a:gd name="adj" fmla="val 5625"/>
            </a:avLst>
          </a:prstGeom>
          <a:solidFill>
            <a:srgbClr val="EAF4F5"/>
          </a:solidFill>
          <a:ln/>
          <a:effectLst>
            <a:outerShdw sx="100000" sy="100000" kx="0" ky="0" algn="bl" rotWithShape="0" blurRad="101600" dist="25400" dir="5400000">
              <a:srgbClr val="1B2A2E">
                <a:alpha val="12000"/>
              </a:srgbClr>
            </a:outerShdw>
          </a:effectLst>
        </p:spPr>
      </p:sp>
      <p:sp>
        <p:nvSpPr>
          <p:cNvPr id="6" name="Shape 4"/>
          <p:cNvSpPr/>
          <p:nvPr/>
        </p:nvSpPr>
        <p:spPr>
          <a:xfrm>
            <a:off x="3466490" y="2075688"/>
            <a:ext cx="384048" cy="384048"/>
          </a:xfrm>
          <a:prstGeom prst="ellipse">
            <a:avLst/>
          </a:prstGeom>
          <a:solidFill>
            <a:srgbClr val="0E7C86"/>
          </a:solidFill>
          <a:ln/>
        </p:spPr>
      </p:sp>
      <p:sp>
        <p:nvSpPr>
          <p:cNvPr id="7" name="Text 5"/>
          <p:cNvSpPr/>
          <p:nvPr/>
        </p:nvSpPr>
        <p:spPr>
          <a:xfrm>
            <a:off x="3466490" y="2075688"/>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۱</a:t>
            </a:r>
            <a:endParaRPr lang="en-US" sz="1428" dirty="0"/>
          </a:p>
        </p:txBody>
      </p:sp>
      <p:sp>
        <p:nvSpPr>
          <p:cNvPr id="8" name="Text 6"/>
          <p:cNvSpPr/>
          <p:nvPr/>
        </p:nvSpPr>
        <p:spPr>
          <a:xfrm>
            <a:off x="749808" y="2075688"/>
            <a:ext cx="2616098" cy="457200"/>
          </a:xfrm>
          <a:prstGeom prst="rect">
            <a:avLst/>
          </a:prstGeom>
          <a:noFill/>
          <a:ln/>
        </p:spPr>
        <p:txBody>
          <a:bodyPr wrap="square" rtlCol="0" anchor="ctr"/>
          <a:lstStyle/>
          <a:p>
            <a:pPr rtl="1" algn="r" indent="0" marL="0">
              <a:buNone/>
            </a:pPr>
            <a:r>
              <a:rPr lang="en-US" sz="1500" b="1" dirty="0">
                <a:solidFill>
                  <a:srgbClr val="0B3A4A"/>
                </a:solidFill>
                <a:latin typeface="Tahoma" pitchFamily="34" charset="0"/>
                <a:ea typeface="Tahoma" pitchFamily="34" charset="-122"/>
                <a:cs typeface="Tahoma" pitchFamily="34" charset="-120"/>
              </a:rPr>
              <a:t>نمودار مورد کاربرد</a:t>
            </a:r>
            <a:endParaRPr lang="en-US" sz="1500" dirty="0"/>
          </a:p>
        </p:txBody>
      </p:sp>
      <p:sp>
        <p:nvSpPr>
          <p:cNvPr id="9" name="Text 7"/>
          <p:cNvSpPr/>
          <p:nvPr/>
        </p:nvSpPr>
        <p:spPr>
          <a:xfrm>
            <a:off x="749808" y="2560320"/>
            <a:ext cx="3073298" cy="64008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توصیف حداقل ۵ Use Case اصلی و تعامل بازیگران با سیستم</a:t>
            </a:r>
            <a:endParaRPr lang="en-US" sz="1050" dirty="0"/>
          </a:p>
        </p:txBody>
      </p:sp>
      <p:sp>
        <p:nvSpPr>
          <p:cNvPr id="10" name="Shape 8"/>
          <p:cNvSpPr/>
          <p:nvPr/>
        </p:nvSpPr>
        <p:spPr>
          <a:xfrm>
            <a:off x="4353458" y="1874520"/>
            <a:ext cx="3484778" cy="1463040"/>
          </a:xfrm>
          <a:prstGeom prst="roundRect">
            <a:avLst>
              <a:gd name="adj" fmla="val 5625"/>
            </a:avLst>
          </a:prstGeom>
          <a:solidFill>
            <a:srgbClr val="EAF4F5"/>
          </a:solidFill>
          <a:ln/>
          <a:effectLst>
            <a:outerShdw sx="100000" sy="100000" kx="0" ky="0" algn="bl" rotWithShape="0" blurRad="101600" dist="25400" dir="5400000">
              <a:srgbClr val="1B2A2E">
                <a:alpha val="12000"/>
              </a:srgbClr>
            </a:outerShdw>
          </a:effectLst>
        </p:spPr>
      </p:sp>
      <p:sp>
        <p:nvSpPr>
          <p:cNvPr id="11" name="Shape 9"/>
          <p:cNvSpPr/>
          <p:nvPr/>
        </p:nvSpPr>
        <p:spPr>
          <a:xfrm>
            <a:off x="7271309" y="2075688"/>
            <a:ext cx="384048" cy="384048"/>
          </a:xfrm>
          <a:prstGeom prst="ellipse">
            <a:avLst/>
          </a:prstGeom>
          <a:solidFill>
            <a:srgbClr val="17A6B0"/>
          </a:solidFill>
          <a:ln/>
        </p:spPr>
      </p:sp>
      <p:sp>
        <p:nvSpPr>
          <p:cNvPr id="12" name="Text 10"/>
          <p:cNvSpPr/>
          <p:nvPr/>
        </p:nvSpPr>
        <p:spPr>
          <a:xfrm>
            <a:off x="7271309" y="2075688"/>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۲</a:t>
            </a:r>
            <a:endParaRPr lang="en-US" sz="1428" dirty="0"/>
          </a:p>
        </p:txBody>
      </p:sp>
      <p:sp>
        <p:nvSpPr>
          <p:cNvPr id="13" name="Text 11"/>
          <p:cNvSpPr/>
          <p:nvPr/>
        </p:nvSpPr>
        <p:spPr>
          <a:xfrm>
            <a:off x="4554626" y="2075688"/>
            <a:ext cx="2616098" cy="457200"/>
          </a:xfrm>
          <a:prstGeom prst="rect">
            <a:avLst/>
          </a:prstGeom>
          <a:noFill/>
          <a:ln/>
        </p:spPr>
        <p:txBody>
          <a:bodyPr wrap="square" rtlCol="0" anchor="ctr"/>
          <a:lstStyle/>
          <a:p>
            <a:pPr rtl="1" algn="r" indent="0" marL="0">
              <a:buNone/>
            </a:pPr>
            <a:r>
              <a:rPr lang="en-US" sz="1500" b="1" dirty="0">
                <a:solidFill>
                  <a:srgbClr val="0B3A4A"/>
                </a:solidFill>
                <a:latin typeface="Tahoma" pitchFamily="34" charset="0"/>
                <a:ea typeface="Tahoma" pitchFamily="34" charset="-122"/>
                <a:cs typeface="Tahoma" pitchFamily="34" charset="-120"/>
              </a:rPr>
              <a:t>نمودار کلاس دامنه</a:t>
            </a:r>
            <a:endParaRPr lang="en-US" sz="1500" dirty="0"/>
          </a:p>
        </p:txBody>
      </p:sp>
      <p:sp>
        <p:nvSpPr>
          <p:cNvPr id="14" name="Text 12"/>
          <p:cNvSpPr/>
          <p:nvPr/>
        </p:nvSpPr>
        <p:spPr>
          <a:xfrm>
            <a:off x="4554626" y="2560320"/>
            <a:ext cx="3073298" cy="64008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کلاس‌های مفهومی سیستم به همراه روابط و کاردینالیتی</a:t>
            </a:r>
            <a:endParaRPr lang="en-US" sz="1050" dirty="0"/>
          </a:p>
        </p:txBody>
      </p:sp>
      <p:sp>
        <p:nvSpPr>
          <p:cNvPr id="15" name="Shape 13"/>
          <p:cNvSpPr/>
          <p:nvPr/>
        </p:nvSpPr>
        <p:spPr>
          <a:xfrm>
            <a:off x="8158277" y="1874520"/>
            <a:ext cx="3484778" cy="1463040"/>
          </a:xfrm>
          <a:prstGeom prst="roundRect">
            <a:avLst>
              <a:gd name="adj" fmla="val 5625"/>
            </a:avLst>
          </a:prstGeom>
          <a:solidFill>
            <a:srgbClr val="EAF4F5"/>
          </a:solidFill>
          <a:ln/>
          <a:effectLst>
            <a:outerShdw sx="100000" sy="100000" kx="0" ky="0" algn="bl" rotWithShape="0" blurRad="101600" dist="25400" dir="5400000">
              <a:srgbClr val="1B2A2E">
                <a:alpha val="12000"/>
              </a:srgbClr>
            </a:outerShdw>
          </a:effectLst>
        </p:spPr>
      </p:sp>
      <p:sp>
        <p:nvSpPr>
          <p:cNvPr id="16" name="Shape 14"/>
          <p:cNvSpPr/>
          <p:nvPr/>
        </p:nvSpPr>
        <p:spPr>
          <a:xfrm>
            <a:off x="11076127" y="2075688"/>
            <a:ext cx="384048" cy="384048"/>
          </a:xfrm>
          <a:prstGeom prst="ellipse">
            <a:avLst/>
          </a:prstGeom>
          <a:solidFill>
            <a:srgbClr val="0E7C86"/>
          </a:solidFill>
          <a:ln/>
        </p:spPr>
      </p:sp>
      <p:sp>
        <p:nvSpPr>
          <p:cNvPr id="17" name="Text 15"/>
          <p:cNvSpPr/>
          <p:nvPr/>
        </p:nvSpPr>
        <p:spPr>
          <a:xfrm>
            <a:off x="11076127" y="2075688"/>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۳</a:t>
            </a:r>
            <a:endParaRPr lang="en-US" sz="1428" dirty="0"/>
          </a:p>
        </p:txBody>
      </p:sp>
      <p:sp>
        <p:nvSpPr>
          <p:cNvPr id="18" name="Text 16"/>
          <p:cNvSpPr/>
          <p:nvPr/>
        </p:nvSpPr>
        <p:spPr>
          <a:xfrm>
            <a:off x="8359445" y="2075688"/>
            <a:ext cx="2616098" cy="457200"/>
          </a:xfrm>
          <a:prstGeom prst="rect">
            <a:avLst/>
          </a:prstGeom>
          <a:noFill/>
          <a:ln/>
        </p:spPr>
        <p:txBody>
          <a:bodyPr wrap="square" rtlCol="0" anchor="ctr"/>
          <a:lstStyle/>
          <a:p>
            <a:pPr rtl="1" algn="r" indent="0" marL="0">
              <a:buNone/>
            </a:pPr>
            <a:r>
              <a:rPr lang="en-US" sz="1500" b="1" dirty="0">
                <a:solidFill>
                  <a:srgbClr val="0B3A4A"/>
                </a:solidFill>
                <a:latin typeface="Tahoma" pitchFamily="34" charset="0"/>
                <a:ea typeface="Tahoma" pitchFamily="34" charset="-122"/>
                <a:cs typeface="Tahoma" pitchFamily="34" charset="-120"/>
              </a:rPr>
              <a:t>نمودار توالی</a:t>
            </a:r>
            <a:endParaRPr lang="en-US" sz="1500" dirty="0"/>
          </a:p>
        </p:txBody>
      </p:sp>
      <p:sp>
        <p:nvSpPr>
          <p:cNvPr id="19" name="Text 17"/>
          <p:cNvSpPr/>
          <p:nvPr/>
        </p:nvSpPr>
        <p:spPr>
          <a:xfrm>
            <a:off x="8359445" y="2560320"/>
            <a:ext cx="3073298" cy="64008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حداقل ۳ سناریوی بحرانی و تبادل پیام میان اشیاء</a:t>
            </a:r>
            <a:endParaRPr lang="en-US" sz="1050" dirty="0"/>
          </a:p>
        </p:txBody>
      </p:sp>
      <p:sp>
        <p:nvSpPr>
          <p:cNvPr id="20" name="Shape 18"/>
          <p:cNvSpPr/>
          <p:nvPr/>
        </p:nvSpPr>
        <p:spPr>
          <a:xfrm>
            <a:off x="548640" y="3657600"/>
            <a:ext cx="3484778" cy="1463040"/>
          </a:xfrm>
          <a:prstGeom prst="roundRect">
            <a:avLst>
              <a:gd name="adj" fmla="val 5625"/>
            </a:avLst>
          </a:prstGeom>
          <a:solidFill>
            <a:srgbClr val="EAF4F5"/>
          </a:solidFill>
          <a:ln/>
          <a:effectLst>
            <a:outerShdw sx="100000" sy="100000" kx="0" ky="0" algn="bl" rotWithShape="0" blurRad="101600" dist="25400" dir="5400000">
              <a:srgbClr val="1B2A2E">
                <a:alpha val="12000"/>
              </a:srgbClr>
            </a:outerShdw>
          </a:effectLst>
        </p:spPr>
      </p:sp>
      <p:sp>
        <p:nvSpPr>
          <p:cNvPr id="21" name="Shape 19"/>
          <p:cNvSpPr/>
          <p:nvPr/>
        </p:nvSpPr>
        <p:spPr>
          <a:xfrm>
            <a:off x="3466490" y="3858768"/>
            <a:ext cx="384048" cy="384048"/>
          </a:xfrm>
          <a:prstGeom prst="ellipse">
            <a:avLst/>
          </a:prstGeom>
          <a:solidFill>
            <a:srgbClr val="17A6B0"/>
          </a:solidFill>
          <a:ln/>
        </p:spPr>
      </p:sp>
      <p:sp>
        <p:nvSpPr>
          <p:cNvPr id="22" name="Text 20"/>
          <p:cNvSpPr/>
          <p:nvPr/>
        </p:nvSpPr>
        <p:spPr>
          <a:xfrm>
            <a:off x="3466490" y="3858768"/>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۴</a:t>
            </a:r>
            <a:endParaRPr lang="en-US" sz="1428" dirty="0"/>
          </a:p>
        </p:txBody>
      </p:sp>
      <p:sp>
        <p:nvSpPr>
          <p:cNvPr id="23" name="Text 21"/>
          <p:cNvSpPr/>
          <p:nvPr/>
        </p:nvSpPr>
        <p:spPr>
          <a:xfrm>
            <a:off x="749808" y="3858768"/>
            <a:ext cx="2616098" cy="457200"/>
          </a:xfrm>
          <a:prstGeom prst="rect">
            <a:avLst/>
          </a:prstGeom>
          <a:noFill/>
          <a:ln/>
        </p:spPr>
        <p:txBody>
          <a:bodyPr wrap="square" rtlCol="0" anchor="ctr"/>
          <a:lstStyle/>
          <a:p>
            <a:pPr rtl="1" algn="r" indent="0" marL="0">
              <a:buNone/>
            </a:pPr>
            <a:r>
              <a:rPr lang="en-US" sz="1500" b="1" dirty="0">
                <a:solidFill>
                  <a:srgbClr val="0B3A4A"/>
                </a:solidFill>
                <a:latin typeface="Tahoma" pitchFamily="34" charset="0"/>
                <a:ea typeface="Tahoma" pitchFamily="34" charset="-122"/>
                <a:cs typeface="Tahoma" pitchFamily="34" charset="-120"/>
              </a:rPr>
              <a:t>نمودار فعالیت</a:t>
            </a:r>
            <a:endParaRPr lang="en-US" sz="1500" dirty="0"/>
          </a:p>
        </p:txBody>
      </p:sp>
      <p:sp>
        <p:nvSpPr>
          <p:cNvPr id="24" name="Text 22"/>
          <p:cNvSpPr/>
          <p:nvPr/>
        </p:nvSpPr>
        <p:spPr>
          <a:xfrm>
            <a:off x="749808" y="4343400"/>
            <a:ext cx="3073298" cy="64008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جریان اجرای فرآیندهای پیچیده به‌صورت گام‌به‌گام</a:t>
            </a:r>
            <a:endParaRPr lang="en-US" sz="1050" dirty="0"/>
          </a:p>
        </p:txBody>
      </p:sp>
      <p:sp>
        <p:nvSpPr>
          <p:cNvPr id="25" name="Shape 23"/>
          <p:cNvSpPr/>
          <p:nvPr/>
        </p:nvSpPr>
        <p:spPr>
          <a:xfrm>
            <a:off x="4353458" y="3657600"/>
            <a:ext cx="3484778" cy="1463040"/>
          </a:xfrm>
          <a:prstGeom prst="roundRect">
            <a:avLst>
              <a:gd name="adj" fmla="val 5625"/>
            </a:avLst>
          </a:prstGeom>
          <a:solidFill>
            <a:srgbClr val="EAF4F5"/>
          </a:solidFill>
          <a:ln/>
          <a:effectLst>
            <a:outerShdw sx="100000" sy="100000" kx="0" ky="0" algn="bl" rotWithShape="0" blurRad="101600" dist="25400" dir="5400000">
              <a:srgbClr val="1B2A2E">
                <a:alpha val="12000"/>
              </a:srgbClr>
            </a:outerShdw>
          </a:effectLst>
        </p:spPr>
      </p:sp>
      <p:sp>
        <p:nvSpPr>
          <p:cNvPr id="26" name="Shape 24"/>
          <p:cNvSpPr/>
          <p:nvPr/>
        </p:nvSpPr>
        <p:spPr>
          <a:xfrm>
            <a:off x="7271309" y="3858768"/>
            <a:ext cx="384048" cy="384048"/>
          </a:xfrm>
          <a:prstGeom prst="ellipse">
            <a:avLst/>
          </a:prstGeom>
          <a:solidFill>
            <a:srgbClr val="0E7C86"/>
          </a:solidFill>
          <a:ln/>
        </p:spPr>
      </p:sp>
      <p:sp>
        <p:nvSpPr>
          <p:cNvPr id="27" name="Text 25"/>
          <p:cNvSpPr/>
          <p:nvPr/>
        </p:nvSpPr>
        <p:spPr>
          <a:xfrm>
            <a:off x="7271309" y="3858768"/>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۵</a:t>
            </a:r>
            <a:endParaRPr lang="en-US" sz="1428" dirty="0"/>
          </a:p>
        </p:txBody>
      </p:sp>
      <p:sp>
        <p:nvSpPr>
          <p:cNvPr id="28" name="Text 26"/>
          <p:cNvSpPr/>
          <p:nvPr/>
        </p:nvSpPr>
        <p:spPr>
          <a:xfrm>
            <a:off x="4554626" y="3858768"/>
            <a:ext cx="2616098" cy="457200"/>
          </a:xfrm>
          <a:prstGeom prst="rect">
            <a:avLst/>
          </a:prstGeom>
          <a:noFill/>
          <a:ln/>
        </p:spPr>
        <p:txBody>
          <a:bodyPr wrap="square" rtlCol="0" anchor="ctr"/>
          <a:lstStyle/>
          <a:p>
            <a:pPr rtl="1" algn="r" indent="0" marL="0">
              <a:buNone/>
            </a:pPr>
            <a:r>
              <a:rPr lang="en-US" sz="1500" b="1" dirty="0">
                <a:solidFill>
                  <a:srgbClr val="0B3A4A"/>
                </a:solidFill>
                <a:latin typeface="Tahoma" pitchFamily="34" charset="0"/>
                <a:ea typeface="Tahoma" pitchFamily="34" charset="-122"/>
                <a:cs typeface="Tahoma" pitchFamily="34" charset="-120"/>
              </a:rPr>
              <a:t>نمودار وضعیت</a:t>
            </a:r>
            <a:endParaRPr lang="en-US" sz="1500" dirty="0"/>
          </a:p>
        </p:txBody>
      </p:sp>
      <p:sp>
        <p:nvSpPr>
          <p:cNvPr id="29" name="Text 27"/>
          <p:cNvSpPr/>
          <p:nvPr/>
        </p:nvSpPr>
        <p:spPr>
          <a:xfrm>
            <a:off x="4554626" y="4343400"/>
            <a:ext cx="3073298" cy="64008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چرخهٔ حیات مؤلفه‌های دارای حالت (مثل Assignment و Exam)</a:t>
            </a:r>
            <a:endParaRPr lang="en-US" sz="1050" dirty="0"/>
          </a:p>
        </p:txBody>
      </p:sp>
      <p:sp>
        <p:nvSpPr>
          <p:cNvPr id="30" name="Shape 28"/>
          <p:cNvSpPr/>
          <p:nvPr/>
        </p:nvSpPr>
        <p:spPr>
          <a:xfrm>
            <a:off x="8158277" y="3657600"/>
            <a:ext cx="3484778" cy="1463040"/>
          </a:xfrm>
          <a:prstGeom prst="roundRect">
            <a:avLst>
              <a:gd name="adj" fmla="val 5625"/>
            </a:avLst>
          </a:prstGeom>
          <a:solidFill>
            <a:srgbClr val="EAF4F5"/>
          </a:solidFill>
          <a:ln/>
          <a:effectLst>
            <a:outerShdw sx="100000" sy="100000" kx="0" ky="0" algn="bl" rotWithShape="0" blurRad="101600" dist="25400" dir="5400000">
              <a:srgbClr val="1B2A2E">
                <a:alpha val="12000"/>
              </a:srgbClr>
            </a:outerShdw>
          </a:effectLst>
        </p:spPr>
      </p:sp>
      <p:sp>
        <p:nvSpPr>
          <p:cNvPr id="31" name="Shape 29"/>
          <p:cNvSpPr/>
          <p:nvPr/>
        </p:nvSpPr>
        <p:spPr>
          <a:xfrm>
            <a:off x="11076127" y="3858768"/>
            <a:ext cx="384048" cy="384048"/>
          </a:xfrm>
          <a:prstGeom prst="ellipse">
            <a:avLst/>
          </a:prstGeom>
          <a:solidFill>
            <a:srgbClr val="17A6B0"/>
          </a:solidFill>
          <a:ln/>
        </p:spPr>
      </p:sp>
      <p:sp>
        <p:nvSpPr>
          <p:cNvPr id="32" name="Text 30"/>
          <p:cNvSpPr/>
          <p:nvPr/>
        </p:nvSpPr>
        <p:spPr>
          <a:xfrm>
            <a:off x="11076127" y="3858768"/>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۶</a:t>
            </a:r>
            <a:endParaRPr lang="en-US" sz="1428" dirty="0"/>
          </a:p>
        </p:txBody>
      </p:sp>
      <p:sp>
        <p:nvSpPr>
          <p:cNvPr id="33" name="Text 31"/>
          <p:cNvSpPr/>
          <p:nvPr/>
        </p:nvSpPr>
        <p:spPr>
          <a:xfrm>
            <a:off x="8359445" y="3858768"/>
            <a:ext cx="2616098" cy="457200"/>
          </a:xfrm>
          <a:prstGeom prst="rect">
            <a:avLst/>
          </a:prstGeom>
          <a:noFill/>
          <a:ln/>
        </p:spPr>
        <p:txBody>
          <a:bodyPr wrap="square" rtlCol="0" anchor="ctr"/>
          <a:lstStyle/>
          <a:p>
            <a:pPr rtl="1" algn="r" indent="0" marL="0">
              <a:buNone/>
            </a:pPr>
            <a:r>
              <a:rPr lang="en-US" sz="1500" b="1" dirty="0">
                <a:solidFill>
                  <a:srgbClr val="0B3A4A"/>
                </a:solidFill>
                <a:latin typeface="Tahoma" pitchFamily="34" charset="0"/>
                <a:ea typeface="Tahoma" pitchFamily="34" charset="-122"/>
                <a:cs typeface="Tahoma" pitchFamily="34" charset="-120"/>
              </a:rPr>
              <a:t>نقشهٔ ذهنی</a:t>
            </a:r>
            <a:endParaRPr lang="en-US" sz="1500" dirty="0"/>
          </a:p>
        </p:txBody>
      </p:sp>
      <p:sp>
        <p:nvSpPr>
          <p:cNvPr id="34" name="Text 32"/>
          <p:cNvSpPr/>
          <p:nvPr/>
        </p:nvSpPr>
        <p:spPr>
          <a:xfrm>
            <a:off x="8359445" y="4343400"/>
            <a:ext cx="3073298" cy="64008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دید کلی از قابلیت‌ها و اتصال زیرسیستم‌های سامانه</a:t>
            </a:r>
            <a:endParaRPr lang="en-US" sz="1050" dirty="0"/>
          </a:p>
        </p:txBody>
      </p:sp>
      <p:sp>
        <p:nvSpPr>
          <p:cNvPr id="35" name="Shape 33"/>
          <p:cNvSpPr/>
          <p:nvPr/>
        </p:nvSpPr>
        <p:spPr>
          <a:xfrm>
            <a:off x="548640" y="5440680"/>
            <a:ext cx="11094415" cy="566928"/>
          </a:xfrm>
          <a:prstGeom prst="roundRect">
            <a:avLst>
              <a:gd name="adj" fmla="val 14516"/>
            </a:avLst>
          </a:prstGeom>
          <a:solidFill>
            <a:srgbClr val="0B3A4A"/>
          </a:solidFill>
          <a:ln/>
        </p:spPr>
      </p:sp>
      <p:sp>
        <p:nvSpPr>
          <p:cNvPr id="36" name="Shape 34"/>
          <p:cNvSpPr/>
          <p:nvPr/>
        </p:nvSpPr>
        <p:spPr>
          <a:xfrm>
            <a:off x="11185855" y="5532120"/>
            <a:ext cx="384048" cy="384048"/>
          </a:xfrm>
          <a:prstGeom prst="ellipse">
            <a:avLst/>
          </a:prstGeom>
          <a:solidFill>
            <a:srgbClr val="F2A93B"/>
          </a:solidFill>
          <a:ln/>
        </p:spPr>
      </p:sp>
      <p:sp>
        <p:nvSpPr>
          <p:cNvPr id="37" name="Text 35"/>
          <p:cNvSpPr/>
          <p:nvPr/>
        </p:nvSpPr>
        <p:spPr>
          <a:xfrm>
            <a:off x="11185855" y="5532120"/>
            <a:ext cx="384048" cy="384048"/>
          </a:xfrm>
          <a:prstGeom prst="rect">
            <a:avLst/>
          </a:prstGeom>
          <a:noFill/>
          <a:ln/>
        </p:spPr>
        <p:txBody>
          <a:bodyPr wrap="square" rtlCol="0" anchor="ctr"/>
          <a:lstStyle/>
          <a:p>
            <a:pPr algn="ctr" indent="0" marL="0">
              <a:buNone/>
            </a:pPr>
            <a:r>
              <a:rPr lang="en-US" sz="1428" b="1" dirty="0">
                <a:solidFill>
                  <a:srgbClr val="FFFFFF"/>
                </a:solidFill>
                <a:latin typeface="Tahoma" pitchFamily="34" charset="0"/>
                <a:ea typeface="Tahoma" pitchFamily="34" charset="-122"/>
                <a:cs typeface="Tahoma" pitchFamily="34" charset="-120"/>
              </a:rPr>
              <a:t>۷</a:t>
            </a:r>
            <a:endParaRPr lang="en-US" sz="1428" dirty="0"/>
          </a:p>
        </p:txBody>
      </p:sp>
      <p:sp>
        <p:nvSpPr>
          <p:cNvPr id="38" name="Text 36"/>
          <p:cNvSpPr/>
          <p:nvPr/>
        </p:nvSpPr>
        <p:spPr>
          <a:xfrm>
            <a:off x="777240" y="0"/>
            <a:ext cx="10088575" cy="566928"/>
          </a:xfrm>
          <a:prstGeom prst="rect">
            <a:avLst/>
          </a:prstGeom>
          <a:noFill/>
          <a:ln/>
        </p:spPr>
        <p:txBody>
          <a:bodyPr wrap="square" rtlCol="0" anchor="ctr"/>
          <a:lstStyle/>
          <a:p>
            <a:pPr rtl="1" algn="r" indent="0" marL="0">
              <a:buNone/>
            </a:pPr>
            <a:r>
              <a:rPr lang="en-US" sz="1300" b="1" dirty="0">
                <a:solidFill>
                  <a:srgbClr val="FFFFFF"/>
                </a:solidFill>
                <a:latin typeface="Tahoma" pitchFamily="34" charset="0"/>
                <a:ea typeface="Tahoma" pitchFamily="34" charset="-122"/>
                <a:cs typeface="Tahoma" pitchFamily="34" charset="-120"/>
              </a:rPr>
              <a:t>سند یکپارچگی نمودارها  —  نحوهٔ ارتباط و تکمیل نمودارها با یکدیگر</a:t>
            </a:r>
            <a:endParaRPr lang="en-US" sz="1300" dirty="0"/>
          </a:p>
        </p:txBody>
      </p:sp>
      <p:sp>
        <p:nvSpPr>
          <p:cNvPr id="39" name="Text 37"/>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40" name="Text 38"/>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۱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نمودار مورد کاربرد (Use Case Diagram)</a:t>
            </a:r>
            <a:endParaRPr lang="en-US" sz="3000" dirty="0"/>
          </a:p>
        </p:txBody>
      </p:sp>
      <p:sp>
        <p:nvSpPr>
          <p:cNvPr id="4" name="Shape 2"/>
          <p:cNvSpPr/>
          <p:nvPr/>
        </p:nvSpPr>
        <p:spPr>
          <a:xfrm>
            <a:off x="548640" y="1417320"/>
            <a:ext cx="6309360" cy="4892040"/>
          </a:xfrm>
          <a:prstGeom prst="roundRect">
            <a:avLst>
              <a:gd name="adj" fmla="val 1495"/>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usecase.jpeg">    </p:cNvPr>
          <p:cNvPicPr>
            <a:picLocks noChangeAspect="1"/>
          </p:cNvPicPr>
          <p:nvPr/>
        </p:nvPicPr>
        <p:blipFill>
          <a:blip r:embed="rId1"/>
          <a:stretch>
            <a:fillRect/>
          </a:stretch>
        </p:blipFill>
        <p:spPr>
          <a:xfrm>
            <a:off x="800753" y="1554480"/>
            <a:ext cx="5805134" cy="4617720"/>
          </a:xfrm>
          <a:prstGeom prst="rect">
            <a:avLst/>
          </a:prstGeom>
        </p:spPr>
      </p:pic>
      <p:sp>
        <p:nvSpPr>
          <p:cNvPr id="6" name="Text 3"/>
          <p:cNvSpPr/>
          <p:nvPr/>
        </p:nvSpPr>
        <p:spPr>
          <a:xfrm>
            <a:off x="7086600" y="1417320"/>
            <a:ext cx="4556455" cy="320040"/>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بازیگران اصلی</a:t>
            </a:r>
            <a:endParaRPr lang="en-US" sz="1300" dirty="0"/>
          </a:p>
        </p:txBody>
      </p:sp>
      <p:sp>
        <p:nvSpPr>
          <p:cNvPr id="7" name="Text 4"/>
          <p:cNvSpPr/>
          <p:nvPr/>
        </p:nvSpPr>
        <p:spPr>
          <a:xfrm>
            <a:off x="7086600" y="1737360"/>
            <a:ext cx="4556455" cy="685800"/>
          </a:xfrm>
          <a:prstGeom prst="rect">
            <a:avLst/>
          </a:prstGeom>
          <a:noFill/>
          <a:ln/>
        </p:spPr>
        <p:txBody>
          <a:bodyPr wrap="square" rtlCol="0" anchor="ctr"/>
          <a:lstStyle/>
          <a:p>
            <a:pPr rtl="1" algn="r" indent="0" marL="0">
              <a:buNone/>
            </a:pPr>
            <a:r>
              <a:rPr lang="en-US" sz="1100" dirty="0">
                <a:solidFill>
                  <a:srgbClr val="3A4A4E"/>
                </a:solidFill>
                <a:latin typeface="Tahoma" pitchFamily="34" charset="0"/>
                <a:ea typeface="Tahoma" pitchFamily="34" charset="-122"/>
                <a:cs typeface="Tahoma" pitchFamily="34" charset="-120"/>
              </a:rPr>
              <a:t>دانش‌آموز، معلم و مدیر سیستم — هر یک با سطح دسترسی و مجموعه‌ای متمایز از Use Caseها با سامانه تعامل دارند.</a:t>
            </a:r>
            <a:endParaRPr lang="en-US" sz="1100" dirty="0"/>
          </a:p>
        </p:txBody>
      </p:sp>
      <p:sp>
        <p:nvSpPr>
          <p:cNvPr id="8" name="Text 5"/>
          <p:cNvSpPr/>
          <p:nvPr/>
        </p:nvSpPr>
        <p:spPr>
          <a:xfrm>
            <a:off x="7086600" y="2468880"/>
            <a:ext cx="4556455" cy="320040"/>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حداقل ۵ مورد کاربرد اصلی</a:t>
            </a:r>
            <a:endParaRPr lang="en-US" sz="1300" dirty="0"/>
          </a:p>
        </p:txBody>
      </p:sp>
      <p:sp>
        <p:nvSpPr>
          <p:cNvPr id="9" name="Shape 6"/>
          <p:cNvSpPr/>
          <p:nvPr/>
        </p:nvSpPr>
        <p:spPr>
          <a:xfrm>
            <a:off x="11441887" y="2889504"/>
            <a:ext cx="100584" cy="100584"/>
          </a:xfrm>
          <a:prstGeom prst="ellipse">
            <a:avLst/>
          </a:prstGeom>
          <a:solidFill>
            <a:srgbClr val="F2A93B"/>
          </a:solidFill>
          <a:ln/>
        </p:spPr>
      </p:sp>
      <p:sp>
        <p:nvSpPr>
          <p:cNvPr id="10" name="Text 7"/>
          <p:cNvSpPr/>
          <p:nvPr/>
        </p:nvSpPr>
        <p:spPr>
          <a:xfrm>
            <a:off x="7086600" y="2816352"/>
            <a:ext cx="4236415" cy="237744"/>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ورود به سیستم</a:t>
            </a:r>
            <a:endParaRPr lang="en-US" sz="1150" dirty="0"/>
          </a:p>
        </p:txBody>
      </p:sp>
      <p:sp>
        <p:nvSpPr>
          <p:cNvPr id="11" name="Text 8"/>
          <p:cNvSpPr/>
          <p:nvPr/>
        </p:nvSpPr>
        <p:spPr>
          <a:xfrm>
            <a:off x="7086600" y="3044952"/>
            <a:ext cx="4236415" cy="310896"/>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احراز هویت دانش‌آموز، معلم یا مدیر پیش از دسترسی به امکانات</a:t>
            </a:r>
            <a:endParaRPr lang="en-US" sz="950" dirty="0"/>
          </a:p>
        </p:txBody>
      </p:sp>
      <p:sp>
        <p:nvSpPr>
          <p:cNvPr id="12" name="Shape 9"/>
          <p:cNvSpPr/>
          <p:nvPr/>
        </p:nvSpPr>
        <p:spPr>
          <a:xfrm>
            <a:off x="11441887" y="3456432"/>
            <a:ext cx="100584" cy="100584"/>
          </a:xfrm>
          <a:prstGeom prst="ellipse">
            <a:avLst/>
          </a:prstGeom>
          <a:solidFill>
            <a:srgbClr val="F2A93B"/>
          </a:solidFill>
          <a:ln/>
        </p:spPr>
      </p:sp>
      <p:sp>
        <p:nvSpPr>
          <p:cNvPr id="13" name="Text 10"/>
          <p:cNvSpPr/>
          <p:nvPr/>
        </p:nvSpPr>
        <p:spPr>
          <a:xfrm>
            <a:off x="7086600" y="3383280"/>
            <a:ext cx="4236415" cy="237744"/>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شرکت در کلاس آنلین</a:t>
            </a:r>
            <a:endParaRPr lang="en-US" sz="1150" dirty="0"/>
          </a:p>
        </p:txBody>
      </p:sp>
      <p:sp>
        <p:nvSpPr>
          <p:cNvPr id="14" name="Text 11"/>
          <p:cNvSpPr/>
          <p:nvPr/>
        </p:nvSpPr>
        <p:spPr>
          <a:xfrm>
            <a:off x="7086600" y="3611880"/>
            <a:ext cx="4236415" cy="310896"/>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اتصال دانش‌آموز به جلسهٔ زنده (Live Session) و حضور در کلاس</a:t>
            </a:r>
            <a:endParaRPr lang="en-US" sz="950" dirty="0"/>
          </a:p>
        </p:txBody>
      </p:sp>
      <p:sp>
        <p:nvSpPr>
          <p:cNvPr id="15" name="Shape 12"/>
          <p:cNvSpPr/>
          <p:nvPr/>
        </p:nvSpPr>
        <p:spPr>
          <a:xfrm>
            <a:off x="11441887" y="4023360"/>
            <a:ext cx="100584" cy="100584"/>
          </a:xfrm>
          <a:prstGeom prst="ellipse">
            <a:avLst/>
          </a:prstGeom>
          <a:solidFill>
            <a:srgbClr val="F2A93B"/>
          </a:solidFill>
          <a:ln/>
        </p:spPr>
      </p:sp>
      <p:sp>
        <p:nvSpPr>
          <p:cNvPr id="16" name="Text 13"/>
          <p:cNvSpPr/>
          <p:nvPr/>
        </p:nvSpPr>
        <p:spPr>
          <a:xfrm>
            <a:off x="7086600" y="3950208"/>
            <a:ext cx="4236415" cy="237744"/>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ارسال تکلیف</a:t>
            </a:r>
            <a:endParaRPr lang="en-US" sz="1150" dirty="0"/>
          </a:p>
        </p:txBody>
      </p:sp>
      <p:sp>
        <p:nvSpPr>
          <p:cNvPr id="17" name="Text 14"/>
          <p:cNvSpPr/>
          <p:nvPr/>
        </p:nvSpPr>
        <p:spPr>
          <a:xfrm>
            <a:off x="7086600" y="4178808"/>
            <a:ext cx="4236415" cy="310896"/>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انتخاب تکلیف، بارگذاری فایل پاسخ و دریافت تاییدیهٔ ثبت</a:t>
            </a:r>
            <a:endParaRPr lang="en-US" sz="950" dirty="0"/>
          </a:p>
        </p:txBody>
      </p:sp>
      <p:sp>
        <p:nvSpPr>
          <p:cNvPr id="18" name="Shape 15"/>
          <p:cNvSpPr/>
          <p:nvPr/>
        </p:nvSpPr>
        <p:spPr>
          <a:xfrm>
            <a:off x="11441887" y="4590288"/>
            <a:ext cx="100584" cy="100584"/>
          </a:xfrm>
          <a:prstGeom prst="ellipse">
            <a:avLst/>
          </a:prstGeom>
          <a:solidFill>
            <a:srgbClr val="F2A93B"/>
          </a:solidFill>
          <a:ln/>
        </p:spPr>
      </p:sp>
      <p:sp>
        <p:nvSpPr>
          <p:cNvPr id="19" name="Text 16"/>
          <p:cNvSpPr/>
          <p:nvPr/>
        </p:nvSpPr>
        <p:spPr>
          <a:xfrm>
            <a:off x="7086600" y="4517136"/>
            <a:ext cx="4236415" cy="237744"/>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شرکت در آزمون</a:t>
            </a:r>
            <a:endParaRPr lang="en-US" sz="1150" dirty="0"/>
          </a:p>
        </p:txBody>
      </p:sp>
      <p:sp>
        <p:nvSpPr>
          <p:cNvPr id="20" name="Text 17"/>
          <p:cNvSpPr/>
          <p:nvPr/>
        </p:nvSpPr>
        <p:spPr>
          <a:xfrm>
            <a:off x="7086600" y="4745736"/>
            <a:ext cx="4236415" cy="310896"/>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پاسخ‌گویی به سوالات آزمون آنلین در بازهٔ زمانی تعیین‌شده</a:t>
            </a:r>
            <a:endParaRPr lang="en-US" sz="950" dirty="0"/>
          </a:p>
        </p:txBody>
      </p:sp>
      <p:sp>
        <p:nvSpPr>
          <p:cNvPr id="21" name="Shape 18"/>
          <p:cNvSpPr/>
          <p:nvPr/>
        </p:nvSpPr>
        <p:spPr>
          <a:xfrm>
            <a:off x="11441887" y="5157216"/>
            <a:ext cx="100584" cy="100584"/>
          </a:xfrm>
          <a:prstGeom prst="ellipse">
            <a:avLst/>
          </a:prstGeom>
          <a:solidFill>
            <a:srgbClr val="F2A93B"/>
          </a:solidFill>
          <a:ln/>
        </p:spPr>
      </p:sp>
      <p:sp>
        <p:nvSpPr>
          <p:cNvPr id="22" name="Text 19"/>
          <p:cNvSpPr/>
          <p:nvPr/>
        </p:nvSpPr>
        <p:spPr>
          <a:xfrm>
            <a:off x="7086600" y="5084064"/>
            <a:ext cx="4236415" cy="237744"/>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مشاهدهٔ نمرات و گزارش‌ها</a:t>
            </a:r>
            <a:endParaRPr lang="en-US" sz="1150" dirty="0"/>
          </a:p>
        </p:txBody>
      </p:sp>
      <p:sp>
        <p:nvSpPr>
          <p:cNvPr id="23" name="Text 20"/>
          <p:cNvSpPr/>
          <p:nvPr/>
        </p:nvSpPr>
        <p:spPr>
          <a:xfrm>
            <a:off x="7086600" y="5312664"/>
            <a:ext cx="4236415" cy="310896"/>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بررسی نتایج تکالیف، آزمون‌ها و وضعیت پیشرفت تحصیلی</a:t>
            </a:r>
            <a:endParaRPr lang="en-US" sz="950" dirty="0"/>
          </a:p>
        </p:txBody>
      </p:sp>
      <p:sp>
        <p:nvSpPr>
          <p:cNvPr id="24" name="Shape 21"/>
          <p:cNvSpPr/>
          <p:nvPr/>
        </p:nvSpPr>
        <p:spPr>
          <a:xfrm>
            <a:off x="11441887" y="5724144"/>
            <a:ext cx="100584" cy="100584"/>
          </a:xfrm>
          <a:prstGeom prst="ellipse">
            <a:avLst/>
          </a:prstGeom>
          <a:solidFill>
            <a:srgbClr val="F2A93B"/>
          </a:solidFill>
          <a:ln/>
        </p:spPr>
      </p:sp>
      <p:sp>
        <p:nvSpPr>
          <p:cNvPr id="25" name="Text 22"/>
          <p:cNvSpPr/>
          <p:nvPr/>
        </p:nvSpPr>
        <p:spPr>
          <a:xfrm>
            <a:off x="7086600" y="5650992"/>
            <a:ext cx="4236415" cy="237744"/>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مدیریت محتوای آموزشی</a:t>
            </a:r>
            <a:endParaRPr lang="en-US" sz="1150" dirty="0"/>
          </a:p>
        </p:txBody>
      </p:sp>
      <p:sp>
        <p:nvSpPr>
          <p:cNvPr id="26" name="Text 23"/>
          <p:cNvSpPr/>
          <p:nvPr/>
        </p:nvSpPr>
        <p:spPr>
          <a:xfrm>
            <a:off x="7086600" y="5879592"/>
            <a:ext cx="4236415" cy="310896"/>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بارگذاری و ویرایش محتوا، تکالیف و آزمون توسط معلم</a:t>
            </a:r>
            <a:endParaRPr lang="en-US" sz="950" dirty="0"/>
          </a:p>
        </p:txBody>
      </p:sp>
      <p:sp>
        <p:nvSpPr>
          <p:cNvPr id="27" name="Text 24"/>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28" name="Text 25"/>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۲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نمودار کلاس دامنه (Domain Class Diagram)</a:t>
            </a:r>
            <a:endParaRPr lang="en-US" sz="3000" dirty="0"/>
          </a:p>
        </p:txBody>
      </p:sp>
      <p:sp>
        <p:nvSpPr>
          <p:cNvPr id="4" name="Shape 2"/>
          <p:cNvSpPr/>
          <p:nvPr/>
        </p:nvSpPr>
        <p:spPr>
          <a:xfrm>
            <a:off x="548640" y="1417320"/>
            <a:ext cx="6949440" cy="4892040"/>
          </a:xfrm>
          <a:prstGeom prst="roundRect">
            <a:avLst>
              <a:gd name="adj" fmla="val 1495"/>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domainclass.jpeg">    </p:cNvPr>
          <p:cNvPicPr>
            <a:picLocks noChangeAspect="1"/>
          </p:cNvPicPr>
          <p:nvPr/>
        </p:nvPicPr>
        <p:blipFill>
          <a:blip r:embed="rId1"/>
          <a:stretch>
            <a:fillRect/>
          </a:stretch>
        </p:blipFill>
        <p:spPr>
          <a:xfrm>
            <a:off x="685800" y="1683709"/>
            <a:ext cx="6675120" cy="4359262"/>
          </a:xfrm>
          <a:prstGeom prst="rect">
            <a:avLst/>
          </a:prstGeom>
        </p:spPr>
      </p:pic>
      <p:sp>
        <p:nvSpPr>
          <p:cNvPr id="6" name="Text 3"/>
          <p:cNvSpPr/>
          <p:nvPr/>
        </p:nvSpPr>
        <p:spPr>
          <a:xfrm>
            <a:off x="7726680" y="1417320"/>
            <a:ext cx="391637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کلاس‌های اصلی دامنه</a:t>
            </a:r>
            <a:endParaRPr lang="en-US" sz="1300" dirty="0"/>
          </a:p>
        </p:txBody>
      </p:sp>
      <p:sp>
        <p:nvSpPr>
          <p:cNvPr id="7" name="Text 4"/>
          <p:cNvSpPr/>
          <p:nvPr/>
        </p:nvSpPr>
        <p:spPr>
          <a:xfrm>
            <a:off x="7726680" y="1737360"/>
            <a:ext cx="3916375" cy="502920"/>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Student ، Teacher ، Class ، Assignment ، Submission ، Exam ، Question ، LiveSession ، Notification</a:t>
            </a:r>
            <a:endParaRPr lang="en-US" sz="1050" dirty="0"/>
          </a:p>
        </p:txBody>
      </p:sp>
      <p:sp>
        <p:nvSpPr>
          <p:cNvPr id="8" name="Text 5"/>
          <p:cNvSpPr/>
          <p:nvPr/>
        </p:nvSpPr>
        <p:spPr>
          <a:xfrm>
            <a:off x="7726680" y="2331720"/>
            <a:ext cx="391637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نمونه‌ای از روابط و کاردینالیتی</a:t>
            </a:r>
            <a:endParaRPr lang="en-US" sz="1300" dirty="0"/>
          </a:p>
        </p:txBody>
      </p:sp>
      <p:sp>
        <p:nvSpPr>
          <p:cNvPr id="9" name="Text 6"/>
          <p:cNvSpPr/>
          <p:nvPr/>
        </p:nvSpPr>
        <p:spPr>
          <a:xfrm>
            <a:off x="7726680" y="2670048"/>
            <a:ext cx="3916375" cy="365760"/>
          </a:xfrm>
          <a:prstGeom prst="rect">
            <a:avLst/>
          </a:prstGeom>
          <a:noFill/>
          <a:ln/>
        </p:spPr>
        <p:txBody>
          <a:bodyPr wrap="square" rtlCol="0" anchor="ctr"/>
          <a:lstStyle/>
          <a:p>
            <a:pPr rtl="1" algn="r" indent="0" marL="0">
              <a:buNone/>
            </a:pPr>
            <a:r>
              <a:rPr lang="en-US" sz="1000" dirty="0">
                <a:solidFill>
                  <a:srgbClr val="3A4A4E"/>
                </a:solidFill>
                <a:latin typeface="Courier New" pitchFamily="34" charset="0"/>
                <a:ea typeface="Courier New" pitchFamily="34" charset="-122"/>
                <a:cs typeface="Courier New" pitchFamily="34" charset="-120"/>
              </a:rPr>
              <a:t>Student «1..*» — «1..*» Class</a:t>
            </a:r>
            <a:endParaRPr lang="en-US" sz="1000" dirty="0"/>
          </a:p>
        </p:txBody>
      </p:sp>
      <p:sp>
        <p:nvSpPr>
          <p:cNvPr id="10" name="Text 7"/>
          <p:cNvSpPr/>
          <p:nvPr/>
        </p:nvSpPr>
        <p:spPr>
          <a:xfrm>
            <a:off x="7726680" y="3035808"/>
            <a:ext cx="3916375" cy="365760"/>
          </a:xfrm>
          <a:prstGeom prst="rect">
            <a:avLst/>
          </a:prstGeom>
          <a:noFill/>
          <a:ln/>
        </p:spPr>
        <p:txBody>
          <a:bodyPr wrap="square" rtlCol="0" anchor="ctr"/>
          <a:lstStyle/>
          <a:p>
            <a:pPr rtl="1" algn="r" indent="0" marL="0">
              <a:buNone/>
            </a:pPr>
            <a:r>
              <a:rPr lang="en-US" sz="1000" dirty="0">
                <a:solidFill>
                  <a:srgbClr val="3A4A4E"/>
                </a:solidFill>
                <a:latin typeface="Courier New" pitchFamily="34" charset="0"/>
                <a:ea typeface="Courier New" pitchFamily="34" charset="-122"/>
                <a:cs typeface="Courier New" pitchFamily="34" charset="-120"/>
              </a:rPr>
              <a:t>Teacher «1» — «1..*» Class</a:t>
            </a:r>
            <a:endParaRPr lang="en-US" sz="1000" dirty="0"/>
          </a:p>
        </p:txBody>
      </p:sp>
      <p:sp>
        <p:nvSpPr>
          <p:cNvPr id="11" name="Text 8"/>
          <p:cNvSpPr/>
          <p:nvPr/>
        </p:nvSpPr>
        <p:spPr>
          <a:xfrm>
            <a:off x="7726680" y="3401568"/>
            <a:ext cx="3916375" cy="365760"/>
          </a:xfrm>
          <a:prstGeom prst="rect">
            <a:avLst/>
          </a:prstGeom>
          <a:noFill/>
          <a:ln/>
        </p:spPr>
        <p:txBody>
          <a:bodyPr wrap="square" rtlCol="0" anchor="ctr"/>
          <a:lstStyle/>
          <a:p>
            <a:pPr rtl="1" algn="r" indent="0" marL="0">
              <a:buNone/>
            </a:pPr>
            <a:r>
              <a:rPr lang="en-US" sz="1000" dirty="0">
                <a:solidFill>
                  <a:srgbClr val="3A4A4E"/>
                </a:solidFill>
                <a:latin typeface="Courier New" pitchFamily="34" charset="0"/>
                <a:ea typeface="Courier New" pitchFamily="34" charset="-122"/>
                <a:cs typeface="Courier New" pitchFamily="34" charset="-120"/>
              </a:rPr>
              <a:t>Class «1» — «0..*» Assignment/Exam</a:t>
            </a:r>
            <a:endParaRPr lang="en-US" sz="1000" dirty="0"/>
          </a:p>
        </p:txBody>
      </p:sp>
      <p:sp>
        <p:nvSpPr>
          <p:cNvPr id="12" name="Text 9"/>
          <p:cNvSpPr/>
          <p:nvPr/>
        </p:nvSpPr>
        <p:spPr>
          <a:xfrm>
            <a:off x="7726680" y="3767328"/>
            <a:ext cx="3916375" cy="365760"/>
          </a:xfrm>
          <a:prstGeom prst="rect">
            <a:avLst/>
          </a:prstGeom>
          <a:noFill/>
          <a:ln/>
        </p:spPr>
        <p:txBody>
          <a:bodyPr wrap="square" rtlCol="0" anchor="ctr"/>
          <a:lstStyle/>
          <a:p>
            <a:pPr rtl="1" algn="r" indent="0" marL="0">
              <a:buNone/>
            </a:pPr>
            <a:r>
              <a:rPr lang="en-US" sz="1000" dirty="0">
                <a:solidFill>
                  <a:srgbClr val="3A4A4E"/>
                </a:solidFill>
                <a:latin typeface="Courier New" pitchFamily="34" charset="0"/>
                <a:ea typeface="Courier New" pitchFamily="34" charset="-122"/>
                <a:cs typeface="Courier New" pitchFamily="34" charset="-120"/>
              </a:rPr>
              <a:t>Assignment «1» — «0..*» Submission</a:t>
            </a:r>
            <a:endParaRPr lang="en-US" sz="1000" dirty="0"/>
          </a:p>
        </p:txBody>
      </p:sp>
      <p:sp>
        <p:nvSpPr>
          <p:cNvPr id="13" name="Text 10"/>
          <p:cNvSpPr/>
          <p:nvPr/>
        </p:nvSpPr>
        <p:spPr>
          <a:xfrm>
            <a:off x="7726680" y="4133088"/>
            <a:ext cx="3916375" cy="365760"/>
          </a:xfrm>
          <a:prstGeom prst="rect">
            <a:avLst/>
          </a:prstGeom>
          <a:noFill/>
          <a:ln/>
        </p:spPr>
        <p:txBody>
          <a:bodyPr wrap="square" rtlCol="0" anchor="ctr"/>
          <a:lstStyle/>
          <a:p>
            <a:pPr rtl="1" algn="r" indent="0" marL="0">
              <a:buNone/>
            </a:pPr>
            <a:r>
              <a:rPr lang="en-US" sz="1000" dirty="0">
                <a:solidFill>
                  <a:srgbClr val="3A4A4E"/>
                </a:solidFill>
                <a:latin typeface="Courier New" pitchFamily="34" charset="0"/>
                <a:ea typeface="Courier New" pitchFamily="34" charset="-122"/>
                <a:cs typeface="Courier New" pitchFamily="34" charset="-120"/>
              </a:rPr>
              <a:t>Exam «1» — «1..*» Question</a:t>
            </a:r>
            <a:endParaRPr lang="en-US" sz="1000" dirty="0"/>
          </a:p>
        </p:txBody>
      </p:sp>
      <p:sp>
        <p:nvSpPr>
          <p:cNvPr id="14" name="Text 11"/>
          <p:cNvSpPr/>
          <p:nvPr/>
        </p:nvSpPr>
        <p:spPr>
          <a:xfrm>
            <a:off x="7726680" y="4498848"/>
            <a:ext cx="3916375" cy="365760"/>
          </a:xfrm>
          <a:prstGeom prst="rect">
            <a:avLst/>
          </a:prstGeom>
          <a:noFill/>
          <a:ln/>
        </p:spPr>
        <p:txBody>
          <a:bodyPr wrap="square" rtlCol="0" anchor="ctr"/>
          <a:lstStyle/>
          <a:p>
            <a:pPr rtl="1" algn="r" indent="0" marL="0">
              <a:buNone/>
            </a:pPr>
            <a:r>
              <a:rPr lang="en-US" sz="1000" dirty="0">
                <a:solidFill>
                  <a:srgbClr val="3A4A4E"/>
                </a:solidFill>
                <a:latin typeface="Courier New" pitchFamily="34" charset="0"/>
                <a:ea typeface="Courier New" pitchFamily="34" charset="-122"/>
                <a:cs typeface="Courier New" pitchFamily="34" charset="-120"/>
              </a:rPr>
              <a:t>Student «1» — «0..*» Notification</a:t>
            </a:r>
            <a:endParaRPr lang="en-US" sz="1000" dirty="0"/>
          </a:p>
        </p:txBody>
      </p:sp>
      <p:sp>
        <p:nvSpPr>
          <p:cNvPr id="15" name="Shape 12"/>
          <p:cNvSpPr/>
          <p:nvPr/>
        </p:nvSpPr>
        <p:spPr>
          <a:xfrm>
            <a:off x="7726680" y="5029200"/>
            <a:ext cx="3916375" cy="1234440"/>
          </a:xfrm>
          <a:prstGeom prst="roundRect">
            <a:avLst>
              <a:gd name="adj" fmla="val 5926"/>
            </a:avLst>
          </a:prstGeom>
          <a:solidFill>
            <a:srgbClr val="EAF4F5"/>
          </a:solidFill>
          <a:ln/>
        </p:spPr>
      </p:sp>
      <p:sp>
        <p:nvSpPr>
          <p:cNvPr id="16" name="Text 13"/>
          <p:cNvSpPr/>
          <p:nvPr/>
        </p:nvSpPr>
        <p:spPr>
          <a:xfrm>
            <a:off x="7909560" y="5138928"/>
            <a:ext cx="3550615" cy="1005840"/>
          </a:xfrm>
          <a:prstGeom prst="rect">
            <a:avLst/>
          </a:prstGeom>
          <a:noFill/>
          <a:ln/>
        </p:spPr>
        <p:txBody>
          <a:bodyPr wrap="square" rtlCol="0" anchor="t"/>
          <a:lstStyle/>
          <a:p>
            <a:pPr rtl="1" algn="r" indent="0" marL="0">
              <a:buNone/>
            </a:pPr>
            <a:r>
              <a:rPr lang="en-US" sz="980" dirty="0">
                <a:solidFill>
                  <a:srgbClr val="3A4A4E"/>
                </a:solidFill>
                <a:latin typeface="Tahoma" pitchFamily="34" charset="0"/>
                <a:ea typeface="Tahoma" pitchFamily="34" charset="-122"/>
                <a:cs typeface="Tahoma" pitchFamily="34" charset="-120"/>
              </a:rPr>
              <a:t>این کلاس‌ها مستقیماً از مفاهیم به‌کاررفته در Use Caseها استخراج شده‌اند و کاردینالیتی دقیق هر رابطه در تصویر نمودار مشخص شده است.</a:t>
            </a:r>
            <a:endParaRPr lang="en-US" sz="980" dirty="0"/>
          </a:p>
        </p:txBody>
      </p:sp>
      <p:sp>
        <p:nvSpPr>
          <p:cNvPr id="17" name="Text 14"/>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18" name="Text 15"/>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A4A"/>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F2A93B"/>
                </a:solidFill>
                <a:latin typeface="Tahoma" pitchFamily="34" charset="0"/>
                <a:ea typeface="Tahoma" pitchFamily="34" charset="-122"/>
                <a:cs typeface="Tahoma" pitchFamily="34" charset="-120"/>
              </a:rPr>
              <a:t>تحویلی ۳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FFFFFF"/>
                </a:solidFill>
                <a:latin typeface="Tahoma" pitchFamily="34" charset="0"/>
                <a:ea typeface="Tahoma" pitchFamily="34" charset="-122"/>
                <a:cs typeface="Tahoma" pitchFamily="34" charset="-120"/>
              </a:rPr>
              <a:t>نمودار توالی — سه سناریوی بحرانی</a:t>
            </a:r>
            <a:endParaRPr lang="en-US" sz="3000" dirty="0"/>
          </a:p>
        </p:txBody>
      </p:sp>
      <p:sp>
        <p:nvSpPr>
          <p:cNvPr id="4" name="Text 2"/>
          <p:cNvSpPr/>
          <p:nvPr/>
        </p:nvSpPr>
        <p:spPr>
          <a:xfrm>
            <a:off x="548640" y="1417320"/>
            <a:ext cx="11094415" cy="502920"/>
          </a:xfrm>
          <a:prstGeom prst="rect">
            <a:avLst/>
          </a:prstGeom>
          <a:noFill/>
          <a:ln/>
        </p:spPr>
        <p:txBody>
          <a:bodyPr wrap="square" rtlCol="0" anchor="ctr"/>
          <a:lstStyle/>
          <a:p>
            <a:pPr rtl="1" algn="r" indent="0" marL="0">
              <a:buNone/>
            </a:pPr>
            <a:r>
              <a:rPr lang="en-US" sz="1300" dirty="0">
                <a:solidFill>
                  <a:srgbClr val="EAF4F5"/>
                </a:solidFill>
                <a:latin typeface="Tahoma" pitchFamily="34" charset="0"/>
                <a:ea typeface="Tahoma" pitchFamily="34" charset="-122"/>
                <a:cs typeface="Tahoma" pitchFamily="34" charset="-120"/>
              </a:rPr>
              <a:t>نمودار کلاس دامنه ساختار سیستم را نشان می‌دهد اما ترتیب تعامل زمانی میان اشیاء را مشخص نمی‌کند؛ این نقش را نمودار توالی ایفا می‌کند.</a:t>
            </a:r>
            <a:endParaRPr lang="en-US" sz="1300" dirty="0"/>
          </a:p>
        </p:txBody>
      </p:sp>
      <p:sp>
        <p:nvSpPr>
          <p:cNvPr id="5" name="Shape 3"/>
          <p:cNvSpPr/>
          <p:nvPr/>
        </p:nvSpPr>
        <p:spPr>
          <a:xfrm>
            <a:off x="548640" y="2286000"/>
            <a:ext cx="3454298" cy="3749040"/>
          </a:xfrm>
          <a:prstGeom prst="roundRect">
            <a:avLst>
              <a:gd name="adj" fmla="val 2647"/>
            </a:avLst>
          </a:prstGeom>
          <a:solidFill>
            <a:srgbClr val="072530"/>
          </a:solidFill>
          <a:ln w="12700">
            <a:solidFill>
              <a:srgbClr val="0E7C86"/>
            </a:solidFill>
            <a:prstDash val="solid"/>
          </a:ln>
        </p:spPr>
      </p:sp>
      <p:sp>
        <p:nvSpPr>
          <p:cNvPr id="6" name="Shape 4"/>
          <p:cNvSpPr/>
          <p:nvPr/>
        </p:nvSpPr>
        <p:spPr>
          <a:xfrm>
            <a:off x="1955749" y="2606040"/>
            <a:ext cx="640080" cy="640080"/>
          </a:xfrm>
          <a:prstGeom prst="ellipse">
            <a:avLst/>
          </a:prstGeom>
          <a:solidFill>
            <a:srgbClr val="F2A93B"/>
          </a:solidFill>
          <a:ln/>
        </p:spPr>
      </p:sp>
      <p:sp>
        <p:nvSpPr>
          <p:cNvPr id="7" name="Text 5"/>
          <p:cNvSpPr/>
          <p:nvPr/>
        </p:nvSpPr>
        <p:spPr>
          <a:xfrm>
            <a:off x="1955749" y="2606040"/>
            <a:ext cx="640080" cy="640080"/>
          </a:xfrm>
          <a:prstGeom prst="rect">
            <a:avLst/>
          </a:prstGeom>
          <a:noFill/>
          <a:ln/>
        </p:spPr>
        <p:txBody>
          <a:bodyPr wrap="square" rtlCol="0" anchor="ctr"/>
          <a:lstStyle/>
          <a:p>
            <a:pPr algn="ctr" indent="0" marL="0">
              <a:buNone/>
            </a:pPr>
            <a:r>
              <a:rPr lang="en-US" sz="2380" b="1" dirty="0">
                <a:solidFill>
                  <a:srgbClr val="FFFFFF"/>
                </a:solidFill>
                <a:latin typeface="Tahoma" pitchFamily="34" charset="0"/>
                <a:ea typeface="Tahoma" pitchFamily="34" charset="-122"/>
                <a:cs typeface="Tahoma" pitchFamily="34" charset="-120"/>
              </a:rPr>
              <a:t>۱</a:t>
            </a:r>
            <a:endParaRPr lang="en-US" sz="2380" dirty="0"/>
          </a:p>
        </p:txBody>
      </p:sp>
      <p:sp>
        <p:nvSpPr>
          <p:cNvPr id="8" name="Text 6"/>
          <p:cNvSpPr/>
          <p:nvPr/>
        </p:nvSpPr>
        <p:spPr>
          <a:xfrm>
            <a:off x="777240" y="3474720"/>
            <a:ext cx="2997098" cy="457200"/>
          </a:xfrm>
          <a:prstGeom prst="rect">
            <a:avLst/>
          </a:prstGeom>
          <a:noFill/>
          <a:ln/>
        </p:spPr>
        <p:txBody>
          <a:bodyPr wrap="square"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ارسال تکلیف</a:t>
            </a:r>
            <a:endParaRPr lang="en-US" sz="1600" dirty="0"/>
          </a:p>
        </p:txBody>
      </p:sp>
      <p:sp>
        <p:nvSpPr>
          <p:cNvPr id="9" name="Text 7"/>
          <p:cNvSpPr/>
          <p:nvPr/>
        </p:nvSpPr>
        <p:spPr>
          <a:xfrm>
            <a:off x="777240" y="4069080"/>
            <a:ext cx="2997098" cy="274320"/>
          </a:xfrm>
          <a:prstGeom prst="rect">
            <a:avLst/>
          </a:prstGeom>
          <a:noFill/>
          <a:ln/>
        </p:spPr>
        <p:txBody>
          <a:bodyPr wrap="square" rtlCol="0" anchor="ctr"/>
          <a:lstStyle/>
          <a:p>
            <a:pPr rtl="1" algn="r" indent="0" marL="0">
              <a:buNone/>
            </a:pPr>
            <a:r>
              <a:rPr lang="en-US" sz="1050" b="1" dirty="0">
                <a:solidFill>
                  <a:srgbClr val="F2A93B"/>
                </a:solidFill>
                <a:latin typeface="Tahoma" pitchFamily="34" charset="0"/>
                <a:ea typeface="Tahoma" pitchFamily="34" charset="-122"/>
                <a:cs typeface="Tahoma" pitchFamily="34" charset="-120"/>
              </a:rPr>
              <a:t>اشیاء درگیر:</a:t>
            </a:r>
            <a:endParaRPr lang="en-US" sz="1050" dirty="0"/>
          </a:p>
        </p:txBody>
      </p:sp>
      <p:sp>
        <p:nvSpPr>
          <p:cNvPr id="10" name="Text 8"/>
          <p:cNvSpPr/>
          <p:nvPr/>
        </p:nvSpPr>
        <p:spPr>
          <a:xfrm>
            <a:off x="777240" y="4343400"/>
            <a:ext cx="2997098" cy="548640"/>
          </a:xfrm>
          <a:prstGeom prst="rect">
            <a:avLst/>
          </a:prstGeom>
          <a:noFill/>
          <a:ln/>
        </p:spPr>
        <p:txBody>
          <a:bodyPr wrap="square" rtlCol="0" anchor="ctr"/>
          <a:lstStyle/>
          <a:p>
            <a:pPr rtl="1" algn="r" indent="0" marL="0">
              <a:buNone/>
            </a:pPr>
            <a:r>
              <a:rPr lang="en-US" sz="1000" dirty="0">
                <a:solidFill>
                  <a:srgbClr val="EAF4F5"/>
                </a:solidFill>
                <a:latin typeface="Tahoma" pitchFamily="34" charset="0"/>
                <a:ea typeface="Tahoma" pitchFamily="34" charset="-122"/>
                <a:cs typeface="Tahoma" pitchFamily="34" charset="-120"/>
              </a:rPr>
              <a:t>Student, Assignment, Submission</a:t>
            </a:r>
            <a:endParaRPr lang="en-US" sz="1000" dirty="0"/>
          </a:p>
        </p:txBody>
      </p:sp>
      <p:sp>
        <p:nvSpPr>
          <p:cNvPr id="11" name="Text 9"/>
          <p:cNvSpPr/>
          <p:nvPr/>
        </p:nvSpPr>
        <p:spPr>
          <a:xfrm>
            <a:off x="777240" y="4983480"/>
            <a:ext cx="2997098" cy="274320"/>
          </a:xfrm>
          <a:prstGeom prst="rect">
            <a:avLst/>
          </a:prstGeom>
          <a:noFill/>
          <a:ln/>
        </p:spPr>
        <p:txBody>
          <a:bodyPr wrap="square" rtlCol="0" anchor="ctr"/>
          <a:lstStyle/>
          <a:p>
            <a:pPr rtl="1" algn="r" indent="0" marL="0">
              <a:buNone/>
            </a:pPr>
            <a:r>
              <a:rPr lang="en-US" sz="1050" b="1" dirty="0">
                <a:solidFill>
                  <a:srgbClr val="F2A93B"/>
                </a:solidFill>
                <a:latin typeface="Tahoma" pitchFamily="34" charset="0"/>
                <a:ea typeface="Tahoma" pitchFamily="34" charset="-122"/>
                <a:cs typeface="Tahoma" pitchFamily="34" charset="-120"/>
              </a:rPr>
              <a:t>جریان پیام‌ها:</a:t>
            </a:r>
            <a:endParaRPr lang="en-US" sz="1050" dirty="0"/>
          </a:p>
        </p:txBody>
      </p:sp>
      <p:sp>
        <p:nvSpPr>
          <p:cNvPr id="12" name="Text 10"/>
          <p:cNvSpPr/>
          <p:nvPr/>
        </p:nvSpPr>
        <p:spPr>
          <a:xfrm>
            <a:off x="777240" y="5257800"/>
            <a:ext cx="2997098" cy="685800"/>
          </a:xfrm>
          <a:prstGeom prst="rect">
            <a:avLst/>
          </a:prstGeom>
          <a:noFill/>
          <a:ln/>
        </p:spPr>
        <p:txBody>
          <a:bodyPr wrap="square" rtlCol="0" anchor="t"/>
          <a:lstStyle/>
          <a:p>
            <a:pPr rtl="1" algn="r" indent="0" marL="0">
              <a:buNone/>
            </a:pPr>
            <a:r>
              <a:rPr lang="en-US" sz="950" dirty="0">
                <a:solidFill>
                  <a:srgbClr val="EAF4F5"/>
                </a:solidFill>
                <a:latin typeface="Tahoma" pitchFamily="34" charset="0"/>
                <a:ea typeface="Tahoma" pitchFamily="34" charset="-122"/>
                <a:cs typeface="Tahoma" pitchFamily="34" charset="-120"/>
              </a:rPr>
              <a:t>Select Assignment → Upload File → Create/Store Submission → Confirmation</a:t>
            </a:r>
            <a:endParaRPr lang="en-US" sz="950" dirty="0"/>
          </a:p>
        </p:txBody>
      </p:sp>
      <p:sp>
        <p:nvSpPr>
          <p:cNvPr id="13" name="Shape 11"/>
          <p:cNvSpPr/>
          <p:nvPr/>
        </p:nvSpPr>
        <p:spPr>
          <a:xfrm>
            <a:off x="4368698" y="2286000"/>
            <a:ext cx="3454298" cy="3749040"/>
          </a:xfrm>
          <a:prstGeom prst="roundRect">
            <a:avLst>
              <a:gd name="adj" fmla="val 2647"/>
            </a:avLst>
          </a:prstGeom>
          <a:solidFill>
            <a:srgbClr val="072530"/>
          </a:solidFill>
          <a:ln w="12700">
            <a:solidFill>
              <a:srgbClr val="0E7C86"/>
            </a:solidFill>
            <a:prstDash val="solid"/>
          </a:ln>
        </p:spPr>
      </p:sp>
      <p:sp>
        <p:nvSpPr>
          <p:cNvPr id="14" name="Shape 12"/>
          <p:cNvSpPr/>
          <p:nvPr/>
        </p:nvSpPr>
        <p:spPr>
          <a:xfrm>
            <a:off x="5775808" y="2606040"/>
            <a:ext cx="640080" cy="640080"/>
          </a:xfrm>
          <a:prstGeom prst="ellipse">
            <a:avLst/>
          </a:prstGeom>
          <a:solidFill>
            <a:srgbClr val="F2A93B"/>
          </a:solidFill>
          <a:ln/>
        </p:spPr>
      </p:sp>
      <p:sp>
        <p:nvSpPr>
          <p:cNvPr id="15" name="Text 13"/>
          <p:cNvSpPr/>
          <p:nvPr/>
        </p:nvSpPr>
        <p:spPr>
          <a:xfrm>
            <a:off x="5775808" y="2606040"/>
            <a:ext cx="640080" cy="640080"/>
          </a:xfrm>
          <a:prstGeom prst="rect">
            <a:avLst/>
          </a:prstGeom>
          <a:noFill/>
          <a:ln/>
        </p:spPr>
        <p:txBody>
          <a:bodyPr wrap="square" rtlCol="0" anchor="ctr"/>
          <a:lstStyle/>
          <a:p>
            <a:pPr algn="ctr" indent="0" marL="0">
              <a:buNone/>
            </a:pPr>
            <a:r>
              <a:rPr lang="en-US" sz="2380" b="1" dirty="0">
                <a:solidFill>
                  <a:srgbClr val="FFFFFF"/>
                </a:solidFill>
                <a:latin typeface="Tahoma" pitchFamily="34" charset="0"/>
                <a:ea typeface="Tahoma" pitchFamily="34" charset="-122"/>
                <a:cs typeface="Tahoma" pitchFamily="34" charset="-120"/>
              </a:rPr>
              <a:t>۲</a:t>
            </a:r>
            <a:endParaRPr lang="en-US" sz="2380" dirty="0"/>
          </a:p>
        </p:txBody>
      </p:sp>
      <p:sp>
        <p:nvSpPr>
          <p:cNvPr id="16" name="Text 14"/>
          <p:cNvSpPr/>
          <p:nvPr/>
        </p:nvSpPr>
        <p:spPr>
          <a:xfrm>
            <a:off x="4597298" y="3474720"/>
            <a:ext cx="2997098" cy="457200"/>
          </a:xfrm>
          <a:prstGeom prst="rect">
            <a:avLst/>
          </a:prstGeom>
          <a:noFill/>
          <a:ln/>
        </p:spPr>
        <p:txBody>
          <a:bodyPr wrap="square"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شرکت در کلاس آنلین</a:t>
            </a:r>
            <a:endParaRPr lang="en-US" sz="1600" dirty="0"/>
          </a:p>
        </p:txBody>
      </p:sp>
      <p:sp>
        <p:nvSpPr>
          <p:cNvPr id="17" name="Text 15"/>
          <p:cNvSpPr/>
          <p:nvPr/>
        </p:nvSpPr>
        <p:spPr>
          <a:xfrm>
            <a:off x="4597298" y="4069080"/>
            <a:ext cx="2997098" cy="274320"/>
          </a:xfrm>
          <a:prstGeom prst="rect">
            <a:avLst/>
          </a:prstGeom>
          <a:noFill/>
          <a:ln/>
        </p:spPr>
        <p:txBody>
          <a:bodyPr wrap="square" rtlCol="0" anchor="ctr"/>
          <a:lstStyle/>
          <a:p>
            <a:pPr rtl="1" algn="r" indent="0" marL="0">
              <a:buNone/>
            </a:pPr>
            <a:r>
              <a:rPr lang="en-US" sz="1050" b="1" dirty="0">
                <a:solidFill>
                  <a:srgbClr val="F2A93B"/>
                </a:solidFill>
                <a:latin typeface="Tahoma" pitchFamily="34" charset="0"/>
                <a:ea typeface="Tahoma" pitchFamily="34" charset="-122"/>
                <a:cs typeface="Tahoma" pitchFamily="34" charset="-120"/>
              </a:rPr>
              <a:t>اشیاء درگیر:</a:t>
            </a:r>
            <a:endParaRPr lang="en-US" sz="1050" dirty="0"/>
          </a:p>
        </p:txBody>
      </p:sp>
      <p:sp>
        <p:nvSpPr>
          <p:cNvPr id="18" name="Text 16"/>
          <p:cNvSpPr/>
          <p:nvPr/>
        </p:nvSpPr>
        <p:spPr>
          <a:xfrm>
            <a:off x="4597298" y="4343400"/>
            <a:ext cx="2997098" cy="548640"/>
          </a:xfrm>
          <a:prstGeom prst="rect">
            <a:avLst/>
          </a:prstGeom>
          <a:noFill/>
          <a:ln/>
        </p:spPr>
        <p:txBody>
          <a:bodyPr wrap="square" rtlCol="0" anchor="ctr"/>
          <a:lstStyle/>
          <a:p>
            <a:pPr rtl="1" algn="r" indent="0" marL="0">
              <a:buNone/>
            </a:pPr>
            <a:r>
              <a:rPr lang="en-US" sz="1000" dirty="0">
                <a:solidFill>
                  <a:srgbClr val="EAF4F5"/>
                </a:solidFill>
                <a:latin typeface="Tahoma" pitchFamily="34" charset="0"/>
                <a:ea typeface="Tahoma" pitchFamily="34" charset="-122"/>
                <a:cs typeface="Tahoma" pitchFamily="34" charset="-120"/>
              </a:rPr>
              <a:t>Student, Classroom, LiveSession, Attendance</a:t>
            </a:r>
            <a:endParaRPr lang="en-US" sz="1000" dirty="0"/>
          </a:p>
        </p:txBody>
      </p:sp>
      <p:sp>
        <p:nvSpPr>
          <p:cNvPr id="19" name="Text 17"/>
          <p:cNvSpPr/>
          <p:nvPr/>
        </p:nvSpPr>
        <p:spPr>
          <a:xfrm>
            <a:off x="4597298" y="4983480"/>
            <a:ext cx="2997098" cy="274320"/>
          </a:xfrm>
          <a:prstGeom prst="rect">
            <a:avLst/>
          </a:prstGeom>
          <a:noFill/>
          <a:ln/>
        </p:spPr>
        <p:txBody>
          <a:bodyPr wrap="square" rtlCol="0" anchor="ctr"/>
          <a:lstStyle/>
          <a:p>
            <a:pPr rtl="1" algn="r" indent="0" marL="0">
              <a:buNone/>
            </a:pPr>
            <a:r>
              <a:rPr lang="en-US" sz="1050" b="1" dirty="0">
                <a:solidFill>
                  <a:srgbClr val="F2A93B"/>
                </a:solidFill>
                <a:latin typeface="Tahoma" pitchFamily="34" charset="0"/>
                <a:ea typeface="Tahoma" pitchFamily="34" charset="-122"/>
                <a:cs typeface="Tahoma" pitchFamily="34" charset="-120"/>
              </a:rPr>
              <a:t>جریان پیام‌ها:</a:t>
            </a:r>
            <a:endParaRPr lang="en-US" sz="1050" dirty="0"/>
          </a:p>
        </p:txBody>
      </p:sp>
      <p:sp>
        <p:nvSpPr>
          <p:cNvPr id="20" name="Text 18"/>
          <p:cNvSpPr/>
          <p:nvPr/>
        </p:nvSpPr>
        <p:spPr>
          <a:xfrm>
            <a:off x="4597298" y="5257800"/>
            <a:ext cx="2997098" cy="685800"/>
          </a:xfrm>
          <a:prstGeom prst="rect">
            <a:avLst/>
          </a:prstGeom>
          <a:noFill/>
          <a:ln/>
        </p:spPr>
        <p:txBody>
          <a:bodyPr wrap="square" rtlCol="0" anchor="t"/>
          <a:lstStyle/>
          <a:p>
            <a:pPr rtl="1" algn="r" indent="0" marL="0">
              <a:buNone/>
            </a:pPr>
            <a:r>
              <a:rPr lang="en-US" sz="950" dirty="0">
                <a:solidFill>
                  <a:srgbClr val="EAF4F5"/>
                </a:solidFill>
                <a:latin typeface="Tahoma" pitchFamily="34" charset="0"/>
                <a:ea typeface="Tahoma" pitchFamily="34" charset="-122"/>
                <a:cs typeface="Tahoma" pitchFamily="34" charset="-120"/>
              </a:rPr>
              <a:t>Student → Classroom → LiveSession → ثبت حضور</a:t>
            </a:r>
            <a:endParaRPr lang="en-US" sz="950" dirty="0"/>
          </a:p>
        </p:txBody>
      </p:sp>
      <p:sp>
        <p:nvSpPr>
          <p:cNvPr id="21" name="Shape 19"/>
          <p:cNvSpPr/>
          <p:nvPr/>
        </p:nvSpPr>
        <p:spPr>
          <a:xfrm>
            <a:off x="8188757" y="2286000"/>
            <a:ext cx="3454298" cy="3749040"/>
          </a:xfrm>
          <a:prstGeom prst="roundRect">
            <a:avLst>
              <a:gd name="adj" fmla="val 2647"/>
            </a:avLst>
          </a:prstGeom>
          <a:solidFill>
            <a:srgbClr val="072530"/>
          </a:solidFill>
          <a:ln w="12700">
            <a:solidFill>
              <a:srgbClr val="0E7C86"/>
            </a:solidFill>
            <a:prstDash val="solid"/>
          </a:ln>
        </p:spPr>
      </p:sp>
      <p:sp>
        <p:nvSpPr>
          <p:cNvPr id="22" name="Shape 20"/>
          <p:cNvSpPr/>
          <p:nvPr/>
        </p:nvSpPr>
        <p:spPr>
          <a:xfrm>
            <a:off x="9595866" y="2606040"/>
            <a:ext cx="640080" cy="640080"/>
          </a:xfrm>
          <a:prstGeom prst="ellipse">
            <a:avLst/>
          </a:prstGeom>
          <a:solidFill>
            <a:srgbClr val="F2A93B"/>
          </a:solidFill>
          <a:ln/>
        </p:spPr>
      </p:sp>
      <p:sp>
        <p:nvSpPr>
          <p:cNvPr id="23" name="Text 21"/>
          <p:cNvSpPr/>
          <p:nvPr/>
        </p:nvSpPr>
        <p:spPr>
          <a:xfrm>
            <a:off x="9595866" y="2606040"/>
            <a:ext cx="640080" cy="640080"/>
          </a:xfrm>
          <a:prstGeom prst="rect">
            <a:avLst/>
          </a:prstGeom>
          <a:noFill/>
          <a:ln/>
        </p:spPr>
        <p:txBody>
          <a:bodyPr wrap="square" rtlCol="0" anchor="ctr"/>
          <a:lstStyle/>
          <a:p>
            <a:pPr algn="ctr" indent="0" marL="0">
              <a:buNone/>
            </a:pPr>
            <a:r>
              <a:rPr lang="en-US" sz="2380" b="1" dirty="0">
                <a:solidFill>
                  <a:srgbClr val="FFFFFF"/>
                </a:solidFill>
                <a:latin typeface="Tahoma" pitchFamily="34" charset="0"/>
                <a:ea typeface="Tahoma" pitchFamily="34" charset="-122"/>
                <a:cs typeface="Tahoma" pitchFamily="34" charset="-120"/>
              </a:rPr>
              <a:t>۳</a:t>
            </a:r>
            <a:endParaRPr lang="en-US" sz="2380" dirty="0"/>
          </a:p>
        </p:txBody>
      </p:sp>
      <p:sp>
        <p:nvSpPr>
          <p:cNvPr id="24" name="Text 22"/>
          <p:cNvSpPr/>
          <p:nvPr/>
        </p:nvSpPr>
        <p:spPr>
          <a:xfrm>
            <a:off x="8417357" y="3474720"/>
            <a:ext cx="2997098" cy="457200"/>
          </a:xfrm>
          <a:prstGeom prst="rect">
            <a:avLst/>
          </a:prstGeom>
          <a:noFill/>
          <a:ln/>
        </p:spPr>
        <p:txBody>
          <a:bodyPr wrap="square"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شرکت در آزمون</a:t>
            </a:r>
            <a:endParaRPr lang="en-US" sz="1600" dirty="0"/>
          </a:p>
        </p:txBody>
      </p:sp>
      <p:sp>
        <p:nvSpPr>
          <p:cNvPr id="25" name="Text 23"/>
          <p:cNvSpPr/>
          <p:nvPr/>
        </p:nvSpPr>
        <p:spPr>
          <a:xfrm>
            <a:off x="8417357" y="4069080"/>
            <a:ext cx="2997098" cy="274320"/>
          </a:xfrm>
          <a:prstGeom prst="rect">
            <a:avLst/>
          </a:prstGeom>
          <a:noFill/>
          <a:ln/>
        </p:spPr>
        <p:txBody>
          <a:bodyPr wrap="square" rtlCol="0" anchor="ctr"/>
          <a:lstStyle/>
          <a:p>
            <a:pPr rtl="1" algn="r" indent="0" marL="0">
              <a:buNone/>
            </a:pPr>
            <a:r>
              <a:rPr lang="en-US" sz="1050" b="1" dirty="0">
                <a:solidFill>
                  <a:srgbClr val="F2A93B"/>
                </a:solidFill>
                <a:latin typeface="Tahoma" pitchFamily="34" charset="0"/>
                <a:ea typeface="Tahoma" pitchFamily="34" charset="-122"/>
                <a:cs typeface="Tahoma" pitchFamily="34" charset="-120"/>
              </a:rPr>
              <a:t>اشیاء درگیر:</a:t>
            </a:r>
            <a:endParaRPr lang="en-US" sz="1050" dirty="0"/>
          </a:p>
        </p:txBody>
      </p:sp>
      <p:sp>
        <p:nvSpPr>
          <p:cNvPr id="26" name="Text 24"/>
          <p:cNvSpPr/>
          <p:nvPr/>
        </p:nvSpPr>
        <p:spPr>
          <a:xfrm>
            <a:off x="8417357" y="4343400"/>
            <a:ext cx="2997098" cy="548640"/>
          </a:xfrm>
          <a:prstGeom prst="rect">
            <a:avLst/>
          </a:prstGeom>
          <a:noFill/>
          <a:ln/>
        </p:spPr>
        <p:txBody>
          <a:bodyPr wrap="square" rtlCol="0" anchor="ctr"/>
          <a:lstStyle/>
          <a:p>
            <a:pPr rtl="1" algn="r" indent="0" marL="0">
              <a:buNone/>
            </a:pPr>
            <a:r>
              <a:rPr lang="en-US" sz="1000" dirty="0">
                <a:solidFill>
                  <a:srgbClr val="EAF4F5"/>
                </a:solidFill>
                <a:latin typeface="Tahoma" pitchFamily="34" charset="0"/>
                <a:ea typeface="Tahoma" pitchFamily="34" charset="-122"/>
                <a:cs typeface="Tahoma" pitchFamily="34" charset="-120"/>
              </a:rPr>
              <a:t>Student, Exam, Question, Submission</a:t>
            </a:r>
            <a:endParaRPr lang="en-US" sz="1000" dirty="0"/>
          </a:p>
        </p:txBody>
      </p:sp>
      <p:sp>
        <p:nvSpPr>
          <p:cNvPr id="27" name="Text 25"/>
          <p:cNvSpPr/>
          <p:nvPr/>
        </p:nvSpPr>
        <p:spPr>
          <a:xfrm>
            <a:off x="8417357" y="4983480"/>
            <a:ext cx="2997098" cy="274320"/>
          </a:xfrm>
          <a:prstGeom prst="rect">
            <a:avLst/>
          </a:prstGeom>
          <a:noFill/>
          <a:ln/>
        </p:spPr>
        <p:txBody>
          <a:bodyPr wrap="square" rtlCol="0" anchor="ctr"/>
          <a:lstStyle/>
          <a:p>
            <a:pPr rtl="1" algn="r" indent="0" marL="0">
              <a:buNone/>
            </a:pPr>
            <a:r>
              <a:rPr lang="en-US" sz="1050" b="1" dirty="0">
                <a:solidFill>
                  <a:srgbClr val="F2A93B"/>
                </a:solidFill>
                <a:latin typeface="Tahoma" pitchFamily="34" charset="0"/>
                <a:ea typeface="Tahoma" pitchFamily="34" charset="-122"/>
                <a:cs typeface="Tahoma" pitchFamily="34" charset="-120"/>
              </a:rPr>
              <a:t>جریان پیام‌ها:</a:t>
            </a:r>
            <a:endParaRPr lang="en-US" sz="1050" dirty="0"/>
          </a:p>
        </p:txBody>
      </p:sp>
      <p:sp>
        <p:nvSpPr>
          <p:cNvPr id="28" name="Text 26"/>
          <p:cNvSpPr/>
          <p:nvPr/>
        </p:nvSpPr>
        <p:spPr>
          <a:xfrm>
            <a:off x="8417357" y="5257800"/>
            <a:ext cx="2997098" cy="685800"/>
          </a:xfrm>
          <a:prstGeom prst="rect">
            <a:avLst/>
          </a:prstGeom>
          <a:noFill/>
          <a:ln/>
        </p:spPr>
        <p:txBody>
          <a:bodyPr wrap="square" rtlCol="0" anchor="t"/>
          <a:lstStyle/>
          <a:p>
            <a:pPr rtl="1" algn="r" indent="0" marL="0">
              <a:buNone/>
            </a:pPr>
            <a:r>
              <a:rPr lang="en-US" sz="950" dirty="0">
                <a:solidFill>
                  <a:srgbClr val="EAF4F5"/>
                </a:solidFill>
                <a:latin typeface="Tahoma" pitchFamily="34" charset="0"/>
                <a:ea typeface="Tahoma" pitchFamily="34" charset="-122"/>
                <a:cs typeface="Tahoma" pitchFamily="34" charset="-120"/>
              </a:rPr>
              <a:t>ورود به آزمون → دریافت سوالات → ثبت پاسخ‌ها → نمره‌دهی</a:t>
            </a:r>
            <a:endParaRPr lang="en-US" sz="950" dirty="0"/>
          </a:p>
        </p:txBody>
      </p:sp>
      <p:sp>
        <p:nvSpPr>
          <p:cNvPr id="29" name="Text 27"/>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30" name="Text 28"/>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۳ از ۷ — سناریوی بحرانی</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سناریوی ۱ — ارسال تکلیف (Submit Assignment)</a:t>
            </a:r>
            <a:endParaRPr lang="en-US" sz="3000" dirty="0"/>
          </a:p>
        </p:txBody>
      </p:sp>
      <p:sp>
        <p:nvSpPr>
          <p:cNvPr id="4" name="Shape 2"/>
          <p:cNvSpPr/>
          <p:nvPr/>
        </p:nvSpPr>
        <p:spPr>
          <a:xfrm>
            <a:off x="548640" y="1417320"/>
            <a:ext cx="5212080" cy="4892040"/>
          </a:xfrm>
          <a:prstGeom prst="roundRect">
            <a:avLst>
              <a:gd name="adj" fmla="val 1495"/>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seq1.jpeg">    </p:cNvPr>
          <p:cNvPicPr>
            <a:picLocks noChangeAspect="1"/>
          </p:cNvPicPr>
          <p:nvPr/>
        </p:nvPicPr>
        <p:blipFill>
          <a:blip r:embed="rId1"/>
          <a:stretch>
            <a:fillRect/>
          </a:stretch>
        </p:blipFill>
        <p:spPr>
          <a:xfrm>
            <a:off x="1448131" y="1554480"/>
            <a:ext cx="3413097" cy="4617720"/>
          </a:xfrm>
          <a:prstGeom prst="rect">
            <a:avLst/>
          </a:prstGeom>
        </p:spPr>
      </p:pic>
      <p:sp>
        <p:nvSpPr>
          <p:cNvPr id="6" name="Text 3"/>
          <p:cNvSpPr/>
          <p:nvPr/>
        </p:nvSpPr>
        <p:spPr>
          <a:xfrm>
            <a:off x="6080760" y="1417320"/>
            <a:ext cx="556229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اشیاء شرکت‌کننده</a:t>
            </a:r>
            <a:endParaRPr lang="en-US" sz="1300" dirty="0"/>
          </a:p>
        </p:txBody>
      </p:sp>
      <p:sp>
        <p:nvSpPr>
          <p:cNvPr id="7" name="Text 4"/>
          <p:cNvSpPr/>
          <p:nvPr/>
        </p:nvSpPr>
        <p:spPr>
          <a:xfrm>
            <a:off x="6080760" y="1737360"/>
            <a:ext cx="5562295" cy="457200"/>
          </a:xfrm>
          <a:prstGeom prst="rect">
            <a:avLst/>
          </a:prstGeom>
          <a:noFill/>
          <a:ln/>
        </p:spPr>
        <p:txBody>
          <a:bodyPr wrap="square" rtlCol="0" anchor="ctr"/>
          <a:lstStyle/>
          <a:p>
            <a:pPr rtl="1" algn="r" indent="0" marL="0">
              <a:buNone/>
            </a:pPr>
            <a:r>
              <a:rPr lang="en-US" sz="1100" dirty="0">
                <a:solidFill>
                  <a:srgbClr val="3A4A4E"/>
                </a:solidFill>
                <a:latin typeface="Tahoma" pitchFamily="34" charset="0"/>
                <a:ea typeface="Tahoma" pitchFamily="34" charset="-122"/>
                <a:cs typeface="Tahoma" pitchFamily="34" charset="-120"/>
              </a:rPr>
              <a:t>Student ، Assignment ، Submission</a:t>
            </a:r>
            <a:endParaRPr lang="en-US" sz="1100" dirty="0"/>
          </a:p>
        </p:txBody>
      </p:sp>
      <p:sp>
        <p:nvSpPr>
          <p:cNvPr id="8" name="Text 5"/>
          <p:cNvSpPr/>
          <p:nvPr/>
        </p:nvSpPr>
        <p:spPr>
          <a:xfrm>
            <a:off x="6080760" y="2331720"/>
            <a:ext cx="556229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توالی پیام‌ها</a:t>
            </a:r>
            <a:endParaRPr lang="en-US" sz="1300" dirty="0"/>
          </a:p>
        </p:txBody>
      </p:sp>
      <p:sp>
        <p:nvSpPr>
          <p:cNvPr id="9" name="Shape 6"/>
          <p:cNvSpPr/>
          <p:nvPr/>
        </p:nvSpPr>
        <p:spPr>
          <a:xfrm>
            <a:off x="6080760" y="2706624"/>
            <a:ext cx="219456" cy="219456"/>
          </a:xfrm>
          <a:prstGeom prst="ellipse">
            <a:avLst/>
          </a:prstGeom>
          <a:solidFill>
            <a:srgbClr val="17A6B0"/>
          </a:solidFill>
          <a:ln/>
        </p:spPr>
      </p:sp>
      <p:sp>
        <p:nvSpPr>
          <p:cNvPr id="10" name="Text 7"/>
          <p:cNvSpPr/>
          <p:nvPr/>
        </p:nvSpPr>
        <p:spPr>
          <a:xfrm>
            <a:off x="6080760" y="2706624"/>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1</a:t>
            </a:r>
            <a:endParaRPr lang="en-US" sz="900" dirty="0"/>
          </a:p>
        </p:txBody>
      </p:sp>
      <p:sp>
        <p:nvSpPr>
          <p:cNvPr id="11" name="Text 8"/>
          <p:cNvSpPr/>
          <p:nvPr/>
        </p:nvSpPr>
        <p:spPr>
          <a:xfrm>
            <a:off x="6373368" y="2670048"/>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Select Assignment()</a:t>
            </a:r>
            <a:endParaRPr lang="en-US" sz="1050" dirty="0"/>
          </a:p>
        </p:txBody>
      </p:sp>
      <p:sp>
        <p:nvSpPr>
          <p:cNvPr id="12" name="Shape 9"/>
          <p:cNvSpPr/>
          <p:nvPr/>
        </p:nvSpPr>
        <p:spPr>
          <a:xfrm>
            <a:off x="6080760" y="3090672"/>
            <a:ext cx="219456" cy="219456"/>
          </a:xfrm>
          <a:prstGeom prst="ellipse">
            <a:avLst/>
          </a:prstGeom>
          <a:solidFill>
            <a:srgbClr val="17A6B0"/>
          </a:solidFill>
          <a:ln/>
        </p:spPr>
      </p:sp>
      <p:sp>
        <p:nvSpPr>
          <p:cNvPr id="13" name="Text 10"/>
          <p:cNvSpPr/>
          <p:nvPr/>
        </p:nvSpPr>
        <p:spPr>
          <a:xfrm>
            <a:off x="6080760" y="3090672"/>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2</a:t>
            </a:r>
            <a:endParaRPr lang="en-US" sz="900" dirty="0"/>
          </a:p>
        </p:txBody>
      </p:sp>
      <p:sp>
        <p:nvSpPr>
          <p:cNvPr id="14" name="Text 11"/>
          <p:cNvSpPr/>
          <p:nvPr/>
        </p:nvSpPr>
        <p:spPr>
          <a:xfrm>
            <a:off x="6373368" y="3054096"/>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Upload File()</a:t>
            </a:r>
            <a:endParaRPr lang="en-US" sz="1050" dirty="0"/>
          </a:p>
        </p:txBody>
      </p:sp>
      <p:sp>
        <p:nvSpPr>
          <p:cNvPr id="15" name="Shape 12"/>
          <p:cNvSpPr/>
          <p:nvPr/>
        </p:nvSpPr>
        <p:spPr>
          <a:xfrm>
            <a:off x="6080760" y="3474720"/>
            <a:ext cx="219456" cy="219456"/>
          </a:xfrm>
          <a:prstGeom prst="ellipse">
            <a:avLst/>
          </a:prstGeom>
          <a:solidFill>
            <a:srgbClr val="17A6B0"/>
          </a:solidFill>
          <a:ln/>
        </p:spPr>
      </p:sp>
      <p:sp>
        <p:nvSpPr>
          <p:cNvPr id="16" name="Text 13"/>
          <p:cNvSpPr/>
          <p:nvPr/>
        </p:nvSpPr>
        <p:spPr>
          <a:xfrm>
            <a:off x="6080760" y="3474720"/>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3</a:t>
            </a:r>
            <a:endParaRPr lang="en-US" sz="900" dirty="0"/>
          </a:p>
        </p:txBody>
      </p:sp>
      <p:sp>
        <p:nvSpPr>
          <p:cNvPr id="17" name="Text 14"/>
          <p:cNvSpPr/>
          <p:nvPr/>
        </p:nvSpPr>
        <p:spPr>
          <a:xfrm>
            <a:off x="6373368" y="3438144"/>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Create Submission()</a:t>
            </a:r>
            <a:endParaRPr lang="en-US" sz="1050" dirty="0"/>
          </a:p>
        </p:txBody>
      </p:sp>
      <p:sp>
        <p:nvSpPr>
          <p:cNvPr id="18" name="Shape 15"/>
          <p:cNvSpPr/>
          <p:nvPr/>
        </p:nvSpPr>
        <p:spPr>
          <a:xfrm>
            <a:off x="6080760" y="3858768"/>
            <a:ext cx="219456" cy="219456"/>
          </a:xfrm>
          <a:prstGeom prst="ellipse">
            <a:avLst/>
          </a:prstGeom>
          <a:solidFill>
            <a:srgbClr val="17A6B0"/>
          </a:solidFill>
          <a:ln/>
        </p:spPr>
      </p:sp>
      <p:sp>
        <p:nvSpPr>
          <p:cNvPr id="19" name="Text 16"/>
          <p:cNvSpPr/>
          <p:nvPr/>
        </p:nvSpPr>
        <p:spPr>
          <a:xfrm>
            <a:off x="6080760" y="3858768"/>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4</a:t>
            </a:r>
            <a:endParaRPr lang="en-US" sz="900" dirty="0"/>
          </a:p>
        </p:txBody>
      </p:sp>
      <p:sp>
        <p:nvSpPr>
          <p:cNvPr id="20" name="Text 17"/>
          <p:cNvSpPr/>
          <p:nvPr/>
        </p:nvSpPr>
        <p:spPr>
          <a:xfrm>
            <a:off x="6373368" y="3822192"/>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Store Submission()</a:t>
            </a:r>
            <a:endParaRPr lang="en-US" sz="1050" dirty="0"/>
          </a:p>
        </p:txBody>
      </p:sp>
      <p:sp>
        <p:nvSpPr>
          <p:cNvPr id="21" name="Shape 18"/>
          <p:cNvSpPr/>
          <p:nvPr/>
        </p:nvSpPr>
        <p:spPr>
          <a:xfrm>
            <a:off x="6080760" y="4242816"/>
            <a:ext cx="219456" cy="219456"/>
          </a:xfrm>
          <a:prstGeom prst="ellipse">
            <a:avLst/>
          </a:prstGeom>
          <a:solidFill>
            <a:srgbClr val="17A6B0"/>
          </a:solidFill>
          <a:ln/>
        </p:spPr>
      </p:sp>
      <p:sp>
        <p:nvSpPr>
          <p:cNvPr id="22" name="Text 19"/>
          <p:cNvSpPr/>
          <p:nvPr/>
        </p:nvSpPr>
        <p:spPr>
          <a:xfrm>
            <a:off x="6080760" y="4242816"/>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5</a:t>
            </a:r>
            <a:endParaRPr lang="en-US" sz="900" dirty="0"/>
          </a:p>
        </p:txBody>
      </p:sp>
      <p:sp>
        <p:nvSpPr>
          <p:cNvPr id="23" name="Text 20"/>
          <p:cNvSpPr/>
          <p:nvPr/>
        </p:nvSpPr>
        <p:spPr>
          <a:xfrm>
            <a:off x="6373368" y="4206240"/>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Confirmation()</a:t>
            </a:r>
            <a:endParaRPr lang="en-US" sz="1050" dirty="0"/>
          </a:p>
        </p:txBody>
      </p:sp>
      <p:sp>
        <p:nvSpPr>
          <p:cNvPr id="24" name="Shape 21"/>
          <p:cNvSpPr/>
          <p:nvPr/>
        </p:nvSpPr>
        <p:spPr>
          <a:xfrm>
            <a:off x="6080760" y="5349240"/>
            <a:ext cx="5562295" cy="914400"/>
          </a:xfrm>
          <a:prstGeom prst="roundRect">
            <a:avLst>
              <a:gd name="adj" fmla="val 8000"/>
            </a:avLst>
          </a:prstGeom>
          <a:solidFill>
            <a:srgbClr val="EAF4F5"/>
          </a:solidFill>
          <a:ln/>
        </p:spPr>
      </p:sp>
      <p:sp>
        <p:nvSpPr>
          <p:cNvPr id="25" name="Text 22"/>
          <p:cNvSpPr/>
          <p:nvPr/>
        </p:nvSpPr>
        <p:spPr>
          <a:xfrm>
            <a:off x="6263640" y="5440680"/>
            <a:ext cx="5196535" cy="731520"/>
          </a:xfrm>
          <a:prstGeom prst="rect">
            <a:avLst/>
          </a:prstGeom>
          <a:noFill/>
          <a:ln/>
        </p:spPr>
        <p:txBody>
          <a:bodyPr wrap="square" rtlCol="0" anchor="t"/>
          <a:lstStyle/>
          <a:p>
            <a:pPr rtl="1" algn="r" indent="0" marL="0">
              <a:buNone/>
            </a:pPr>
            <a:r>
              <a:rPr lang="en-US" sz="950" dirty="0">
                <a:solidFill>
                  <a:srgbClr val="3A4A4E"/>
                </a:solidFill>
                <a:latin typeface="Tahoma" pitchFamily="34" charset="0"/>
                <a:ea typeface="Tahoma" pitchFamily="34" charset="-122"/>
                <a:cs typeface="Tahoma" pitchFamily="34" charset="-120"/>
              </a:rPr>
              <a:t>این سناریو نشان می‌دهد چگونه اشیای استخراج‌شده از نمودار کلاس دامنه، در طول زمان با یکدیگر پیام رد و بدل می‌کنند تا تکلیف دانش‌آموز ثبت شود.</a:t>
            </a:r>
            <a:endParaRPr lang="en-US" sz="950" dirty="0"/>
          </a:p>
        </p:txBody>
      </p:sp>
      <p:sp>
        <p:nvSpPr>
          <p:cNvPr id="26" name="Text 23"/>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27" name="Text 24"/>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۳ از ۷ — سناریوی بحرانی</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سناریوی ۲ — شرکت در کلاس آنلین (Join Live Class)</a:t>
            </a:r>
            <a:endParaRPr lang="en-US" sz="3000" dirty="0"/>
          </a:p>
        </p:txBody>
      </p:sp>
      <p:sp>
        <p:nvSpPr>
          <p:cNvPr id="4" name="Shape 2"/>
          <p:cNvSpPr/>
          <p:nvPr/>
        </p:nvSpPr>
        <p:spPr>
          <a:xfrm>
            <a:off x="548640" y="1417320"/>
            <a:ext cx="5212080" cy="4892040"/>
          </a:xfrm>
          <a:prstGeom prst="roundRect">
            <a:avLst>
              <a:gd name="adj" fmla="val 1495"/>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seq2.jpeg">    </p:cNvPr>
          <p:cNvPicPr>
            <a:picLocks noChangeAspect="1"/>
          </p:cNvPicPr>
          <p:nvPr/>
        </p:nvPicPr>
        <p:blipFill>
          <a:blip r:embed="rId1"/>
          <a:stretch>
            <a:fillRect/>
          </a:stretch>
        </p:blipFill>
        <p:spPr>
          <a:xfrm>
            <a:off x="685800" y="1575110"/>
            <a:ext cx="4937760" cy="4576460"/>
          </a:xfrm>
          <a:prstGeom prst="rect">
            <a:avLst/>
          </a:prstGeom>
        </p:spPr>
      </p:pic>
      <p:sp>
        <p:nvSpPr>
          <p:cNvPr id="6" name="Text 3"/>
          <p:cNvSpPr/>
          <p:nvPr/>
        </p:nvSpPr>
        <p:spPr>
          <a:xfrm>
            <a:off x="6080760" y="1417320"/>
            <a:ext cx="556229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اشیاء شرکت‌کننده</a:t>
            </a:r>
            <a:endParaRPr lang="en-US" sz="1300" dirty="0"/>
          </a:p>
        </p:txBody>
      </p:sp>
      <p:sp>
        <p:nvSpPr>
          <p:cNvPr id="7" name="Text 4"/>
          <p:cNvSpPr/>
          <p:nvPr/>
        </p:nvSpPr>
        <p:spPr>
          <a:xfrm>
            <a:off x="6080760" y="1737360"/>
            <a:ext cx="5562295" cy="457200"/>
          </a:xfrm>
          <a:prstGeom prst="rect">
            <a:avLst/>
          </a:prstGeom>
          <a:noFill/>
          <a:ln/>
        </p:spPr>
        <p:txBody>
          <a:bodyPr wrap="square" rtlCol="0" anchor="ctr"/>
          <a:lstStyle/>
          <a:p>
            <a:pPr rtl="1" algn="r" indent="0" marL="0">
              <a:buNone/>
            </a:pPr>
            <a:r>
              <a:rPr lang="en-US" sz="1100" dirty="0">
                <a:solidFill>
                  <a:srgbClr val="3A4A4E"/>
                </a:solidFill>
                <a:latin typeface="Tahoma" pitchFamily="34" charset="0"/>
                <a:ea typeface="Tahoma" pitchFamily="34" charset="-122"/>
                <a:cs typeface="Tahoma" pitchFamily="34" charset="-120"/>
              </a:rPr>
              <a:t>Student ، Classroom ، LiveSession ، Attendance</a:t>
            </a:r>
            <a:endParaRPr lang="en-US" sz="1100" dirty="0"/>
          </a:p>
        </p:txBody>
      </p:sp>
      <p:sp>
        <p:nvSpPr>
          <p:cNvPr id="8" name="Text 5"/>
          <p:cNvSpPr/>
          <p:nvPr/>
        </p:nvSpPr>
        <p:spPr>
          <a:xfrm>
            <a:off x="6080760" y="2331720"/>
            <a:ext cx="556229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توالی پیام‌ها</a:t>
            </a:r>
            <a:endParaRPr lang="en-US" sz="1300" dirty="0"/>
          </a:p>
        </p:txBody>
      </p:sp>
      <p:sp>
        <p:nvSpPr>
          <p:cNvPr id="9" name="Shape 6"/>
          <p:cNvSpPr/>
          <p:nvPr/>
        </p:nvSpPr>
        <p:spPr>
          <a:xfrm>
            <a:off x="6080760" y="2706624"/>
            <a:ext cx="219456" cy="219456"/>
          </a:xfrm>
          <a:prstGeom prst="ellipse">
            <a:avLst/>
          </a:prstGeom>
          <a:solidFill>
            <a:srgbClr val="17A6B0"/>
          </a:solidFill>
          <a:ln/>
        </p:spPr>
      </p:sp>
      <p:sp>
        <p:nvSpPr>
          <p:cNvPr id="10" name="Text 7"/>
          <p:cNvSpPr/>
          <p:nvPr/>
        </p:nvSpPr>
        <p:spPr>
          <a:xfrm>
            <a:off x="6080760" y="2706624"/>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1</a:t>
            </a:r>
            <a:endParaRPr lang="en-US" sz="900" dirty="0"/>
          </a:p>
        </p:txBody>
      </p:sp>
      <p:sp>
        <p:nvSpPr>
          <p:cNvPr id="11" name="Text 8"/>
          <p:cNvSpPr/>
          <p:nvPr/>
        </p:nvSpPr>
        <p:spPr>
          <a:xfrm>
            <a:off x="6373368" y="2670048"/>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Student → Classroom</a:t>
            </a:r>
            <a:endParaRPr lang="en-US" sz="1050" dirty="0"/>
          </a:p>
        </p:txBody>
      </p:sp>
      <p:sp>
        <p:nvSpPr>
          <p:cNvPr id="12" name="Shape 9"/>
          <p:cNvSpPr/>
          <p:nvPr/>
        </p:nvSpPr>
        <p:spPr>
          <a:xfrm>
            <a:off x="6080760" y="3090672"/>
            <a:ext cx="219456" cy="219456"/>
          </a:xfrm>
          <a:prstGeom prst="ellipse">
            <a:avLst/>
          </a:prstGeom>
          <a:solidFill>
            <a:srgbClr val="17A6B0"/>
          </a:solidFill>
          <a:ln/>
        </p:spPr>
      </p:sp>
      <p:sp>
        <p:nvSpPr>
          <p:cNvPr id="13" name="Text 10"/>
          <p:cNvSpPr/>
          <p:nvPr/>
        </p:nvSpPr>
        <p:spPr>
          <a:xfrm>
            <a:off x="6080760" y="3090672"/>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2</a:t>
            </a:r>
            <a:endParaRPr lang="en-US" sz="900" dirty="0"/>
          </a:p>
        </p:txBody>
      </p:sp>
      <p:sp>
        <p:nvSpPr>
          <p:cNvPr id="14" name="Text 11"/>
          <p:cNvSpPr/>
          <p:nvPr/>
        </p:nvSpPr>
        <p:spPr>
          <a:xfrm>
            <a:off x="6373368" y="3054096"/>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Classroom → LiveSession</a:t>
            </a:r>
            <a:endParaRPr lang="en-US" sz="1050" dirty="0"/>
          </a:p>
        </p:txBody>
      </p:sp>
      <p:sp>
        <p:nvSpPr>
          <p:cNvPr id="15" name="Shape 12"/>
          <p:cNvSpPr/>
          <p:nvPr/>
        </p:nvSpPr>
        <p:spPr>
          <a:xfrm>
            <a:off x="6080760" y="3474720"/>
            <a:ext cx="219456" cy="219456"/>
          </a:xfrm>
          <a:prstGeom prst="ellipse">
            <a:avLst/>
          </a:prstGeom>
          <a:solidFill>
            <a:srgbClr val="17A6B0"/>
          </a:solidFill>
          <a:ln/>
        </p:spPr>
      </p:sp>
      <p:sp>
        <p:nvSpPr>
          <p:cNvPr id="16" name="Text 13"/>
          <p:cNvSpPr/>
          <p:nvPr/>
        </p:nvSpPr>
        <p:spPr>
          <a:xfrm>
            <a:off x="6080760" y="3474720"/>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3</a:t>
            </a:r>
            <a:endParaRPr lang="en-US" sz="900" dirty="0"/>
          </a:p>
        </p:txBody>
      </p:sp>
      <p:sp>
        <p:nvSpPr>
          <p:cNvPr id="17" name="Text 14"/>
          <p:cNvSpPr/>
          <p:nvPr/>
        </p:nvSpPr>
        <p:spPr>
          <a:xfrm>
            <a:off x="6373368" y="3438144"/>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LiveSession → Attendance</a:t>
            </a:r>
            <a:endParaRPr lang="en-US" sz="1050" dirty="0"/>
          </a:p>
        </p:txBody>
      </p:sp>
      <p:sp>
        <p:nvSpPr>
          <p:cNvPr id="18" name="Shape 15"/>
          <p:cNvSpPr/>
          <p:nvPr/>
        </p:nvSpPr>
        <p:spPr>
          <a:xfrm>
            <a:off x="6080760" y="5349240"/>
            <a:ext cx="5562295" cy="914400"/>
          </a:xfrm>
          <a:prstGeom prst="roundRect">
            <a:avLst>
              <a:gd name="adj" fmla="val 8000"/>
            </a:avLst>
          </a:prstGeom>
          <a:solidFill>
            <a:srgbClr val="EAF4F5"/>
          </a:solidFill>
          <a:ln/>
        </p:spPr>
      </p:sp>
      <p:sp>
        <p:nvSpPr>
          <p:cNvPr id="19" name="Text 16"/>
          <p:cNvSpPr/>
          <p:nvPr/>
        </p:nvSpPr>
        <p:spPr>
          <a:xfrm>
            <a:off x="6263640" y="5440680"/>
            <a:ext cx="5196535" cy="731520"/>
          </a:xfrm>
          <a:prstGeom prst="rect">
            <a:avLst/>
          </a:prstGeom>
          <a:noFill/>
          <a:ln/>
        </p:spPr>
        <p:txBody>
          <a:bodyPr wrap="square" rtlCol="0" anchor="t"/>
          <a:lstStyle/>
          <a:p>
            <a:pPr rtl="1" algn="r" indent="0" marL="0">
              <a:buNone/>
            </a:pPr>
            <a:r>
              <a:rPr lang="en-US" sz="950" dirty="0">
                <a:solidFill>
                  <a:srgbClr val="3A4A4E"/>
                </a:solidFill>
                <a:latin typeface="Tahoma" pitchFamily="34" charset="0"/>
                <a:ea typeface="Tahoma" pitchFamily="34" charset="-122"/>
                <a:cs typeface="Tahoma" pitchFamily="34" charset="-120"/>
              </a:rPr>
              <a:t>این نمودار مکمل نمودار فعالیتِ «شرکت در کلاس آنلین» است: فعالیت جریان کار را نشان می‌دهد و توالی، ترتیب دقیق تبادل پیام‌ها را مشخص می‌کند.</a:t>
            </a:r>
            <a:endParaRPr lang="en-US" sz="950" dirty="0"/>
          </a:p>
        </p:txBody>
      </p:sp>
      <p:sp>
        <p:nvSpPr>
          <p:cNvPr id="20" name="Text 17"/>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21" name="Text 18"/>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۳ از ۷ — سناریوی بحرانی</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سناریوی ۳ — شرکت در آزمون آنلین (Take Exam)</a:t>
            </a:r>
            <a:endParaRPr lang="en-US" sz="3000" dirty="0"/>
          </a:p>
        </p:txBody>
      </p:sp>
      <p:sp>
        <p:nvSpPr>
          <p:cNvPr id="4" name="Shape 2"/>
          <p:cNvSpPr/>
          <p:nvPr/>
        </p:nvSpPr>
        <p:spPr>
          <a:xfrm>
            <a:off x="548640" y="1417320"/>
            <a:ext cx="5212080" cy="4892040"/>
          </a:xfrm>
          <a:prstGeom prst="roundRect">
            <a:avLst>
              <a:gd name="adj" fmla="val 1495"/>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seq3.jpeg">    </p:cNvPr>
          <p:cNvPicPr>
            <a:picLocks noChangeAspect="1"/>
          </p:cNvPicPr>
          <p:nvPr/>
        </p:nvPicPr>
        <p:blipFill>
          <a:blip r:embed="rId1"/>
          <a:stretch>
            <a:fillRect/>
          </a:stretch>
        </p:blipFill>
        <p:spPr>
          <a:xfrm>
            <a:off x="1221681" y="1554480"/>
            <a:ext cx="3865998" cy="4617720"/>
          </a:xfrm>
          <a:prstGeom prst="rect">
            <a:avLst/>
          </a:prstGeom>
        </p:spPr>
      </p:pic>
      <p:sp>
        <p:nvSpPr>
          <p:cNvPr id="6" name="Text 3"/>
          <p:cNvSpPr/>
          <p:nvPr/>
        </p:nvSpPr>
        <p:spPr>
          <a:xfrm>
            <a:off x="6080760" y="1417320"/>
            <a:ext cx="556229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اشیاء شرکت‌کننده</a:t>
            </a:r>
            <a:endParaRPr lang="en-US" sz="1300" dirty="0"/>
          </a:p>
        </p:txBody>
      </p:sp>
      <p:sp>
        <p:nvSpPr>
          <p:cNvPr id="7" name="Text 4"/>
          <p:cNvSpPr/>
          <p:nvPr/>
        </p:nvSpPr>
        <p:spPr>
          <a:xfrm>
            <a:off x="6080760" y="1737360"/>
            <a:ext cx="5562295" cy="457200"/>
          </a:xfrm>
          <a:prstGeom prst="rect">
            <a:avLst/>
          </a:prstGeom>
          <a:noFill/>
          <a:ln/>
        </p:spPr>
        <p:txBody>
          <a:bodyPr wrap="square" rtlCol="0" anchor="ctr"/>
          <a:lstStyle/>
          <a:p>
            <a:pPr rtl="1" algn="r" indent="0" marL="0">
              <a:buNone/>
            </a:pPr>
            <a:r>
              <a:rPr lang="en-US" sz="1100" dirty="0">
                <a:solidFill>
                  <a:srgbClr val="3A4A4E"/>
                </a:solidFill>
                <a:latin typeface="Tahoma" pitchFamily="34" charset="0"/>
                <a:ea typeface="Tahoma" pitchFamily="34" charset="-122"/>
                <a:cs typeface="Tahoma" pitchFamily="34" charset="-120"/>
              </a:rPr>
              <a:t>Student ، Exam ، Question ، Submission</a:t>
            </a:r>
            <a:endParaRPr lang="en-US" sz="1100" dirty="0"/>
          </a:p>
        </p:txBody>
      </p:sp>
      <p:sp>
        <p:nvSpPr>
          <p:cNvPr id="8" name="Text 5"/>
          <p:cNvSpPr/>
          <p:nvPr/>
        </p:nvSpPr>
        <p:spPr>
          <a:xfrm>
            <a:off x="6080760" y="2331720"/>
            <a:ext cx="556229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توالی پیام‌ها</a:t>
            </a:r>
            <a:endParaRPr lang="en-US" sz="1300" dirty="0"/>
          </a:p>
        </p:txBody>
      </p:sp>
      <p:sp>
        <p:nvSpPr>
          <p:cNvPr id="9" name="Shape 6"/>
          <p:cNvSpPr/>
          <p:nvPr/>
        </p:nvSpPr>
        <p:spPr>
          <a:xfrm>
            <a:off x="6080760" y="2706624"/>
            <a:ext cx="219456" cy="219456"/>
          </a:xfrm>
          <a:prstGeom prst="ellipse">
            <a:avLst/>
          </a:prstGeom>
          <a:solidFill>
            <a:srgbClr val="17A6B0"/>
          </a:solidFill>
          <a:ln/>
        </p:spPr>
      </p:sp>
      <p:sp>
        <p:nvSpPr>
          <p:cNvPr id="10" name="Text 7"/>
          <p:cNvSpPr/>
          <p:nvPr/>
        </p:nvSpPr>
        <p:spPr>
          <a:xfrm>
            <a:off x="6080760" y="2706624"/>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1</a:t>
            </a:r>
            <a:endParaRPr lang="en-US" sz="900" dirty="0"/>
          </a:p>
        </p:txBody>
      </p:sp>
      <p:sp>
        <p:nvSpPr>
          <p:cNvPr id="11" name="Text 8"/>
          <p:cNvSpPr/>
          <p:nvPr/>
        </p:nvSpPr>
        <p:spPr>
          <a:xfrm>
            <a:off x="6373368" y="2670048"/>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ورود دانش‌آموز به آزمون</a:t>
            </a:r>
            <a:endParaRPr lang="en-US" sz="1050" dirty="0"/>
          </a:p>
        </p:txBody>
      </p:sp>
      <p:sp>
        <p:nvSpPr>
          <p:cNvPr id="12" name="Shape 9"/>
          <p:cNvSpPr/>
          <p:nvPr/>
        </p:nvSpPr>
        <p:spPr>
          <a:xfrm>
            <a:off x="6080760" y="3090672"/>
            <a:ext cx="219456" cy="219456"/>
          </a:xfrm>
          <a:prstGeom prst="ellipse">
            <a:avLst/>
          </a:prstGeom>
          <a:solidFill>
            <a:srgbClr val="17A6B0"/>
          </a:solidFill>
          <a:ln/>
        </p:spPr>
      </p:sp>
      <p:sp>
        <p:nvSpPr>
          <p:cNvPr id="13" name="Text 10"/>
          <p:cNvSpPr/>
          <p:nvPr/>
        </p:nvSpPr>
        <p:spPr>
          <a:xfrm>
            <a:off x="6080760" y="3090672"/>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2</a:t>
            </a:r>
            <a:endParaRPr lang="en-US" sz="900" dirty="0"/>
          </a:p>
        </p:txBody>
      </p:sp>
      <p:sp>
        <p:nvSpPr>
          <p:cNvPr id="14" name="Text 11"/>
          <p:cNvSpPr/>
          <p:nvPr/>
        </p:nvSpPr>
        <p:spPr>
          <a:xfrm>
            <a:off x="6373368" y="3054096"/>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دریافت سوالات از Exam</a:t>
            </a:r>
            <a:endParaRPr lang="en-US" sz="1050" dirty="0"/>
          </a:p>
        </p:txBody>
      </p:sp>
      <p:sp>
        <p:nvSpPr>
          <p:cNvPr id="15" name="Shape 12"/>
          <p:cNvSpPr/>
          <p:nvPr/>
        </p:nvSpPr>
        <p:spPr>
          <a:xfrm>
            <a:off x="6080760" y="3474720"/>
            <a:ext cx="219456" cy="219456"/>
          </a:xfrm>
          <a:prstGeom prst="ellipse">
            <a:avLst/>
          </a:prstGeom>
          <a:solidFill>
            <a:srgbClr val="17A6B0"/>
          </a:solidFill>
          <a:ln/>
        </p:spPr>
      </p:sp>
      <p:sp>
        <p:nvSpPr>
          <p:cNvPr id="16" name="Text 13"/>
          <p:cNvSpPr/>
          <p:nvPr/>
        </p:nvSpPr>
        <p:spPr>
          <a:xfrm>
            <a:off x="6080760" y="3474720"/>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3</a:t>
            </a:r>
            <a:endParaRPr lang="en-US" sz="900" dirty="0"/>
          </a:p>
        </p:txBody>
      </p:sp>
      <p:sp>
        <p:nvSpPr>
          <p:cNvPr id="17" name="Text 14"/>
          <p:cNvSpPr/>
          <p:nvPr/>
        </p:nvSpPr>
        <p:spPr>
          <a:xfrm>
            <a:off x="6373368" y="3438144"/>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ثبت پاسخ در Submission</a:t>
            </a:r>
            <a:endParaRPr lang="en-US" sz="1050" dirty="0"/>
          </a:p>
        </p:txBody>
      </p:sp>
      <p:sp>
        <p:nvSpPr>
          <p:cNvPr id="18" name="Shape 15"/>
          <p:cNvSpPr/>
          <p:nvPr/>
        </p:nvSpPr>
        <p:spPr>
          <a:xfrm>
            <a:off x="6080760" y="3858768"/>
            <a:ext cx="219456" cy="219456"/>
          </a:xfrm>
          <a:prstGeom prst="ellipse">
            <a:avLst/>
          </a:prstGeom>
          <a:solidFill>
            <a:srgbClr val="17A6B0"/>
          </a:solidFill>
          <a:ln/>
        </p:spPr>
      </p:sp>
      <p:sp>
        <p:nvSpPr>
          <p:cNvPr id="19" name="Text 16"/>
          <p:cNvSpPr/>
          <p:nvPr/>
        </p:nvSpPr>
        <p:spPr>
          <a:xfrm>
            <a:off x="6080760" y="3858768"/>
            <a:ext cx="219456" cy="219456"/>
          </a:xfrm>
          <a:prstGeom prst="rect">
            <a:avLst/>
          </a:prstGeom>
          <a:noFill/>
          <a:ln/>
        </p:spPr>
        <p:txBody>
          <a:bodyPr wrap="square" rtlCol="0" anchor="ctr"/>
          <a:lstStyle/>
          <a:p>
            <a:pPr rtl="1" algn="ctr" indent="0" marL="0">
              <a:buNone/>
            </a:pPr>
            <a:r>
              <a:rPr lang="en-US" sz="900" b="1" dirty="0">
                <a:solidFill>
                  <a:srgbClr val="FFFFFF"/>
                </a:solidFill>
                <a:latin typeface="Tahoma" pitchFamily="34" charset="0"/>
                <a:ea typeface="Tahoma" pitchFamily="34" charset="-122"/>
                <a:cs typeface="Tahoma" pitchFamily="34" charset="-120"/>
              </a:rPr>
              <a:t>4</a:t>
            </a:r>
            <a:endParaRPr lang="en-US" sz="900" dirty="0"/>
          </a:p>
        </p:txBody>
      </p:sp>
      <p:sp>
        <p:nvSpPr>
          <p:cNvPr id="20" name="Text 17"/>
          <p:cNvSpPr/>
          <p:nvPr/>
        </p:nvSpPr>
        <p:spPr>
          <a:xfrm>
            <a:off x="6373368" y="3822192"/>
            <a:ext cx="5269687" cy="384048"/>
          </a:xfrm>
          <a:prstGeom prst="rect">
            <a:avLst/>
          </a:prstGeom>
          <a:noFill/>
          <a:ln/>
        </p:spPr>
        <p:txBody>
          <a:bodyPr wrap="square" rtlCol="0" anchor="ctr"/>
          <a:lstStyle/>
          <a:p>
            <a:pPr rtl="1" algn="r" indent="0" marL="0">
              <a:buNone/>
            </a:pPr>
            <a:r>
              <a:rPr lang="en-US" sz="1050" dirty="0">
                <a:solidFill>
                  <a:srgbClr val="3A4A4E"/>
                </a:solidFill>
                <a:latin typeface="Tahoma" pitchFamily="34" charset="0"/>
                <a:ea typeface="Tahoma" pitchFamily="34" charset="-122"/>
                <a:cs typeface="Tahoma" pitchFamily="34" charset="-120"/>
              </a:rPr>
              <a:t>ارسال نهایی و نمره‌دهی</a:t>
            </a:r>
            <a:endParaRPr lang="en-US" sz="1050" dirty="0"/>
          </a:p>
        </p:txBody>
      </p:sp>
      <p:sp>
        <p:nvSpPr>
          <p:cNvPr id="21" name="Shape 18"/>
          <p:cNvSpPr/>
          <p:nvPr/>
        </p:nvSpPr>
        <p:spPr>
          <a:xfrm>
            <a:off x="6080760" y="5349240"/>
            <a:ext cx="5562295" cy="914400"/>
          </a:xfrm>
          <a:prstGeom prst="roundRect">
            <a:avLst>
              <a:gd name="adj" fmla="val 8000"/>
            </a:avLst>
          </a:prstGeom>
          <a:solidFill>
            <a:srgbClr val="EAF4F5"/>
          </a:solidFill>
          <a:ln/>
        </p:spPr>
      </p:sp>
      <p:sp>
        <p:nvSpPr>
          <p:cNvPr id="22" name="Text 19"/>
          <p:cNvSpPr/>
          <p:nvPr/>
        </p:nvSpPr>
        <p:spPr>
          <a:xfrm>
            <a:off x="6263640" y="5440680"/>
            <a:ext cx="5196535" cy="731520"/>
          </a:xfrm>
          <a:prstGeom prst="rect">
            <a:avLst/>
          </a:prstGeom>
          <a:noFill/>
          <a:ln/>
        </p:spPr>
        <p:txBody>
          <a:bodyPr wrap="square" rtlCol="0" anchor="t"/>
          <a:lstStyle/>
          <a:p>
            <a:pPr rtl="1" algn="r" indent="0" marL="0">
              <a:buNone/>
            </a:pPr>
            <a:r>
              <a:rPr lang="en-US" sz="950" dirty="0">
                <a:solidFill>
                  <a:srgbClr val="3A4A4E"/>
                </a:solidFill>
                <a:latin typeface="Tahoma" pitchFamily="34" charset="0"/>
                <a:ea typeface="Tahoma" pitchFamily="34" charset="-122"/>
                <a:cs typeface="Tahoma" pitchFamily="34" charset="-120"/>
              </a:rPr>
              <a:t>برای جزئیات کامل پیام‌ها و ترتیب دقیق فراخوانی‌ها به تصویر نمودار مراجعه شود.</a:t>
            </a:r>
            <a:endParaRPr lang="en-US" sz="950" dirty="0"/>
          </a:p>
        </p:txBody>
      </p:sp>
      <p:sp>
        <p:nvSpPr>
          <p:cNvPr id="23" name="Text 20"/>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24" name="Text 21"/>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۴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نمودار فعالیت (Activity Diagram)</a:t>
            </a:r>
            <a:endParaRPr lang="en-US" sz="3000" dirty="0"/>
          </a:p>
        </p:txBody>
      </p:sp>
      <p:sp>
        <p:nvSpPr>
          <p:cNvPr id="4" name="Shape 2"/>
          <p:cNvSpPr/>
          <p:nvPr/>
        </p:nvSpPr>
        <p:spPr>
          <a:xfrm>
            <a:off x="8732520" y="1325880"/>
            <a:ext cx="2926080" cy="5074920"/>
          </a:xfrm>
          <a:prstGeom prst="roundRect">
            <a:avLst>
              <a:gd name="adj" fmla="val 2500"/>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activity.jpeg">    </p:cNvPr>
          <p:cNvPicPr>
            <a:picLocks noChangeAspect="1"/>
          </p:cNvPicPr>
          <p:nvPr/>
        </p:nvPicPr>
        <p:blipFill>
          <a:blip r:embed="rId1"/>
          <a:stretch>
            <a:fillRect/>
          </a:stretch>
        </p:blipFill>
        <p:spPr>
          <a:xfrm>
            <a:off x="9588627" y="1435608"/>
            <a:ext cx="1213866" cy="4855464"/>
          </a:xfrm>
          <a:prstGeom prst="rect">
            <a:avLst/>
          </a:prstGeom>
        </p:spPr>
      </p:pic>
      <p:sp>
        <p:nvSpPr>
          <p:cNvPr id="6" name="Text 3"/>
          <p:cNvSpPr/>
          <p:nvPr/>
        </p:nvSpPr>
        <p:spPr>
          <a:xfrm>
            <a:off x="548640" y="1417320"/>
            <a:ext cx="7863840" cy="365760"/>
          </a:xfrm>
          <a:prstGeom prst="rect">
            <a:avLst/>
          </a:prstGeom>
          <a:noFill/>
          <a:ln/>
        </p:spPr>
        <p:txBody>
          <a:bodyPr wrap="square" rtlCol="0" anchor="ctr"/>
          <a:lstStyle/>
          <a:p>
            <a:pPr rtl="1" algn="r" indent="0" marL="0">
              <a:buNone/>
            </a:pPr>
            <a:r>
              <a:rPr lang="en-US" sz="1400" b="1" dirty="0">
                <a:solidFill>
                  <a:srgbClr val="0B3A4A"/>
                </a:solidFill>
                <a:latin typeface="Tahoma" pitchFamily="34" charset="0"/>
                <a:ea typeface="Tahoma" pitchFamily="34" charset="-122"/>
                <a:cs typeface="Tahoma" pitchFamily="34" charset="-120"/>
              </a:rPr>
              <a:t>فرآیند مدل‌سازی‌شده: ثبت‌نام در دوره / کلاس</a:t>
            </a:r>
            <a:endParaRPr lang="en-US" sz="1400" dirty="0"/>
          </a:p>
        </p:txBody>
      </p:sp>
      <p:sp>
        <p:nvSpPr>
          <p:cNvPr id="7" name="Text 4"/>
          <p:cNvSpPr/>
          <p:nvPr/>
        </p:nvSpPr>
        <p:spPr>
          <a:xfrm>
            <a:off x="548640" y="1828800"/>
            <a:ext cx="7863840" cy="685800"/>
          </a:xfrm>
          <a:prstGeom prst="rect">
            <a:avLst/>
          </a:prstGeom>
          <a:noFill/>
          <a:ln/>
        </p:spPr>
        <p:txBody>
          <a:bodyPr wrap="square" rtlCol="0" anchor="ctr"/>
          <a:lstStyle/>
          <a:p>
            <a:pPr rtl="1" algn="r" indent="0" marL="0">
              <a:buNone/>
            </a:pPr>
            <a:r>
              <a:rPr lang="en-US" sz="1150" dirty="0">
                <a:solidFill>
                  <a:srgbClr val="3A4A4E"/>
                </a:solidFill>
                <a:latin typeface="Tahoma" pitchFamily="34" charset="0"/>
                <a:ea typeface="Tahoma" pitchFamily="34" charset="-122"/>
                <a:cs typeface="Tahoma" pitchFamily="34" charset="-120"/>
              </a:rPr>
              <a:t>Use Caseها مشخص می‌کنند «چه کاری» انجام می‌شود، اما جزئیات اجرای آن را نشان نمی‌دهند. این نمودار، جریان گام‌به‌گام یک فرآیند پیچیده و دارای چند نقطهٔ تصمیم‌گیری را روشن می‌سازد.</a:t>
            </a:r>
            <a:endParaRPr lang="en-US" sz="1150" dirty="0"/>
          </a:p>
        </p:txBody>
      </p:sp>
      <p:sp>
        <p:nvSpPr>
          <p:cNvPr id="8" name="Shape 5"/>
          <p:cNvSpPr/>
          <p:nvPr/>
        </p:nvSpPr>
        <p:spPr>
          <a:xfrm>
            <a:off x="8046720" y="2651760"/>
            <a:ext cx="329184" cy="329184"/>
          </a:xfrm>
          <a:prstGeom prst="ellipse">
            <a:avLst/>
          </a:prstGeom>
          <a:solidFill>
            <a:srgbClr val="0E7C86"/>
          </a:solidFill>
          <a:ln/>
        </p:spPr>
      </p:sp>
      <p:sp>
        <p:nvSpPr>
          <p:cNvPr id="9" name="Text 6"/>
          <p:cNvSpPr/>
          <p:nvPr/>
        </p:nvSpPr>
        <p:spPr>
          <a:xfrm>
            <a:off x="8046720" y="2651760"/>
            <a:ext cx="329184" cy="329184"/>
          </a:xfrm>
          <a:prstGeom prst="rect">
            <a:avLst/>
          </a:prstGeom>
          <a:noFill/>
          <a:ln/>
        </p:spPr>
        <p:txBody>
          <a:bodyPr wrap="square" rtlCol="0" anchor="ctr"/>
          <a:lstStyle/>
          <a:p>
            <a:pPr algn="ctr" indent="0" marL="0">
              <a:buNone/>
            </a:pPr>
            <a:r>
              <a:rPr lang="en-US" sz="1224" b="1" dirty="0">
                <a:solidFill>
                  <a:srgbClr val="FFFFFF"/>
                </a:solidFill>
                <a:latin typeface="Tahoma" pitchFamily="34" charset="0"/>
                <a:ea typeface="Tahoma" pitchFamily="34" charset="-122"/>
                <a:cs typeface="Tahoma" pitchFamily="34" charset="-120"/>
              </a:rPr>
              <a:t>1</a:t>
            </a:r>
            <a:endParaRPr lang="en-US" sz="1224" dirty="0"/>
          </a:p>
        </p:txBody>
      </p:sp>
      <p:sp>
        <p:nvSpPr>
          <p:cNvPr id="10" name="Text 7"/>
          <p:cNvSpPr/>
          <p:nvPr/>
        </p:nvSpPr>
        <p:spPr>
          <a:xfrm>
            <a:off x="548640" y="2651760"/>
            <a:ext cx="7360920" cy="274320"/>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ورود به سیستم</a:t>
            </a:r>
            <a:endParaRPr lang="en-US" sz="1150" dirty="0"/>
          </a:p>
        </p:txBody>
      </p:sp>
      <p:sp>
        <p:nvSpPr>
          <p:cNvPr id="11" name="Text 8"/>
          <p:cNvSpPr/>
          <p:nvPr/>
        </p:nvSpPr>
        <p:spPr>
          <a:xfrm>
            <a:off x="548640" y="2907792"/>
            <a:ext cx="7360920" cy="274320"/>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احراز هویت دانش‌آموز پیش از ادامهٔ فرآیند</a:t>
            </a:r>
            <a:endParaRPr lang="en-US" sz="950" dirty="0"/>
          </a:p>
        </p:txBody>
      </p:sp>
      <p:sp>
        <p:nvSpPr>
          <p:cNvPr id="12" name="Shape 9"/>
          <p:cNvSpPr/>
          <p:nvPr/>
        </p:nvSpPr>
        <p:spPr>
          <a:xfrm>
            <a:off x="8046720" y="3218688"/>
            <a:ext cx="329184" cy="329184"/>
          </a:xfrm>
          <a:prstGeom prst="ellipse">
            <a:avLst/>
          </a:prstGeom>
          <a:solidFill>
            <a:srgbClr val="17A6B0"/>
          </a:solidFill>
          <a:ln/>
        </p:spPr>
      </p:sp>
      <p:sp>
        <p:nvSpPr>
          <p:cNvPr id="13" name="Text 10"/>
          <p:cNvSpPr/>
          <p:nvPr/>
        </p:nvSpPr>
        <p:spPr>
          <a:xfrm>
            <a:off x="8046720" y="3218688"/>
            <a:ext cx="329184" cy="329184"/>
          </a:xfrm>
          <a:prstGeom prst="rect">
            <a:avLst/>
          </a:prstGeom>
          <a:noFill/>
          <a:ln/>
        </p:spPr>
        <p:txBody>
          <a:bodyPr wrap="square" rtlCol="0" anchor="ctr"/>
          <a:lstStyle/>
          <a:p>
            <a:pPr algn="ctr" indent="0" marL="0">
              <a:buNone/>
            </a:pPr>
            <a:r>
              <a:rPr lang="en-US" sz="1224" b="1" dirty="0">
                <a:solidFill>
                  <a:srgbClr val="FFFFFF"/>
                </a:solidFill>
                <a:latin typeface="Tahoma" pitchFamily="34" charset="0"/>
                <a:ea typeface="Tahoma" pitchFamily="34" charset="-122"/>
                <a:cs typeface="Tahoma" pitchFamily="34" charset="-120"/>
              </a:rPr>
              <a:t>2</a:t>
            </a:r>
            <a:endParaRPr lang="en-US" sz="1224" dirty="0"/>
          </a:p>
        </p:txBody>
      </p:sp>
      <p:sp>
        <p:nvSpPr>
          <p:cNvPr id="14" name="Text 11"/>
          <p:cNvSpPr/>
          <p:nvPr/>
        </p:nvSpPr>
        <p:spPr>
          <a:xfrm>
            <a:off x="548640" y="3218688"/>
            <a:ext cx="7360920" cy="274320"/>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تصمیم: اعتبارسنجی کاربری</a:t>
            </a:r>
            <a:endParaRPr lang="en-US" sz="1150" dirty="0"/>
          </a:p>
        </p:txBody>
      </p:sp>
      <p:sp>
        <p:nvSpPr>
          <p:cNvPr id="15" name="Text 12"/>
          <p:cNvSpPr/>
          <p:nvPr/>
        </p:nvSpPr>
        <p:spPr>
          <a:xfrm>
            <a:off x="548640" y="3474720"/>
            <a:ext cx="7360920" cy="274320"/>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در صورت نامعتبر بودن، بازگشت به مرحلهٔ ورود</a:t>
            </a:r>
            <a:endParaRPr lang="en-US" sz="950" dirty="0"/>
          </a:p>
        </p:txBody>
      </p:sp>
      <p:sp>
        <p:nvSpPr>
          <p:cNvPr id="16" name="Shape 13"/>
          <p:cNvSpPr/>
          <p:nvPr/>
        </p:nvSpPr>
        <p:spPr>
          <a:xfrm>
            <a:off x="8046720" y="3785616"/>
            <a:ext cx="329184" cy="329184"/>
          </a:xfrm>
          <a:prstGeom prst="ellipse">
            <a:avLst/>
          </a:prstGeom>
          <a:solidFill>
            <a:srgbClr val="0E7C86"/>
          </a:solidFill>
          <a:ln/>
        </p:spPr>
      </p:sp>
      <p:sp>
        <p:nvSpPr>
          <p:cNvPr id="17" name="Text 14"/>
          <p:cNvSpPr/>
          <p:nvPr/>
        </p:nvSpPr>
        <p:spPr>
          <a:xfrm>
            <a:off x="8046720" y="3785616"/>
            <a:ext cx="329184" cy="329184"/>
          </a:xfrm>
          <a:prstGeom prst="rect">
            <a:avLst/>
          </a:prstGeom>
          <a:noFill/>
          <a:ln/>
        </p:spPr>
        <p:txBody>
          <a:bodyPr wrap="square" rtlCol="0" anchor="ctr"/>
          <a:lstStyle/>
          <a:p>
            <a:pPr algn="ctr" indent="0" marL="0">
              <a:buNone/>
            </a:pPr>
            <a:r>
              <a:rPr lang="en-US" sz="1224" b="1" dirty="0">
                <a:solidFill>
                  <a:srgbClr val="FFFFFF"/>
                </a:solidFill>
                <a:latin typeface="Tahoma" pitchFamily="34" charset="0"/>
                <a:ea typeface="Tahoma" pitchFamily="34" charset="-122"/>
                <a:cs typeface="Tahoma" pitchFamily="34" charset="-120"/>
              </a:rPr>
              <a:t>3</a:t>
            </a:r>
            <a:endParaRPr lang="en-US" sz="1224" dirty="0"/>
          </a:p>
        </p:txBody>
      </p:sp>
      <p:sp>
        <p:nvSpPr>
          <p:cNvPr id="18" name="Text 15"/>
          <p:cNvSpPr/>
          <p:nvPr/>
        </p:nvSpPr>
        <p:spPr>
          <a:xfrm>
            <a:off x="548640" y="3785616"/>
            <a:ext cx="7360920" cy="274320"/>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مشاهده و انتخاب دوره/کلاس</a:t>
            </a:r>
            <a:endParaRPr lang="en-US" sz="1150" dirty="0"/>
          </a:p>
        </p:txBody>
      </p:sp>
      <p:sp>
        <p:nvSpPr>
          <p:cNvPr id="19" name="Text 16"/>
          <p:cNvSpPr/>
          <p:nvPr/>
        </p:nvSpPr>
        <p:spPr>
          <a:xfrm>
            <a:off x="548640" y="4041648"/>
            <a:ext cx="7360920" cy="274320"/>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نمایش فهرست دوره‌های قابل ثبت‌نام</a:t>
            </a:r>
            <a:endParaRPr lang="en-US" sz="950" dirty="0"/>
          </a:p>
        </p:txBody>
      </p:sp>
      <p:sp>
        <p:nvSpPr>
          <p:cNvPr id="20" name="Shape 17"/>
          <p:cNvSpPr/>
          <p:nvPr/>
        </p:nvSpPr>
        <p:spPr>
          <a:xfrm>
            <a:off x="8046720" y="4352544"/>
            <a:ext cx="329184" cy="329184"/>
          </a:xfrm>
          <a:prstGeom prst="ellipse">
            <a:avLst/>
          </a:prstGeom>
          <a:solidFill>
            <a:srgbClr val="17A6B0"/>
          </a:solidFill>
          <a:ln/>
        </p:spPr>
      </p:sp>
      <p:sp>
        <p:nvSpPr>
          <p:cNvPr id="21" name="Text 18"/>
          <p:cNvSpPr/>
          <p:nvPr/>
        </p:nvSpPr>
        <p:spPr>
          <a:xfrm>
            <a:off x="8046720" y="4352544"/>
            <a:ext cx="329184" cy="329184"/>
          </a:xfrm>
          <a:prstGeom prst="rect">
            <a:avLst/>
          </a:prstGeom>
          <a:noFill/>
          <a:ln/>
        </p:spPr>
        <p:txBody>
          <a:bodyPr wrap="square" rtlCol="0" anchor="ctr"/>
          <a:lstStyle/>
          <a:p>
            <a:pPr algn="ctr" indent="0" marL="0">
              <a:buNone/>
            </a:pPr>
            <a:r>
              <a:rPr lang="en-US" sz="1224" b="1" dirty="0">
                <a:solidFill>
                  <a:srgbClr val="FFFFFF"/>
                </a:solidFill>
                <a:latin typeface="Tahoma" pitchFamily="34" charset="0"/>
                <a:ea typeface="Tahoma" pitchFamily="34" charset="-122"/>
                <a:cs typeface="Tahoma" pitchFamily="34" charset="-120"/>
              </a:rPr>
              <a:t>4</a:t>
            </a:r>
            <a:endParaRPr lang="en-US" sz="1224" dirty="0"/>
          </a:p>
        </p:txBody>
      </p:sp>
      <p:sp>
        <p:nvSpPr>
          <p:cNvPr id="22" name="Text 19"/>
          <p:cNvSpPr/>
          <p:nvPr/>
        </p:nvSpPr>
        <p:spPr>
          <a:xfrm>
            <a:off x="548640" y="4352544"/>
            <a:ext cx="7360920" cy="274320"/>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تصمیم: بررسی ظرفیت</a:t>
            </a:r>
            <a:endParaRPr lang="en-US" sz="1150" dirty="0"/>
          </a:p>
        </p:txBody>
      </p:sp>
      <p:sp>
        <p:nvSpPr>
          <p:cNvPr id="23" name="Text 20"/>
          <p:cNvSpPr/>
          <p:nvPr/>
        </p:nvSpPr>
        <p:spPr>
          <a:xfrm>
            <a:off x="548640" y="4608576"/>
            <a:ext cx="7360920" cy="274320"/>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در صورت تکمیل ظرفیت، نمایش پیام خطا</a:t>
            </a:r>
            <a:endParaRPr lang="en-US" sz="950" dirty="0"/>
          </a:p>
        </p:txBody>
      </p:sp>
      <p:sp>
        <p:nvSpPr>
          <p:cNvPr id="24" name="Shape 21"/>
          <p:cNvSpPr/>
          <p:nvPr/>
        </p:nvSpPr>
        <p:spPr>
          <a:xfrm>
            <a:off x="8046720" y="4919472"/>
            <a:ext cx="329184" cy="329184"/>
          </a:xfrm>
          <a:prstGeom prst="ellipse">
            <a:avLst/>
          </a:prstGeom>
          <a:solidFill>
            <a:srgbClr val="0E7C86"/>
          </a:solidFill>
          <a:ln/>
        </p:spPr>
      </p:sp>
      <p:sp>
        <p:nvSpPr>
          <p:cNvPr id="25" name="Text 22"/>
          <p:cNvSpPr/>
          <p:nvPr/>
        </p:nvSpPr>
        <p:spPr>
          <a:xfrm>
            <a:off x="8046720" y="4919472"/>
            <a:ext cx="329184" cy="329184"/>
          </a:xfrm>
          <a:prstGeom prst="rect">
            <a:avLst/>
          </a:prstGeom>
          <a:noFill/>
          <a:ln/>
        </p:spPr>
        <p:txBody>
          <a:bodyPr wrap="square" rtlCol="0" anchor="ctr"/>
          <a:lstStyle/>
          <a:p>
            <a:pPr algn="ctr" indent="0" marL="0">
              <a:buNone/>
            </a:pPr>
            <a:r>
              <a:rPr lang="en-US" sz="1224" b="1" dirty="0">
                <a:solidFill>
                  <a:srgbClr val="FFFFFF"/>
                </a:solidFill>
                <a:latin typeface="Tahoma" pitchFamily="34" charset="0"/>
                <a:ea typeface="Tahoma" pitchFamily="34" charset="-122"/>
                <a:cs typeface="Tahoma" pitchFamily="34" charset="-120"/>
              </a:rPr>
              <a:t>5</a:t>
            </a:r>
            <a:endParaRPr lang="en-US" sz="1224" dirty="0"/>
          </a:p>
        </p:txBody>
      </p:sp>
      <p:sp>
        <p:nvSpPr>
          <p:cNvPr id="26" name="Text 23"/>
          <p:cNvSpPr/>
          <p:nvPr/>
        </p:nvSpPr>
        <p:spPr>
          <a:xfrm>
            <a:off x="548640" y="4919472"/>
            <a:ext cx="7360920" cy="274320"/>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پرداخت شهریه و تصمیم موفقیت پرداخت</a:t>
            </a:r>
            <a:endParaRPr lang="en-US" sz="1150" dirty="0"/>
          </a:p>
        </p:txBody>
      </p:sp>
      <p:sp>
        <p:nvSpPr>
          <p:cNvPr id="27" name="Text 24"/>
          <p:cNvSpPr/>
          <p:nvPr/>
        </p:nvSpPr>
        <p:spPr>
          <a:xfrm>
            <a:off x="548640" y="5175504"/>
            <a:ext cx="7360920" cy="274320"/>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مسیر جایگزین در صورت شکست تراکنش</a:t>
            </a:r>
            <a:endParaRPr lang="en-US" sz="950" dirty="0"/>
          </a:p>
        </p:txBody>
      </p:sp>
      <p:sp>
        <p:nvSpPr>
          <p:cNvPr id="28" name="Shape 25"/>
          <p:cNvSpPr/>
          <p:nvPr/>
        </p:nvSpPr>
        <p:spPr>
          <a:xfrm>
            <a:off x="8046720" y="5486400"/>
            <a:ext cx="329184" cy="329184"/>
          </a:xfrm>
          <a:prstGeom prst="ellipse">
            <a:avLst/>
          </a:prstGeom>
          <a:solidFill>
            <a:srgbClr val="17A6B0"/>
          </a:solidFill>
          <a:ln/>
        </p:spPr>
      </p:sp>
      <p:sp>
        <p:nvSpPr>
          <p:cNvPr id="29" name="Text 26"/>
          <p:cNvSpPr/>
          <p:nvPr/>
        </p:nvSpPr>
        <p:spPr>
          <a:xfrm>
            <a:off x="8046720" y="5486400"/>
            <a:ext cx="329184" cy="329184"/>
          </a:xfrm>
          <a:prstGeom prst="rect">
            <a:avLst/>
          </a:prstGeom>
          <a:noFill/>
          <a:ln/>
        </p:spPr>
        <p:txBody>
          <a:bodyPr wrap="square" rtlCol="0" anchor="ctr"/>
          <a:lstStyle/>
          <a:p>
            <a:pPr algn="ctr" indent="0" marL="0">
              <a:buNone/>
            </a:pPr>
            <a:r>
              <a:rPr lang="en-US" sz="1224" b="1" dirty="0">
                <a:solidFill>
                  <a:srgbClr val="FFFFFF"/>
                </a:solidFill>
                <a:latin typeface="Tahoma" pitchFamily="34" charset="0"/>
                <a:ea typeface="Tahoma" pitchFamily="34" charset="-122"/>
                <a:cs typeface="Tahoma" pitchFamily="34" charset="-120"/>
              </a:rPr>
              <a:t>6</a:t>
            </a:r>
            <a:endParaRPr lang="en-US" sz="1224" dirty="0"/>
          </a:p>
        </p:txBody>
      </p:sp>
      <p:sp>
        <p:nvSpPr>
          <p:cNvPr id="30" name="Text 27"/>
          <p:cNvSpPr/>
          <p:nvPr/>
        </p:nvSpPr>
        <p:spPr>
          <a:xfrm>
            <a:off x="548640" y="5486400"/>
            <a:ext cx="7360920" cy="274320"/>
          </a:xfrm>
          <a:prstGeom prst="rect">
            <a:avLst/>
          </a:prstGeom>
          <a:noFill/>
          <a:ln/>
        </p:spPr>
        <p:txBody>
          <a:bodyPr wrap="square" rtlCol="0" anchor="ctr"/>
          <a:lstStyle/>
          <a:p>
            <a:pPr rtl="1" algn="r" indent="0" marL="0">
              <a:buNone/>
            </a:pPr>
            <a:r>
              <a:rPr lang="en-US" sz="1150" b="1" dirty="0">
                <a:solidFill>
                  <a:srgbClr val="0B3A4A"/>
                </a:solidFill>
                <a:latin typeface="Tahoma" pitchFamily="34" charset="0"/>
                <a:ea typeface="Tahoma" pitchFamily="34" charset="-122"/>
                <a:cs typeface="Tahoma" pitchFamily="34" charset="-120"/>
              </a:rPr>
              <a:t>تایید نهایی ثبت‌نام</a:t>
            </a:r>
            <a:endParaRPr lang="en-US" sz="1150" dirty="0"/>
          </a:p>
        </p:txBody>
      </p:sp>
      <p:sp>
        <p:nvSpPr>
          <p:cNvPr id="31" name="Text 28"/>
          <p:cNvSpPr/>
          <p:nvPr/>
        </p:nvSpPr>
        <p:spPr>
          <a:xfrm>
            <a:off x="548640" y="5742432"/>
            <a:ext cx="7360920" cy="274320"/>
          </a:xfrm>
          <a:prstGeom prst="rect">
            <a:avLst/>
          </a:prstGeom>
          <a:noFill/>
          <a:ln/>
        </p:spPr>
        <p:txBody>
          <a:bodyPr wrap="square" rtlCol="0" anchor="ctr"/>
          <a:lstStyle/>
          <a:p>
            <a:pPr rtl="1" algn="r" indent="0" marL="0">
              <a:buNone/>
            </a:pPr>
            <a:r>
              <a:rPr lang="en-US" sz="950" dirty="0">
                <a:solidFill>
                  <a:srgbClr val="6E8285"/>
                </a:solidFill>
                <a:latin typeface="Tahoma" pitchFamily="34" charset="0"/>
                <a:ea typeface="Tahoma" pitchFamily="34" charset="-122"/>
                <a:cs typeface="Tahoma" pitchFamily="34" charset="-120"/>
              </a:rPr>
              <a:t>ثبت رکورد و اطلاع‌رسانی به دانش‌آموز</a:t>
            </a:r>
            <a:endParaRPr lang="en-US" sz="950" dirty="0"/>
          </a:p>
        </p:txBody>
      </p:sp>
      <p:sp>
        <p:nvSpPr>
          <p:cNvPr id="32" name="Text 29"/>
          <p:cNvSpPr/>
          <p:nvPr/>
        </p:nvSpPr>
        <p:spPr>
          <a:xfrm>
            <a:off x="548640" y="5989320"/>
            <a:ext cx="7863840" cy="274320"/>
          </a:xfrm>
          <a:prstGeom prst="rect">
            <a:avLst/>
          </a:prstGeom>
          <a:noFill/>
          <a:ln/>
        </p:spPr>
        <p:txBody>
          <a:bodyPr wrap="square" rtlCol="0" anchor="ctr"/>
          <a:lstStyle/>
          <a:p>
            <a:pPr rtl="1" algn="r" indent="0" marL="0">
              <a:buNone/>
            </a:pPr>
            <a:r>
              <a:rPr lang="en-US" sz="900" i="1" dirty="0">
                <a:solidFill>
                  <a:srgbClr val="6E8285"/>
                </a:solidFill>
                <a:latin typeface="Tahoma" pitchFamily="34" charset="0"/>
                <a:ea typeface="Tahoma" pitchFamily="34" charset="-122"/>
                <a:cs typeface="Tahoma" pitchFamily="34" charset="-120"/>
              </a:rPr>
              <a:t>نمودار شامل دو یا چند نقطهٔ تصمیم‌گیری (Decision) و مسیرهای موازی است؛ برای متن دقیق هر گام به تصویر نمودار مراجعه شود.</a:t>
            </a:r>
            <a:endParaRPr lang="en-US" sz="900" dirty="0"/>
          </a:p>
        </p:txBody>
      </p:sp>
      <p:sp>
        <p:nvSpPr>
          <p:cNvPr id="33" name="Text 30"/>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34" name="Text 31"/>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۵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نمودار وضعیت (State Diagram)</a:t>
            </a:r>
            <a:endParaRPr lang="en-US" sz="3000" dirty="0"/>
          </a:p>
        </p:txBody>
      </p:sp>
      <p:sp>
        <p:nvSpPr>
          <p:cNvPr id="4" name="Shape 2"/>
          <p:cNvSpPr/>
          <p:nvPr/>
        </p:nvSpPr>
        <p:spPr>
          <a:xfrm>
            <a:off x="8915400" y="1325880"/>
            <a:ext cx="2743200" cy="5074920"/>
          </a:xfrm>
          <a:prstGeom prst="roundRect">
            <a:avLst>
              <a:gd name="adj" fmla="val 2667"/>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state.jpeg">    </p:cNvPr>
          <p:cNvPicPr>
            <a:picLocks noChangeAspect="1"/>
          </p:cNvPicPr>
          <p:nvPr/>
        </p:nvPicPr>
        <p:blipFill>
          <a:blip r:embed="rId1"/>
          <a:stretch>
            <a:fillRect/>
          </a:stretch>
        </p:blipFill>
        <p:spPr>
          <a:xfrm>
            <a:off x="9073134" y="1435608"/>
            <a:ext cx="2427732" cy="4855464"/>
          </a:xfrm>
          <a:prstGeom prst="rect">
            <a:avLst/>
          </a:prstGeom>
        </p:spPr>
      </p:pic>
      <p:sp>
        <p:nvSpPr>
          <p:cNvPr id="6" name="Text 3"/>
          <p:cNvSpPr/>
          <p:nvPr/>
        </p:nvSpPr>
        <p:spPr>
          <a:xfrm>
            <a:off x="548640" y="1417320"/>
            <a:ext cx="8092440" cy="365760"/>
          </a:xfrm>
          <a:prstGeom prst="rect">
            <a:avLst/>
          </a:prstGeom>
          <a:noFill/>
          <a:ln/>
        </p:spPr>
        <p:txBody>
          <a:bodyPr wrap="square" rtlCol="0" anchor="ctr"/>
          <a:lstStyle/>
          <a:p>
            <a:pPr rtl="1" algn="r" indent="0" marL="0">
              <a:buNone/>
            </a:pPr>
            <a:r>
              <a:rPr lang="en-US" sz="1400" b="1" dirty="0">
                <a:solidFill>
                  <a:srgbClr val="0B3A4A"/>
                </a:solidFill>
                <a:latin typeface="Tahoma" pitchFamily="34" charset="0"/>
                <a:ea typeface="Tahoma" pitchFamily="34" charset="-122"/>
                <a:cs typeface="Tahoma" pitchFamily="34" charset="-120"/>
              </a:rPr>
              <a:t>چرخهٔ حیات مؤلفهٔ Exam</a:t>
            </a:r>
            <a:endParaRPr lang="en-US" sz="1400" dirty="0"/>
          </a:p>
        </p:txBody>
      </p:sp>
      <p:sp>
        <p:nvSpPr>
          <p:cNvPr id="7" name="Text 4"/>
          <p:cNvSpPr/>
          <p:nvPr/>
        </p:nvSpPr>
        <p:spPr>
          <a:xfrm>
            <a:off x="548640" y="1828800"/>
            <a:ext cx="8092440" cy="594360"/>
          </a:xfrm>
          <a:prstGeom prst="rect">
            <a:avLst/>
          </a:prstGeom>
          <a:noFill/>
          <a:ln/>
        </p:spPr>
        <p:txBody>
          <a:bodyPr wrap="square" rtlCol="0" anchor="ctr"/>
          <a:lstStyle/>
          <a:p>
            <a:pPr rtl="1" algn="r" indent="0" marL="0">
              <a:buNone/>
            </a:pPr>
            <a:r>
              <a:rPr lang="en-US" sz="1100" dirty="0">
                <a:solidFill>
                  <a:srgbClr val="3A4A4E"/>
                </a:solidFill>
                <a:latin typeface="Tahoma" pitchFamily="34" charset="0"/>
                <a:ea typeface="Tahoma" pitchFamily="34" charset="-122"/>
                <a:cs typeface="Tahoma" pitchFamily="34" charset="-120"/>
              </a:rPr>
              <a:t>نمودار وضعیت فقط برای کلاس‌هایی رسم می‌شود که چرخهٔ حیات مشخص و معنادار دارند — مشابه مثال کلاسیک «پمپ انسولین» در ادبیات مهندسی نرم‌افزار که وضعیت‌های on/off/dosing را طی می‌کند.</a:t>
            </a:r>
            <a:endParaRPr lang="en-US" sz="1100" dirty="0"/>
          </a:p>
        </p:txBody>
      </p:sp>
      <p:sp>
        <p:nvSpPr>
          <p:cNvPr id="8" name="Shape 5"/>
          <p:cNvSpPr/>
          <p:nvPr/>
        </p:nvSpPr>
        <p:spPr>
          <a:xfrm>
            <a:off x="548640" y="2606040"/>
            <a:ext cx="1399032" cy="502920"/>
          </a:xfrm>
          <a:prstGeom prst="roundRect">
            <a:avLst>
              <a:gd name="adj" fmla="val 50909"/>
            </a:avLst>
          </a:prstGeom>
          <a:solidFill>
            <a:srgbClr val="EAF4F5"/>
          </a:solidFill>
          <a:ln w="12700">
            <a:solidFill>
              <a:srgbClr val="0E7C86"/>
            </a:solidFill>
            <a:prstDash val="solid"/>
          </a:ln>
        </p:spPr>
      </p:sp>
      <p:sp>
        <p:nvSpPr>
          <p:cNvPr id="9" name="Text 6"/>
          <p:cNvSpPr/>
          <p:nvPr/>
        </p:nvSpPr>
        <p:spPr>
          <a:xfrm>
            <a:off x="548640" y="2606040"/>
            <a:ext cx="1399032" cy="502920"/>
          </a:xfrm>
          <a:prstGeom prst="rect">
            <a:avLst/>
          </a:prstGeom>
          <a:noFill/>
          <a:ln/>
        </p:spPr>
        <p:txBody>
          <a:bodyPr wrap="square" rtlCol="0" anchor="ctr"/>
          <a:lstStyle/>
          <a:p>
            <a:pPr algn="ctr" indent="0" marL="0">
              <a:buNone/>
            </a:pPr>
            <a:r>
              <a:rPr lang="en-US" sz="1050" b="1" dirty="0">
                <a:solidFill>
                  <a:srgbClr val="0B3A4A"/>
                </a:solidFill>
              </a:rPr>
              <a:t>Draft</a:t>
            </a:r>
            <a:endParaRPr lang="en-US" sz="1050" dirty="0"/>
          </a:p>
        </p:txBody>
      </p:sp>
      <p:sp>
        <p:nvSpPr>
          <p:cNvPr id="10" name="Text 7"/>
          <p:cNvSpPr/>
          <p:nvPr/>
        </p:nvSpPr>
        <p:spPr>
          <a:xfrm>
            <a:off x="1929384" y="2606040"/>
            <a:ext cx="292608" cy="502920"/>
          </a:xfrm>
          <a:prstGeom prst="rect">
            <a:avLst/>
          </a:prstGeom>
          <a:noFill/>
          <a:ln/>
        </p:spPr>
        <p:txBody>
          <a:bodyPr wrap="square" rtlCol="0" anchor="ctr"/>
          <a:lstStyle/>
          <a:p>
            <a:pPr algn="ctr" indent="0" marL="0">
              <a:buNone/>
            </a:pPr>
            <a:r>
              <a:rPr lang="en-US" sz="1600" b="1" dirty="0">
                <a:solidFill>
                  <a:srgbClr val="F2A93B"/>
                </a:solidFill>
              </a:rPr>
              <a:t>←</a:t>
            </a:r>
            <a:endParaRPr lang="en-US" sz="1600" dirty="0"/>
          </a:p>
        </p:txBody>
      </p:sp>
      <p:sp>
        <p:nvSpPr>
          <p:cNvPr id="11" name="Shape 8"/>
          <p:cNvSpPr/>
          <p:nvPr/>
        </p:nvSpPr>
        <p:spPr>
          <a:xfrm>
            <a:off x="2221992" y="2606040"/>
            <a:ext cx="1399032" cy="502920"/>
          </a:xfrm>
          <a:prstGeom prst="roundRect">
            <a:avLst>
              <a:gd name="adj" fmla="val 50909"/>
            </a:avLst>
          </a:prstGeom>
          <a:solidFill>
            <a:srgbClr val="0E7C86"/>
          </a:solidFill>
          <a:ln w="12700">
            <a:solidFill>
              <a:srgbClr val="0E7C86"/>
            </a:solidFill>
            <a:prstDash val="solid"/>
          </a:ln>
        </p:spPr>
      </p:sp>
      <p:sp>
        <p:nvSpPr>
          <p:cNvPr id="12" name="Text 9"/>
          <p:cNvSpPr/>
          <p:nvPr/>
        </p:nvSpPr>
        <p:spPr>
          <a:xfrm>
            <a:off x="2221992" y="2606040"/>
            <a:ext cx="1399032" cy="502920"/>
          </a:xfrm>
          <a:prstGeom prst="rect">
            <a:avLst/>
          </a:prstGeom>
          <a:noFill/>
          <a:ln/>
        </p:spPr>
        <p:txBody>
          <a:bodyPr wrap="square" rtlCol="0" anchor="ctr"/>
          <a:lstStyle/>
          <a:p>
            <a:pPr algn="ctr" indent="0" marL="0">
              <a:buNone/>
            </a:pPr>
            <a:r>
              <a:rPr lang="en-US" sz="1050" b="1" dirty="0">
                <a:solidFill>
                  <a:srgbClr val="FFFFFF"/>
                </a:solidFill>
              </a:rPr>
              <a:t>Scheduled</a:t>
            </a:r>
            <a:endParaRPr lang="en-US" sz="1050" dirty="0"/>
          </a:p>
        </p:txBody>
      </p:sp>
      <p:sp>
        <p:nvSpPr>
          <p:cNvPr id="13" name="Text 10"/>
          <p:cNvSpPr/>
          <p:nvPr/>
        </p:nvSpPr>
        <p:spPr>
          <a:xfrm>
            <a:off x="3602736" y="2606040"/>
            <a:ext cx="292608" cy="502920"/>
          </a:xfrm>
          <a:prstGeom prst="rect">
            <a:avLst/>
          </a:prstGeom>
          <a:noFill/>
          <a:ln/>
        </p:spPr>
        <p:txBody>
          <a:bodyPr wrap="square" rtlCol="0" anchor="ctr"/>
          <a:lstStyle/>
          <a:p>
            <a:pPr algn="ctr" indent="0" marL="0">
              <a:buNone/>
            </a:pPr>
            <a:r>
              <a:rPr lang="en-US" sz="1600" b="1" dirty="0">
                <a:solidFill>
                  <a:srgbClr val="F2A93B"/>
                </a:solidFill>
              </a:rPr>
              <a:t>←</a:t>
            </a:r>
            <a:endParaRPr lang="en-US" sz="1600" dirty="0"/>
          </a:p>
        </p:txBody>
      </p:sp>
      <p:sp>
        <p:nvSpPr>
          <p:cNvPr id="14" name="Shape 11"/>
          <p:cNvSpPr/>
          <p:nvPr/>
        </p:nvSpPr>
        <p:spPr>
          <a:xfrm>
            <a:off x="3895344" y="2606040"/>
            <a:ext cx="1399032" cy="502920"/>
          </a:xfrm>
          <a:prstGeom prst="roundRect">
            <a:avLst>
              <a:gd name="adj" fmla="val 50909"/>
            </a:avLst>
          </a:prstGeom>
          <a:solidFill>
            <a:srgbClr val="0E7C86"/>
          </a:solidFill>
          <a:ln w="12700">
            <a:solidFill>
              <a:srgbClr val="0E7C86"/>
            </a:solidFill>
            <a:prstDash val="solid"/>
          </a:ln>
        </p:spPr>
      </p:sp>
      <p:sp>
        <p:nvSpPr>
          <p:cNvPr id="15" name="Text 12"/>
          <p:cNvSpPr/>
          <p:nvPr/>
        </p:nvSpPr>
        <p:spPr>
          <a:xfrm>
            <a:off x="3895344" y="2606040"/>
            <a:ext cx="1399032" cy="502920"/>
          </a:xfrm>
          <a:prstGeom prst="rect">
            <a:avLst/>
          </a:prstGeom>
          <a:noFill/>
          <a:ln/>
        </p:spPr>
        <p:txBody>
          <a:bodyPr wrap="square" rtlCol="0" anchor="ctr"/>
          <a:lstStyle/>
          <a:p>
            <a:pPr algn="ctr" indent="0" marL="0">
              <a:buNone/>
            </a:pPr>
            <a:r>
              <a:rPr lang="en-US" sz="1050" b="1" dirty="0">
                <a:solidFill>
                  <a:srgbClr val="FFFFFF"/>
                </a:solidFill>
              </a:rPr>
              <a:t>Active</a:t>
            </a:r>
            <a:endParaRPr lang="en-US" sz="1050" dirty="0"/>
          </a:p>
        </p:txBody>
      </p:sp>
      <p:sp>
        <p:nvSpPr>
          <p:cNvPr id="16" name="Text 13"/>
          <p:cNvSpPr/>
          <p:nvPr/>
        </p:nvSpPr>
        <p:spPr>
          <a:xfrm>
            <a:off x="5276088" y="2606040"/>
            <a:ext cx="292608" cy="502920"/>
          </a:xfrm>
          <a:prstGeom prst="rect">
            <a:avLst/>
          </a:prstGeom>
          <a:noFill/>
          <a:ln/>
        </p:spPr>
        <p:txBody>
          <a:bodyPr wrap="square" rtlCol="0" anchor="ctr"/>
          <a:lstStyle/>
          <a:p>
            <a:pPr algn="ctr" indent="0" marL="0">
              <a:buNone/>
            </a:pPr>
            <a:r>
              <a:rPr lang="en-US" sz="1600" b="1" dirty="0">
                <a:solidFill>
                  <a:srgbClr val="F2A93B"/>
                </a:solidFill>
              </a:rPr>
              <a:t>←</a:t>
            </a:r>
            <a:endParaRPr lang="en-US" sz="1600" dirty="0"/>
          </a:p>
        </p:txBody>
      </p:sp>
      <p:sp>
        <p:nvSpPr>
          <p:cNvPr id="17" name="Shape 14"/>
          <p:cNvSpPr/>
          <p:nvPr/>
        </p:nvSpPr>
        <p:spPr>
          <a:xfrm>
            <a:off x="5568696" y="2606040"/>
            <a:ext cx="1399032" cy="502920"/>
          </a:xfrm>
          <a:prstGeom prst="roundRect">
            <a:avLst>
              <a:gd name="adj" fmla="val 50909"/>
            </a:avLst>
          </a:prstGeom>
          <a:solidFill>
            <a:srgbClr val="0E7C86"/>
          </a:solidFill>
          <a:ln w="12700">
            <a:solidFill>
              <a:srgbClr val="0E7C86"/>
            </a:solidFill>
            <a:prstDash val="solid"/>
          </a:ln>
        </p:spPr>
      </p:sp>
      <p:sp>
        <p:nvSpPr>
          <p:cNvPr id="18" name="Text 15"/>
          <p:cNvSpPr/>
          <p:nvPr/>
        </p:nvSpPr>
        <p:spPr>
          <a:xfrm>
            <a:off x="5568696" y="2606040"/>
            <a:ext cx="1399032" cy="502920"/>
          </a:xfrm>
          <a:prstGeom prst="rect">
            <a:avLst/>
          </a:prstGeom>
          <a:noFill/>
          <a:ln/>
        </p:spPr>
        <p:txBody>
          <a:bodyPr wrap="square" rtlCol="0" anchor="ctr"/>
          <a:lstStyle/>
          <a:p>
            <a:pPr algn="ctr" indent="0" marL="0">
              <a:buNone/>
            </a:pPr>
            <a:r>
              <a:rPr lang="en-US" sz="1050" b="1" dirty="0">
                <a:solidFill>
                  <a:srgbClr val="FFFFFF"/>
                </a:solidFill>
              </a:rPr>
              <a:t>Finished</a:t>
            </a:r>
            <a:endParaRPr lang="en-US" sz="1050" dirty="0"/>
          </a:p>
        </p:txBody>
      </p:sp>
      <p:sp>
        <p:nvSpPr>
          <p:cNvPr id="19" name="Text 16"/>
          <p:cNvSpPr/>
          <p:nvPr/>
        </p:nvSpPr>
        <p:spPr>
          <a:xfrm>
            <a:off x="6949440" y="2606040"/>
            <a:ext cx="292608" cy="502920"/>
          </a:xfrm>
          <a:prstGeom prst="rect">
            <a:avLst/>
          </a:prstGeom>
          <a:noFill/>
          <a:ln/>
        </p:spPr>
        <p:txBody>
          <a:bodyPr wrap="square" rtlCol="0" anchor="ctr"/>
          <a:lstStyle/>
          <a:p>
            <a:pPr algn="ctr" indent="0" marL="0">
              <a:buNone/>
            </a:pPr>
            <a:r>
              <a:rPr lang="en-US" sz="1600" b="1" dirty="0">
                <a:solidFill>
                  <a:srgbClr val="F2A93B"/>
                </a:solidFill>
              </a:rPr>
              <a:t>←</a:t>
            </a:r>
            <a:endParaRPr lang="en-US" sz="1600" dirty="0"/>
          </a:p>
        </p:txBody>
      </p:sp>
      <p:sp>
        <p:nvSpPr>
          <p:cNvPr id="20" name="Shape 17"/>
          <p:cNvSpPr/>
          <p:nvPr/>
        </p:nvSpPr>
        <p:spPr>
          <a:xfrm>
            <a:off x="7242048" y="2606040"/>
            <a:ext cx="1399032" cy="502920"/>
          </a:xfrm>
          <a:prstGeom prst="roundRect">
            <a:avLst>
              <a:gd name="adj" fmla="val 50909"/>
            </a:avLst>
          </a:prstGeom>
          <a:solidFill>
            <a:srgbClr val="EAF4F5"/>
          </a:solidFill>
          <a:ln w="12700">
            <a:solidFill>
              <a:srgbClr val="0E7C86"/>
            </a:solidFill>
            <a:prstDash val="solid"/>
          </a:ln>
        </p:spPr>
      </p:sp>
      <p:sp>
        <p:nvSpPr>
          <p:cNvPr id="21" name="Text 18"/>
          <p:cNvSpPr/>
          <p:nvPr/>
        </p:nvSpPr>
        <p:spPr>
          <a:xfrm>
            <a:off x="7242048" y="2606040"/>
            <a:ext cx="1399032" cy="502920"/>
          </a:xfrm>
          <a:prstGeom prst="rect">
            <a:avLst/>
          </a:prstGeom>
          <a:noFill/>
          <a:ln/>
        </p:spPr>
        <p:txBody>
          <a:bodyPr wrap="square" rtlCol="0" anchor="ctr"/>
          <a:lstStyle/>
          <a:p>
            <a:pPr algn="ctr" indent="0" marL="0">
              <a:buNone/>
            </a:pPr>
            <a:r>
              <a:rPr lang="en-US" sz="1050" b="1" dirty="0">
                <a:solidFill>
                  <a:srgbClr val="0B3A4A"/>
                </a:solidFill>
              </a:rPr>
              <a:t>Archived</a:t>
            </a:r>
            <a:endParaRPr lang="en-US" sz="1050" dirty="0"/>
          </a:p>
        </p:txBody>
      </p:sp>
      <p:sp>
        <p:nvSpPr>
          <p:cNvPr id="22" name="Text 19"/>
          <p:cNvSpPr/>
          <p:nvPr/>
        </p:nvSpPr>
        <p:spPr>
          <a:xfrm>
            <a:off x="548640" y="3291840"/>
            <a:ext cx="8092440" cy="274320"/>
          </a:xfrm>
          <a:prstGeom prst="rect">
            <a:avLst/>
          </a:prstGeom>
          <a:noFill/>
          <a:ln/>
        </p:spPr>
        <p:txBody>
          <a:bodyPr wrap="square" rtlCol="0" anchor="ctr"/>
          <a:lstStyle/>
          <a:p>
            <a:pPr rtl="1" algn="r" indent="0" marL="0">
              <a:buNone/>
            </a:pPr>
            <a:r>
              <a:rPr lang="en-US" sz="1000" dirty="0">
                <a:solidFill>
                  <a:srgbClr val="6E8285"/>
                </a:solidFill>
                <a:latin typeface="Tahoma" pitchFamily="34" charset="0"/>
                <a:ea typeface="Tahoma" pitchFamily="34" charset="-122"/>
                <a:cs typeface="Tahoma" pitchFamily="34" charset="-120"/>
              </a:rPr>
              <a:t>مسیر معمول: Draft → Scheduled → Active → Finished → Archived</a:t>
            </a:r>
            <a:endParaRPr lang="en-US" sz="1000" dirty="0"/>
          </a:p>
        </p:txBody>
      </p:sp>
      <p:sp>
        <p:nvSpPr>
          <p:cNvPr id="23" name="Text 20"/>
          <p:cNvSpPr/>
          <p:nvPr/>
        </p:nvSpPr>
        <p:spPr>
          <a:xfrm>
            <a:off x="548640" y="3566160"/>
            <a:ext cx="8092440" cy="292608"/>
          </a:xfrm>
          <a:prstGeom prst="rect">
            <a:avLst/>
          </a:prstGeom>
          <a:noFill/>
          <a:ln/>
        </p:spPr>
        <p:txBody>
          <a:bodyPr wrap="square" rtlCol="0" anchor="ctr"/>
          <a:lstStyle/>
          <a:p>
            <a:pPr rtl="1" algn="r" indent="0" marL="0">
              <a:buNone/>
            </a:pPr>
            <a:r>
              <a:rPr lang="en-US" sz="1250" b="1" dirty="0">
                <a:solidFill>
                  <a:srgbClr val="0E7C86"/>
                </a:solidFill>
                <a:latin typeface="Tahoma" pitchFamily="34" charset="0"/>
                <a:ea typeface="Tahoma" pitchFamily="34" charset="-122"/>
                <a:cs typeface="Tahoma" pitchFamily="34" charset="-120"/>
              </a:rPr>
              <a:t>سایر مؤلفه‌های دارای وضعیت در این سامانه</a:t>
            </a:r>
            <a:endParaRPr lang="en-US" sz="1250" dirty="0"/>
          </a:p>
        </p:txBody>
      </p:sp>
      <p:sp>
        <p:nvSpPr>
          <p:cNvPr id="24" name="Text 21"/>
          <p:cNvSpPr/>
          <p:nvPr/>
        </p:nvSpPr>
        <p:spPr>
          <a:xfrm>
            <a:off x="548640" y="3913632"/>
            <a:ext cx="1645920" cy="502920"/>
          </a:xfrm>
          <a:prstGeom prst="rect">
            <a:avLst/>
          </a:prstGeom>
          <a:noFill/>
          <a:ln/>
        </p:spPr>
        <p:txBody>
          <a:bodyPr wrap="square" rtlCol="0" anchor="ctr"/>
          <a:lstStyle/>
          <a:p>
            <a:pPr rtl="1" algn="r" indent="0" marL="0">
              <a:buNone/>
            </a:pPr>
            <a:r>
              <a:rPr lang="en-US" sz="1100" b="1" dirty="0">
                <a:solidFill>
                  <a:srgbClr val="0B3A4A"/>
                </a:solidFill>
                <a:latin typeface="Tahoma" pitchFamily="34" charset="0"/>
                <a:ea typeface="Tahoma" pitchFamily="34" charset="-122"/>
                <a:cs typeface="Tahoma" pitchFamily="34" charset="-120"/>
              </a:rPr>
              <a:t>Assignment</a:t>
            </a:r>
            <a:endParaRPr lang="en-US" sz="1100" dirty="0"/>
          </a:p>
        </p:txBody>
      </p:sp>
      <p:sp>
        <p:nvSpPr>
          <p:cNvPr id="25" name="Text 22"/>
          <p:cNvSpPr/>
          <p:nvPr/>
        </p:nvSpPr>
        <p:spPr>
          <a:xfrm>
            <a:off x="2286000" y="3913632"/>
            <a:ext cx="6355080" cy="502920"/>
          </a:xfrm>
          <a:prstGeom prst="rect">
            <a:avLst/>
          </a:prstGeom>
          <a:noFill/>
          <a:ln/>
        </p:spPr>
        <p:txBody>
          <a:bodyPr wrap="square" rtlCol="0" anchor="ctr"/>
          <a:lstStyle/>
          <a:p>
            <a:pPr rtl="1" algn="r" indent="0" marL="0">
              <a:buNone/>
            </a:pPr>
            <a:r>
              <a:rPr lang="en-US" sz="980" dirty="0">
                <a:solidFill>
                  <a:srgbClr val="3A4A4E"/>
                </a:solidFill>
                <a:latin typeface="Courier New" pitchFamily="34" charset="0"/>
                <a:ea typeface="Courier New" pitchFamily="34" charset="-122"/>
                <a:cs typeface="Courier New" pitchFamily="34" charset="-120"/>
              </a:rPr>
              <a:t>created → published → submitted → evaluated → closed</a:t>
            </a:r>
            <a:endParaRPr lang="en-US" sz="980" dirty="0"/>
          </a:p>
        </p:txBody>
      </p:sp>
      <p:sp>
        <p:nvSpPr>
          <p:cNvPr id="26" name="Text 23"/>
          <p:cNvSpPr/>
          <p:nvPr/>
        </p:nvSpPr>
        <p:spPr>
          <a:xfrm>
            <a:off x="548640" y="4416552"/>
            <a:ext cx="1645920" cy="502920"/>
          </a:xfrm>
          <a:prstGeom prst="rect">
            <a:avLst/>
          </a:prstGeom>
          <a:noFill/>
          <a:ln/>
        </p:spPr>
        <p:txBody>
          <a:bodyPr wrap="square" rtlCol="0" anchor="ctr"/>
          <a:lstStyle/>
          <a:p>
            <a:pPr rtl="1" algn="r" indent="0" marL="0">
              <a:buNone/>
            </a:pPr>
            <a:r>
              <a:rPr lang="en-US" sz="1100" b="1" dirty="0">
                <a:solidFill>
                  <a:srgbClr val="0B3A4A"/>
                </a:solidFill>
                <a:latin typeface="Tahoma" pitchFamily="34" charset="0"/>
                <a:ea typeface="Tahoma" pitchFamily="34" charset="-122"/>
                <a:cs typeface="Tahoma" pitchFamily="34" charset="-120"/>
              </a:rPr>
              <a:t>Submission</a:t>
            </a:r>
            <a:endParaRPr lang="en-US" sz="1100" dirty="0"/>
          </a:p>
        </p:txBody>
      </p:sp>
      <p:sp>
        <p:nvSpPr>
          <p:cNvPr id="27" name="Text 24"/>
          <p:cNvSpPr/>
          <p:nvPr/>
        </p:nvSpPr>
        <p:spPr>
          <a:xfrm>
            <a:off x="2286000" y="4416552"/>
            <a:ext cx="6355080" cy="502920"/>
          </a:xfrm>
          <a:prstGeom prst="rect">
            <a:avLst/>
          </a:prstGeom>
          <a:noFill/>
          <a:ln/>
        </p:spPr>
        <p:txBody>
          <a:bodyPr wrap="square" rtlCol="0" anchor="ctr"/>
          <a:lstStyle/>
          <a:p>
            <a:pPr rtl="1" algn="r" indent="0" marL="0">
              <a:buNone/>
            </a:pPr>
            <a:r>
              <a:rPr lang="en-US" sz="980" dirty="0">
                <a:solidFill>
                  <a:srgbClr val="3A4A4E"/>
                </a:solidFill>
                <a:latin typeface="Courier New" pitchFamily="34" charset="0"/>
                <a:ea typeface="Courier New" pitchFamily="34" charset="-122"/>
                <a:cs typeface="Courier New" pitchFamily="34" charset="-120"/>
              </a:rPr>
              <a:t>draft → submitted → under-review → graded</a:t>
            </a:r>
            <a:endParaRPr lang="en-US" sz="980" dirty="0"/>
          </a:p>
        </p:txBody>
      </p:sp>
      <p:sp>
        <p:nvSpPr>
          <p:cNvPr id="28" name="Text 25"/>
          <p:cNvSpPr/>
          <p:nvPr/>
        </p:nvSpPr>
        <p:spPr>
          <a:xfrm>
            <a:off x="548640" y="4919472"/>
            <a:ext cx="1645920" cy="502920"/>
          </a:xfrm>
          <a:prstGeom prst="rect">
            <a:avLst/>
          </a:prstGeom>
          <a:noFill/>
          <a:ln/>
        </p:spPr>
        <p:txBody>
          <a:bodyPr wrap="square" rtlCol="0" anchor="ctr"/>
          <a:lstStyle/>
          <a:p>
            <a:pPr rtl="1" algn="r" indent="0" marL="0">
              <a:buNone/>
            </a:pPr>
            <a:r>
              <a:rPr lang="en-US" sz="1100" b="1" dirty="0">
                <a:solidFill>
                  <a:srgbClr val="0B3A4A"/>
                </a:solidFill>
                <a:latin typeface="Tahoma" pitchFamily="34" charset="0"/>
                <a:ea typeface="Tahoma" pitchFamily="34" charset="-122"/>
                <a:cs typeface="Tahoma" pitchFamily="34" charset="-120"/>
              </a:rPr>
              <a:t>LiveSession</a:t>
            </a:r>
            <a:endParaRPr lang="en-US" sz="1100" dirty="0"/>
          </a:p>
        </p:txBody>
      </p:sp>
      <p:sp>
        <p:nvSpPr>
          <p:cNvPr id="29" name="Text 26"/>
          <p:cNvSpPr/>
          <p:nvPr/>
        </p:nvSpPr>
        <p:spPr>
          <a:xfrm>
            <a:off x="2286000" y="4919472"/>
            <a:ext cx="6355080" cy="502920"/>
          </a:xfrm>
          <a:prstGeom prst="rect">
            <a:avLst/>
          </a:prstGeom>
          <a:noFill/>
          <a:ln/>
        </p:spPr>
        <p:txBody>
          <a:bodyPr wrap="square" rtlCol="0" anchor="ctr"/>
          <a:lstStyle/>
          <a:p>
            <a:pPr rtl="1" algn="r" indent="0" marL="0">
              <a:buNone/>
            </a:pPr>
            <a:r>
              <a:rPr lang="en-US" sz="980" dirty="0">
                <a:solidFill>
                  <a:srgbClr val="3A4A4E"/>
                </a:solidFill>
                <a:latin typeface="Courier New" pitchFamily="34" charset="0"/>
                <a:ea typeface="Courier New" pitchFamily="34" charset="-122"/>
                <a:cs typeface="Courier New" pitchFamily="34" charset="-120"/>
              </a:rPr>
              <a:t>scheduled → live → ended</a:t>
            </a:r>
            <a:endParaRPr lang="en-US" sz="980" dirty="0"/>
          </a:p>
        </p:txBody>
      </p:sp>
      <p:sp>
        <p:nvSpPr>
          <p:cNvPr id="30" name="Text 27"/>
          <p:cNvSpPr/>
          <p:nvPr/>
        </p:nvSpPr>
        <p:spPr>
          <a:xfrm>
            <a:off x="548640" y="5422392"/>
            <a:ext cx="1645920" cy="502920"/>
          </a:xfrm>
          <a:prstGeom prst="rect">
            <a:avLst/>
          </a:prstGeom>
          <a:noFill/>
          <a:ln/>
        </p:spPr>
        <p:txBody>
          <a:bodyPr wrap="square" rtlCol="0" anchor="ctr"/>
          <a:lstStyle/>
          <a:p>
            <a:pPr rtl="1" algn="r" indent="0" marL="0">
              <a:buNone/>
            </a:pPr>
            <a:r>
              <a:rPr lang="en-US" sz="1100" b="1" dirty="0">
                <a:solidFill>
                  <a:srgbClr val="0B3A4A"/>
                </a:solidFill>
                <a:latin typeface="Tahoma" pitchFamily="34" charset="0"/>
                <a:ea typeface="Tahoma" pitchFamily="34" charset="-122"/>
                <a:cs typeface="Tahoma" pitchFamily="34" charset="-120"/>
              </a:rPr>
              <a:t>Notification</a:t>
            </a:r>
            <a:endParaRPr lang="en-US" sz="1100" dirty="0"/>
          </a:p>
        </p:txBody>
      </p:sp>
      <p:sp>
        <p:nvSpPr>
          <p:cNvPr id="31" name="Text 28"/>
          <p:cNvSpPr/>
          <p:nvPr/>
        </p:nvSpPr>
        <p:spPr>
          <a:xfrm>
            <a:off x="2286000" y="5422392"/>
            <a:ext cx="6355080" cy="502920"/>
          </a:xfrm>
          <a:prstGeom prst="rect">
            <a:avLst/>
          </a:prstGeom>
          <a:noFill/>
          <a:ln/>
        </p:spPr>
        <p:txBody>
          <a:bodyPr wrap="square" rtlCol="0" anchor="ctr"/>
          <a:lstStyle/>
          <a:p>
            <a:pPr rtl="1" algn="r" indent="0" marL="0">
              <a:buNone/>
            </a:pPr>
            <a:r>
              <a:rPr lang="en-US" sz="980" dirty="0">
                <a:solidFill>
                  <a:srgbClr val="3A4A4E"/>
                </a:solidFill>
                <a:latin typeface="Courier New" pitchFamily="34" charset="0"/>
                <a:ea typeface="Courier New" pitchFamily="34" charset="-122"/>
                <a:cs typeface="Courier New" pitchFamily="34" charset="-120"/>
              </a:rPr>
              <a:t>created → sent → read</a:t>
            </a:r>
            <a:endParaRPr lang="en-US" sz="980" dirty="0"/>
          </a:p>
        </p:txBody>
      </p:sp>
      <p:sp>
        <p:nvSpPr>
          <p:cNvPr id="32" name="Text 29"/>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33" name="Text 30"/>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۶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نقشهٔ ذهنی (Mind Map)</a:t>
            </a:r>
            <a:endParaRPr lang="en-US" sz="3000" dirty="0"/>
          </a:p>
        </p:txBody>
      </p:sp>
      <p:sp>
        <p:nvSpPr>
          <p:cNvPr id="4" name="Text 2"/>
          <p:cNvSpPr/>
          <p:nvPr/>
        </p:nvSpPr>
        <p:spPr>
          <a:xfrm>
            <a:off x="548640" y="1371600"/>
            <a:ext cx="11094415" cy="365760"/>
          </a:xfrm>
          <a:prstGeom prst="rect">
            <a:avLst/>
          </a:prstGeom>
          <a:noFill/>
          <a:ln/>
        </p:spPr>
        <p:txBody>
          <a:bodyPr wrap="square" rtlCol="0" anchor="ctr"/>
          <a:lstStyle/>
          <a:p>
            <a:pPr rtl="1" algn="r" indent="0" marL="0">
              <a:buNone/>
            </a:pPr>
            <a:r>
              <a:rPr lang="en-US" sz="1250" dirty="0">
                <a:solidFill>
                  <a:srgbClr val="3A4A4E"/>
                </a:solidFill>
                <a:latin typeface="Tahoma" pitchFamily="34" charset="0"/>
                <a:ea typeface="Tahoma" pitchFamily="34" charset="-122"/>
                <a:cs typeface="Tahoma" pitchFamily="34" charset="-120"/>
              </a:rPr>
              <a:t>نقطهٔ شروع مدل‌سازی سیستم: نمایی سطح‌بالا از قابلیت‌ها، کاربران و ارتباط زیرسیستم‌ها — پیش از استخراج Use Caseها.</a:t>
            </a:r>
            <a:endParaRPr lang="en-US" sz="1250" dirty="0"/>
          </a:p>
        </p:txBody>
      </p:sp>
      <p:sp>
        <p:nvSpPr>
          <p:cNvPr id="5" name="Shape 3"/>
          <p:cNvSpPr/>
          <p:nvPr/>
        </p:nvSpPr>
        <p:spPr>
          <a:xfrm>
            <a:off x="548640" y="1874520"/>
            <a:ext cx="11094415" cy="2606040"/>
          </a:xfrm>
          <a:prstGeom prst="roundRect">
            <a:avLst>
              <a:gd name="adj" fmla="val 2807"/>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6" name="Image 0" descr="/home/claude/deck/img/mindmap.jpeg">    </p:cNvPr>
          <p:cNvPicPr>
            <a:picLocks noChangeAspect="1"/>
          </p:cNvPicPr>
          <p:nvPr/>
        </p:nvPicPr>
        <p:blipFill>
          <a:blip r:embed="rId1"/>
          <a:stretch>
            <a:fillRect/>
          </a:stretch>
        </p:blipFill>
        <p:spPr>
          <a:xfrm>
            <a:off x="1615288" y="2057400"/>
            <a:ext cx="8961120" cy="2240280"/>
          </a:xfrm>
          <a:prstGeom prst="rect">
            <a:avLst/>
          </a:prstGeom>
        </p:spPr>
      </p:pic>
      <p:sp>
        <p:nvSpPr>
          <p:cNvPr id="7" name="Text 4"/>
          <p:cNvSpPr/>
          <p:nvPr/>
        </p:nvSpPr>
        <p:spPr>
          <a:xfrm>
            <a:off x="548640" y="4709160"/>
            <a:ext cx="11094415" cy="320040"/>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۹ شاخهٔ اصلی سامانهٔ آموزش آنلین مدارس</a:t>
            </a:r>
            <a:endParaRPr lang="en-US" sz="1300" dirty="0"/>
          </a:p>
        </p:txBody>
      </p:sp>
      <p:sp>
        <p:nvSpPr>
          <p:cNvPr id="8" name="Shape 5"/>
          <p:cNvSpPr/>
          <p:nvPr/>
        </p:nvSpPr>
        <p:spPr>
          <a:xfrm>
            <a:off x="548640" y="5074920"/>
            <a:ext cx="1135177" cy="1051560"/>
          </a:xfrm>
          <a:prstGeom prst="roundRect">
            <a:avLst>
              <a:gd name="adj" fmla="val 5217"/>
            </a:avLst>
          </a:prstGeom>
          <a:solidFill>
            <a:srgbClr val="EAF4F5"/>
          </a:solidFill>
          <a:ln w="12700">
            <a:solidFill>
              <a:srgbClr val="D8E6E7"/>
            </a:solidFill>
            <a:prstDash val="solid"/>
          </a:ln>
        </p:spPr>
      </p:sp>
      <p:sp>
        <p:nvSpPr>
          <p:cNvPr id="9" name="Text 6"/>
          <p:cNvSpPr/>
          <p:nvPr/>
        </p:nvSpPr>
        <p:spPr>
          <a:xfrm>
            <a:off x="594360"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مدیریت کاربران</a:t>
            </a:r>
            <a:endParaRPr lang="en-US" sz="870" dirty="0"/>
          </a:p>
        </p:txBody>
      </p:sp>
      <p:sp>
        <p:nvSpPr>
          <p:cNvPr id="10" name="Shape 7"/>
          <p:cNvSpPr/>
          <p:nvPr/>
        </p:nvSpPr>
        <p:spPr>
          <a:xfrm>
            <a:off x="1793545" y="5074920"/>
            <a:ext cx="1135177" cy="1051560"/>
          </a:xfrm>
          <a:prstGeom prst="roundRect">
            <a:avLst>
              <a:gd name="adj" fmla="val 5217"/>
            </a:avLst>
          </a:prstGeom>
          <a:solidFill>
            <a:srgbClr val="EAF4F5"/>
          </a:solidFill>
          <a:ln w="12700">
            <a:solidFill>
              <a:srgbClr val="D8E6E7"/>
            </a:solidFill>
            <a:prstDash val="solid"/>
          </a:ln>
        </p:spPr>
      </p:sp>
      <p:sp>
        <p:nvSpPr>
          <p:cNvPr id="11" name="Text 8"/>
          <p:cNvSpPr/>
          <p:nvPr/>
        </p:nvSpPr>
        <p:spPr>
          <a:xfrm>
            <a:off x="1839265"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مدیریت کلاس‌ها</a:t>
            </a:r>
            <a:endParaRPr lang="en-US" sz="870" dirty="0"/>
          </a:p>
        </p:txBody>
      </p:sp>
      <p:sp>
        <p:nvSpPr>
          <p:cNvPr id="12" name="Shape 9"/>
          <p:cNvSpPr/>
          <p:nvPr/>
        </p:nvSpPr>
        <p:spPr>
          <a:xfrm>
            <a:off x="3038450" y="5074920"/>
            <a:ext cx="1135177" cy="1051560"/>
          </a:xfrm>
          <a:prstGeom prst="roundRect">
            <a:avLst>
              <a:gd name="adj" fmla="val 5217"/>
            </a:avLst>
          </a:prstGeom>
          <a:solidFill>
            <a:srgbClr val="EAF4F5"/>
          </a:solidFill>
          <a:ln w="12700">
            <a:solidFill>
              <a:srgbClr val="D8E6E7"/>
            </a:solidFill>
            <a:prstDash val="solid"/>
          </a:ln>
        </p:spPr>
      </p:sp>
      <p:sp>
        <p:nvSpPr>
          <p:cNvPr id="13" name="Text 10"/>
          <p:cNvSpPr/>
          <p:nvPr/>
        </p:nvSpPr>
        <p:spPr>
          <a:xfrm>
            <a:off x="3084170"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آموزش آنلین</a:t>
            </a:r>
            <a:endParaRPr lang="en-US" sz="870" dirty="0"/>
          </a:p>
        </p:txBody>
      </p:sp>
      <p:sp>
        <p:nvSpPr>
          <p:cNvPr id="14" name="Shape 11"/>
          <p:cNvSpPr/>
          <p:nvPr/>
        </p:nvSpPr>
        <p:spPr>
          <a:xfrm>
            <a:off x="4283354" y="5074920"/>
            <a:ext cx="1135177" cy="1051560"/>
          </a:xfrm>
          <a:prstGeom prst="roundRect">
            <a:avLst>
              <a:gd name="adj" fmla="val 5217"/>
            </a:avLst>
          </a:prstGeom>
          <a:solidFill>
            <a:srgbClr val="EAF4F5"/>
          </a:solidFill>
          <a:ln w="12700">
            <a:solidFill>
              <a:srgbClr val="D8E6E7"/>
            </a:solidFill>
            <a:prstDash val="solid"/>
          </a:ln>
        </p:spPr>
      </p:sp>
      <p:sp>
        <p:nvSpPr>
          <p:cNvPr id="15" name="Text 12"/>
          <p:cNvSpPr/>
          <p:nvPr/>
        </p:nvSpPr>
        <p:spPr>
          <a:xfrm>
            <a:off x="4329074"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مدیریت محتوا</a:t>
            </a:r>
            <a:endParaRPr lang="en-US" sz="870" dirty="0"/>
          </a:p>
        </p:txBody>
      </p:sp>
      <p:sp>
        <p:nvSpPr>
          <p:cNvPr id="16" name="Shape 13"/>
          <p:cNvSpPr/>
          <p:nvPr/>
        </p:nvSpPr>
        <p:spPr>
          <a:xfrm>
            <a:off x="5528259" y="5074920"/>
            <a:ext cx="1135177" cy="1051560"/>
          </a:xfrm>
          <a:prstGeom prst="roundRect">
            <a:avLst>
              <a:gd name="adj" fmla="val 5217"/>
            </a:avLst>
          </a:prstGeom>
          <a:solidFill>
            <a:srgbClr val="EAF4F5"/>
          </a:solidFill>
          <a:ln w="12700">
            <a:solidFill>
              <a:srgbClr val="D8E6E7"/>
            </a:solidFill>
            <a:prstDash val="solid"/>
          </a:ln>
        </p:spPr>
      </p:sp>
      <p:sp>
        <p:nvSpPr>
          <p:cNvPr id="17" name="Text 14"/>
          <p:cNvSpPr/>
          <p:nvPr/>
        </p:nvSpPr>
        <p:spPr>
          <a:xfrm>
            <a:off x="5573979"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آزمون‌ها</a:t>
            </a:r>
            <a:endParaRPr lang="en-US" sz="870" dirty="0"/>
          </a:p>
        </p:txBody>
      </p:sp>
      <p:sp>
        <p:nvSpPr>
          <p:cNvPr id="18" name="Shape 15"/>
          <p:cNvSpPr/>
          <p:nvPr/>
        </p:nvSpPr>
        <p:spPr>
          <a:xfrm>
            <a:off x="6773164" y="5074920"/>
            <a:ext cx="1135177" cy="1051560"/>
          </a:xfrm>
          <a:prstGeom prst="roundRect">
            <a:avLst>
              <a:gd name="adj" fmla="val 5217"/>
            </a:avLst>
          </a:prstGeom>
          <a:solidFill>
            <a:srgbClr val="EAF4F5"/>
          </a:solidFill>
          <a:ln w="12700">
            <a:solidFill>
              <a:srgbClr val="D8E6E7"/>
            </a:solidFill>
            <a:prstDash val="solid"/>
          </a:ln>
        </p:spPr>
      </p:sp>
      <p:sp>
        <p:nvSpPr>
          <p:cNvPr id="19" name="Text 16"/>
          <p:cNvSpPr/>
          <p:nvPr/>
        </p:nvSpPr>
        <p:spPr>
          <a:xfrm>
            <a:off x="6818884"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تکالیف</a:t>
            </a:r>
            <a:endParaRPr lang="en-US" sz="870" dirty="0"/>
          </a:p>
        </p:txBody>
      </p:sp>
      <p:sp>
        <p:nvSpPr>
          <p:cNvPr id="20" name="Shape 17"/>
          <p:cNvSpPr/>
          <p:nvPr/>
        </p:nvSpPr>
        <p:spPr>
          <a:xfrm>
            <a:off x="8018069" y="5074920"/>
            <a:ext cx="1135177" cy="1051560"/>
          </a:xfrm>
          <a:prstGeom prst="roundRect">
            <a:avLst>
              <a:gd name="adj" fmla="val 5217"/>
            </a:avLst>
          </a:prstGeom>
          <a:solidFill>
            <a:srgbClr val="EAF4F5"/>
          </a:solidFill>
          <a:ln w="12700">
            <a:solidFill>
              <a:srgbClr val="D8E6E7"/>
            </a:solidFill>
            <a:prstDash val="solid"/>
          </a:ln>
        </p:spPr>
      </p:sp>
      <p:sp>
        <p:nvSpPr>
          <p:cNvPr id="21" name="Text 18"/>
          <p:cNvSpPr/>
          <p:nvPr/>
        </p:nvSpPr>
        <p:spPr>
          <a:xfrm>
            <a:off x="8063789"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حضور و غیاب</a:t>
            </a:r>
            <a:endParaRPr lang="en-US" sz="870" dirty="0"/>
          </a:p>
        </p:txBody>
      </p:sp>
      <p:sp>
        <p:nvSpPr>
          <p:cNvPr id="22" name="Shape 19"/>
          <p:cNvSpPr/>
          <p:nvPr/>
        </p:nvSpPr>
        <p:spPr>
          <a:xfrm>
            <a:off x="9262974" y="5074920"/>
            <a:ext cx="1135177" cy="1051560"/>
          </a:xfrm>
          <a:prstGeom prst="roundRect">
            <a:avLst>
              <a:gd name="adj" fmla="val 5217"/>
            </a:avLst>
          </a:prstGeom>
          <a:solidFill>
            <a:srgbClr val="EAF4F5"/>
          </a:solidFill>
          <a:ln w="12700">
            <a:solidFill>
              <a:srgbClr val="D8E6E7"/>
            </a:solidFill>
            <a:prstDash val="solid"/>
          </a:ln>
        </p:spPr>
      </p:sp>
      <p:sp>
        <p:nvSpPr>
          <p:cNvPr id="23" name="Text 20"/>
          <p:cNvSpPr/>
          <p:nvPr/>
        </p:nvSpPr>
        <p:spPr>
          <a:xfrm>
            <a:off x="9308694"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پیام‌رسانی</a:t>
            </a:r>
            <a:endParaRPr lang="en-US" sz="870" dirty="0"/>
          </a:p>
        </p:txBody>
      </p:sp>
      <p:sp>
        <p:nvSpPr>
          <p:cNvPr id="24" name="Shape 21"/>
          <p:cNvSpPr/>
          <p:nvPr/>
        </p:nvSpPr>
        <p:spPr>
          <a:xfrm>
            <a:off x="10507878" y="5074920"/>
            <a:ext cx="1135177" cy="1051560"/>
          </a:xfrm>
          <a:prstGeom prst="roundRect">
            <a:avLst>
              <a:gd name="adj" fmla="val 5217"/>
            </a:avLst>
          </a:prstGeom>
          <a:solidFill>
            <a:srgbClr val="EAF4F5"/>
          </a:solidFill>
          <a:ln w="12700">
            <a:solidFill>
              <a:srgbClr val="D8E6E7"/>
            </a:solidFill>
            <a:prstDash val="solid"/>
          </a:ln>
        </p:spPr>
      </p:sp>
      <p:sp>
        <p:nvSpPr>
          <p:cNvPr id="25" name="Text 22"/>
          <p:cNvSpPr/>
          <p:nvPr/>
        </p:nvSpPr>
        <p:spPr>
          <a:xfrm>
            <a:off x="10553598" y="5074920"/>
            <a:ext cx="1043737" cy="1051560"/>
          </a:xfrm>
          <a:prstGeom prst="rect">
            <a:avLst/>
          </a:prstGeom>
          <a:noFill/>
          <a:ln/>
        </p:spPr>
        <p:txBody>
          <a:bodyPr wrap="square" rtlCol="0" anchor="ctr"/>
          <a:lstStyle/>
          <a:p>
            <a:pPr rtl="1" algn="ctr" indent="0" marL="0">
              <a:buNone/>
            </a:pPr>
            <a:r>
              <a:rPr lang="en-US" sz="870" b="1" dirty="0">
                <a:solidFill>
                  <a:srgbClr val="0B3A4A"/>
                </a:solidFill>
                <a:latin typeface="Tahoma" pitchFamily="34" charset="0"/>
                <a:ea typeface="Tahoma" pitchFamily="34" charset="-122"/>
                <a:cs typeface="Tahoma" pitchFamily="34" charset="-120"/>
              </a:rPr>
              <a:t>گزارش‌گیری</a:t>
            </a:r>
            <a:endParaRPr lang="en-US" sz="870" dirty="0"/>
          </a:p>
        </p:txBody>
      </p:sp>
      <p:sp>
        <p:nvSpPr>
          <p:cNvPr id="26" name="Text 23"/>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27" name="Text 24"/>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۷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سند یکپارچگی نمودارها — نمای کلی ارتباطات</a:t>
            </a:r>
            <a:endParaRPr lang="en-US" sz="3000" dirty="0"/>
          </a:p>
        </p:txBody>
      </p:sp>
      <p:sp>
        <p:nvSpPr>
          <p:cNvPr id="4" name="Text 2"/>
          <p:cNvSpPr/>
          <p:nvPr/>
        </p:nvSpPr>
        <p:spPr>
          <a:xfrm>
            <a:off x="548640" y="1371600"/>
            <a:ext cx="11094415" cy="411480"/>
          </a:xfrm>
          <a:prstGeom prst="rect">
            <a:avLst/>
          </a:prstGeom>
          <a:noFill/>
          <a:ln/>
        </p:spPr>
        <p:txBody>
          <a:bodyPr wrap="square" rtlCol="0" anchor="ctr"/>
          <a:lstStyle/>
          <a:p>
            <a:pPr rtl="1" algn="r" indent="0" marL="0">
              <a:buNone/>
            </a:pPr>
            <a:r>
              <a:rPr lang="en-US" sz="1200" dirty="0">
                <a:solidFill>
                  <a:srgbClr val="3A4A4E"/>
                </a:solidFill>
                <a:latin typeface="Tahoma" pitchFamily="34" charset="0"/>
                <a:ea typeface="Tahoma" pitchFamily="34" charset="-122"/>
                <a:cs typeface="Tahoma" pitchFamily="34" charset="-120"/>
              </a:rPr>
              <a:t>هیچ نموداری به‌تنهایی تمام جنبه‌های سیستم را نشان نمی‌دهد؛ هر نمودار بخشی از اطلاعات خود را از نمودار قبلی می‌گیرد و جزئیات بیشتری از سیستم را آشکار می‌سازد.</a:t>
            </a:r>
            <a:endParaRPr lang="en-US" sz="1200" dirty="0"/>
          </a:p>
        </p:txBody>
      </p:sp>
      <p:sp>
        <p:nvSpPr>
          <p:cNvPr id="5" name="Shape 3"/>
          <p:cNvSpPr/>
          <p:nvPr/>
        </p:nvSpPr>
        <p:spPr>
          <a:xfrm>
            <a:off x="548640" y="1874520"/>
            <a:ext cx="11094415" cy="1417320"/>
          </a:xfrm>
          <a:prstGeom prst="roundRect">
            <a:avLst>
              <a:gd name="adj" fmla="val 5161"/>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6" name="Image 0" descr="/home/claude/deck/img/integration_flow.jpeg">    </p:cNvPr>
          <p:cNvPicPr>
            <a:picLocks noChangeAspect="1"/>
          </p:cNvPicPr>
          <p:nvPr/>
        </p:nvPicPr>
        <p:blipFill>
          <a:blip r:embed="rId1"/>
          <a:stretch>
            <a:fillRect/>
          </a:stretch>
        </p:blipFill>
        <p:spPr>
          <a:xfrm>
            <a:off x="2895448" y="2011680"/>
            <a:ext cx="6400800" cy="1143000"/>
          </a:xfrm>
          <a:prstGeom prst="rect">
            <a:avLst/>
          </a:prstGeom>
        </p:spPr>
      </p:pic>
      <p:sp>
        <p:nvSpPr>
          <p:cNvPr id="7" name="Shape 4"/>
          <p:cNvSpPr/>
          <p:nvPr/>
        </p:nvSpPr>
        <p:spPr>
          <a:xfrm>
            <a:off x="548640" y="3429000"/>
            <a:ext cx="3515258" cy="1280160"/>
          </a:xfrm>
          <a:prstGeom prst="roundRect">
            <a:avLst>
              <a:gd name="adj" fmla="val 5714"/>
            </a:avLst>
          </a:prstGeom>
          <a:solidFill>
            <a:srgbClr val="EAF4F5"/>
          </a:solidFill>
          <a:ln/>
        </p:spPr>
      </p:sp>
      <p:sp>
        <p:nvSpPr>
          <p:cNvPr id="8" name="Text 5"/>
          <p:cNvSpPr/>
          <p:nvPr/>
        </p:nvSpPr>
        <p:spPr>
          <a:xfrm>
            <a:off x="713232" y="3538728"/>
            <a:ext cx="3186074" cy="320040"/>
          </a:xfrm>
          <a:prstGeom prst="rect">
            <a:avLst/>
          </a:prstGeom>
          <a:noFill/>
          <a:ln/>
        </p:spPr>
        <p:txBody>
          <a:bodyPr wrap="square" rtlCol="0" anchor="ctr"/>
          <a:lstStyle/>
          <a:p>
            <a:pPr rtl="1" algn="r" indent="0" marL="0">
              <a:buNone/>
            </a:pPr>
            <a:r>
              <a:rPr lang="en-US" sz="1150" b="1" dirty="0">
                <a:solidFill>
                  <a:srgbClr val="0E7C86"/>
                </a:solidFill>
                <a:latin typeface="Courier New" pitchFamily="34" charset="0"/>
                <a:ea typeface="Courier New" pitchFamily="34" charset="-122"/>
                <a:cs typeface="Courier New" pitchFamily="34" charset="-120"/>
              </a:rPr>
              <a:t>Mindmap → Use Case</a:t>
            </a:r>
            <a:endParaRPr lang="en-US" sz="1150" dirty="0"/>
          </a:p>
        </p:txBody>
      </p:sp>
      <p:sp>
        <p:nvSpPr>
          <p:cNvPr id="9" name="Text 6"/>
          <p:cNvSpPr/>
          <p:nvPr/>
        </p:nvSpPr>
        <p:spPr>
          <a:xfrm>
            <a:off x="713232" y="3886200"/>
            <a:ext cx="3186074" cy="685800"/>
          </a:xfrm>
          <a:prstGeom prst="rect">
            <a:avLst/>
          </a:prstGeom>
          <a:noFill/>
          <a:ln/>
        </p:spPr>
        <p:txBody>
          <a:bodyPr wrap="square" rtlCol="0" anchor="t"/>
          <a:lstStyle/>
          <a:p>
            <a:pPr rtl="1" algn="r" indent="0" marL="0">
              <a:buNone/>
            </a:pPr>
            <a:r>
              <a:rPr lang="en-US" sz="930" dirty="0">
                <a:solidFill>
                  <a:srgbClr val="3A4A4E"/>
                </a:solidFill>
                <a:latin typeface="Tahoma" pitchFamily="34" charset="0"/>
                <a:ea typeface="Tahoma" pitchFamily="34" charset="-122"/>
                <a:cs typeface="Tahoma" pitchFamily="34" charset="-120"/>
              </a:rPr>
              <a:t>قابلیت‌های اصلی شناسایی‌شده در نقشهٔ ذهنی، مستقیماً مبنای استخراج Use Caseها قرار می‌گیرند</a:t>
            </a:r>
            <a:endParaRPr lang="en-US" sz="930" dirty="0"/>
          </a:p>
        </p:txBody>
      </p:sp>
      <p:sp>
        <p:nvSpPr>
          <p:cNvPr id="10" name="Shape 7"/>
          <p:cNvSpPr/>
          <p:nvPr/>
        </p:nvSpPr>
        <p:spPr>
          <a:xfrm>
            <a:off x="4338218" y="3429000"/>
            <a:ext cx="3515258" cy="1280160"/>
          </a:xfrm>
          <a:prstGeom prst="roundRect">
            <a:avLst>
              <a:gd name="adj" fmla="val 5714"/>
            </a:avLst>
          </a:prstGeom>
          <a:solidFill>
            <a:srgbClr val="EAF4F5"/>
          </a:solidFill>
          <a:ln/>
        </p:spPr>
      </p:sp>
      <p:sp>
        <p:nvSpPr>
          <p:cNvPr id="11" name="Text 8"/>
          <p:cNvSpPr/>
          <p:nvPr/>
        </p:nvSpPr>
        <p:spPr>
          <a:xfrm>
            <a:off x="4502810" y="3538728"/>
            <a:ext cx="3186074" cy="320040"/>
          </a:xfrm>
          <a:prstGeom prst="rect">
            <a:avLst/>
          </a:prstGeom>
          <a:noFill/>
          <a:ln/>
        </p:spPr>
        <p:txBody>
          <a:bodyPr wrap="square" rtlCol="0" anchor="ctr"/>
          <a:lstStyle/>
          <a:p>
            <a:pPr rtl="1" algn="r" indent="0" marL="0">
              <a:buNone/>
            </a:pPr>
            <a:r>
              <a:rPr lang="en-US" sz="1150" b="1" dirty="0">
                <a:solidFill>
                  <a:srgbClr val="0E7C86"/>
                </a:solidFill>
                <a:latin typeface="Courier New" pitchFamily="34" charset="0"/>
                <a:ea typeface="Courier New" pitchFamily="34" charset="-122"/>
                <a:cs typeface="Courier New" pitchFamily="34" charset="-120"/>
              </a:rPr>
              <a:t>Use Case → Domain Class</a:t>
            </a:r>
            <a:endParaRPr lang="en-US" sz="1150" dirty="0"/>
          </a:p>
        </p:txBody>
      </p:sp>
      <p:sp>
        <p:nvSpPr>
          <p:cNvPr id="12" name="Text 9"/>
          <p:cNvSpPr/>
          <p:nvPr/>
        </p:nvSpPr>
        <p:spPr>
          <a:xfrm>
            <a:off x="4502810" y="3886200"/>
            <a:ext cx="3186074" cy="685800"/>
          </a:xfrm>
          <a:prstGeom prst="rect">
            <a:avLst/>
          </a:prstGeom>
          <a:noFill/>
          <a:ln/>
        </p:spPr>
        <p:txBody>
          <a:bodyPr wrap="square" rtlCol="0" anchor="t"/>
          <a:lstStyle/>
          <a:p>
            <a:pPr rtl="1" algn="r" indent="0" marL="0">
              <a:buNone/>
            </a:pPr>
            <a:r>
              <a:rPr lang="en-US" sz="930" dirty="0">
                <a:solidFill>
                  <a:srgbClr val="3A4A4E"/>
                </a:solidFill>
                <a:latin typeface="Tahoma" pitchFamily="34" charset="0"/>
                <a:ea typeface="Tahoma" pitchFamily="34" charset="-122"/>
                <a:cs typeface="Tahoma" pitchFamily="34" charset="-120"/>
              </a:rPr>
              <a:t>هر Use Case به تعدادی کلاس دامنه وابسته است؛ مثال: «شرکت در آزمون» → Exam, Question, Student</a:t>
            </a:r>
            <a:endParaRPr lang="en-US" sz="930" dirty="0"/>
          </a:p>
        </p:txBody>
      </p:sp>
      <p:sp>
        <p:nvSpPr>
          <p:cNvPr id="13" name="Shape 10"/>
          <p:cNvSpPr/>
          <p:nvPr/>
        </p:nvSpPr>
        <p:spPr>
          <a:xfrm>
            <a:off x="8127797" y="3429000"/>
            <a:ext cx="3515258" cy="1280160"/>
          </a:xfrm>
          <a:prstGeom prst="roundRect">
            <a:avLst>
              <a:gd name="adj" fmla="val 5714"/>
            </a:avLst>
          </a:prstGeom>
          <a:solidFill>
            <a:srgbClr val="EAF4F5"/>
          </a:solidFill>
          <a:ln/>
        </p:spPr>
      </p:sp>
      <p:sp>
        <p:nvSpPr>
          <p:cNvPr id="14" name="Text 11"/>
          <p:cNvSpPr/>
          <p:nvPr/>
        </p:nvSpPr>
        <p:spPr>
          <a:xfrm>
            <a:off x="8292389" y="3538728"/>
            <a:ext cx="3186074" cy="320040"/>
          </a:xfrm>
          <a:prstGeom prst="rect">
            <a:avLst/>
          </a:prstGeom>
          <a:noFill/>
          <a:ln/>
        </p:spPr>
        <p:txBody>
          <a:bodyPr wrap="square" rtlCol="0" anchor="ctr"/>
          <a:lstStyle/>
          <a:p>
            <a:pPr rtl="1" algn="r" indent="0" marL="0">
              <a:buNone/>
            </a:pPr>
            <a:r>
              <a:rPr lang="en-US" sz="1150" b="1" dirty="0">
                <a:solidFill>
                  <a:srgbClr val="0E7C86"/>
                </a:solidFill>
                <a:latin typeface="Courier New" pitchFamily="34" charset="0"/>
                <a:ea typeface="Courier New" pitchFamily="34" charset="-122"/>
                <a:cs typeface="Courier New" pitchFamily="34" charset="-120"/>
              </a:rPr>
              <a:t>Use Case → Activity</a:t>
            </a:r>
            <a:endParaRPr lang="en-US" sz="1150" dirty="0"/>
          </a:p>
        </p:txBody>
      </p:sp>
      <p:sp>
        <p:nvSpPr>
          <p:cNvPr id="15" name="Text 12"/>
          <p:cNvSpPr/>
          <p:nvPr/>
        </p:nvSpPr>
        <p:spPr>
          <a:xfrm>
            <a:off x="8292389" y="3886200"/>
            <a:ext cx="3186074" cy="685800"/>
          </a:xfrm>
          <a:prstGeom prst="rect">
            <a:avLst/>
          </a:prstGeom>
          <a:noFill/>
          <a:ln/>
        </p:spPr>
        <p:txBody>
          <a:bodyPr wrap="square" rtlCol="0" anchor="t"/>
          <a:lstStyle/>
          <a:p>
            <a:pPr rtl="1" algn="r" indent="0" marL="0">
              <a:buNone/>
            </a:pPr>
            <a:r>
              <a:rPr lang="en-US" sz="930" dirty="0">
                <a:solidFill>
                  <a:srgbClr val="3A4A4E"/>
                </a:solidFill>
                <a:latin typeface="Tahoma" pitchFamily="34" charset="0"/>
                <a:ea typeface="Tahoma" pitchFamily="34" charset="-122"/>
                <a:cs typeface="Tahoma" pitchFamily="34" charset="-120"/>
              </a:rPr>
              <a:t>Use Case «چه کاری» انجام می‌شود را مشخص می‌کند و Activity Diagram روند اجرای آن را نشان می‌دهد</a:t>
            </a:r>
            <a:endParaRPr lang="en-US" sz="930" dirty="0"/>
          </a:p>
        </p:txBody>
      </p:sp>
      <p:sp>
        <p:nvSpPr>
          <p:cNvPr id="16" name="Shape 13"/>
          <p:cNvSpPr/>
          <p:nvPr/>
        </p:nvSpPr>
        <p:spPr>
          <a:xfrm>
            <a:off x="548640" y="4846320"/>
            <a:ext cx="3515258" cy="1280160"/>
          </a:xfrm>
          <a:prstGeom prst="roundRect">
            <a:avLst>
              <a:gd name="adj" fmla="val 5714"/>
            </a:avLst>
          </a:prstGeom>
          <a:solidFill>
            <a:srgbClr val="EAF4F5"/>
          </a:solidFill>
          <a:ln/>
        </p:spPr>
      </p:sp>
      <p:sp>
        <p:nvSpPr>
          <p:cNvPr id="17" name="Text 14"/>
          <p:cNvSpPr/>
          <p:nvPr/>
        </p:nvSpPr>
        <p:spPr>
          <a:xfrm>
            <a:off x="713232" y="4956048"/>
            <a:ext cx="3186074" cy="320040"/>
          </a:xfrm>
          <a:prstGeom prst="rect">
            <a:avLst/>
          </a:prstGeom>
          <a:noFill/>
          <a:ln/>
        </p:spPr>
        <p:txBody>
          <a:bodyPr wrap="square" rtlCol="0" anchor="ctr"/>
          <a:lstStyle/>
          <a:p>
            <a:pPr rtl="1" algn="r" indent="0" marL="0">
              <a:buNone/>
            </a:pPr>
            <a:r>
              <a:rPr lang="en-US" sz="1150" b="1" dirty="0">
                <a:solidFill>
                  <a:srgbClr val="0E7C86"/>
                </a:solidFill>
                <a:latin typeface="Courier New" pitchFamily="34" charset="0"/>
                <a:ea typeface="Courier New" pitchFamily="34" charset="-122"/>
                <a:cs typeface="Courier New" pitchFamily="34" charset="-120"/>
              </a:rPr>
              <a:t>Domain Class → Sequence</a:t>
            </a:r>
            <a:endParaRPr lang="en-US" sz="1150" dirty="0"/>
          </a:p>
        </p:txBody>
      </p:sp>
      <p:sp>
        <p:nvSpPr>
          <p:cNvPr id="18" name="Text 15"/>
          <p:cNvSpPr/>
          <p:nvPr/>
        </p:nvSpPr>
        <p:spPr>
          <a:xfrm>
            <a:off x="713232" y="5303520"/>
            <a:ext cx="3186074" cy="685800"/>
          </a:xfrm>
          <a:prstGeom prst="rect">
            <a:avLst/>
          </a:prstGeom>
          <a:noFill/>
          <a:ln/>
        </p:spPr>
        <p:txBody>
          <a:bodyPr wrap="square" rtlCol="0" anchor="t"/>
          <a:lstStyle/>
          <a:p>
            <a:pPr rtl="1" algn="r" indent="0" marL="0">
              <a:buNone/>
            </a:pPr>
            <a:r>
              <a:rPr lang="en-US" sz="930" dirty="0">
                <a:solidFill>
                  <a:srgbClr val="3A4A4E"/>
                </a:solidFill>
                <a:latin typeface="Tahoma" pitchFamily="34" charset="0"/>
                <a:ea typeface="Tahoma" pitchFamily="34" charset="-122"/>
                <a:cs typeface="Tahoma" pitchFamily="34" charset="-120"/>
              </a:rPr>
              <a:t>اشیای شرکت‌کننده در نمودار توالی، از کلاس‌های نمودار دامنه استخراج می‌شوند</a:t>
            </a:r>
            <a:endParaRPr lang="en-US" sz="930" dirty="0"/>
          </a:p>
        </p:txBody>
      </p:sp>
      <p:sp>
        <p:nvSpPr>
          <p:cNvPr id="19" name="Shape 16"/>
          <p:cNvSpPr/>
          <p:nvPr/>
        </p:nvSpPr>
        <p:spPr>
          <a:xfrm>
            <a:off x="4338218" y="4846320"/>
            <a:ext cx="3515258" cy="1280160"/>
          </a:xfrm>
          <a:prstGeom prst="roundRect">
            <a:avLst>
              <a:gd name="adj" fmla="val 5714"/>
            </a:avLst>
          </a:prstGeom>
          <a:solidFill>
            <a:srgbClr val="EAF4F5"/>
          </a:solidFill>
          <a:ln/>
        </p:spPr>
      </p:sp>
      <p:sp>
        <p:nvSpPr>
          <p:cNvPr id="20" name="Text 17"/>
          <p:cNvSpPr/>
          <p:nvPr/>
        </p:nvSpPr>
        <p:spPr>
          <a:xfrm>
            <a:off x="4502810" y="4956048"/>
            <a:ext cx="3186074" cy="320040"/>
          </a:xfrm>
          <a:prstGeom prst="rect">
            <a:avLst/>
          </a:prstGeom>
          <a:noFill/>
          <a:ln/>
        </p:spPr>
        <p:txBody>
          <a:bodyPr wrap="square" rtlCol="0" anchor="ctr"/>
          <a:lstStyle/>
          <a:p>
            <a:pPr rtl="1" algn="r" indent="0" marL="0">
              <a:buNone/>
            </a:pPr>
            <a:r>
              <a:rPr lang="en-US" sz="1150" b="1" dirty="0">
                <a:solidFill>
                  <a:srgbClr val="0E7C86"/>
                </a:solidFill>
                <a:latin typeface="Courier New" pitchFamily="34" charset="0"/>
                <a:ea typeface="Courier New" pitchFamily="34" charset="-122"/>
                <a:cs typeface="Courier New" pitchFamily="34" charset="-120"/>
              </a:rPr>
              <a:t>Activity ↔ Sequence</a:t>
            </a:r>
            <a:endParaRPr lang="en-US" sz="1150" dirty="0"/>
          </a:p>
        </p:txBody>
      </p:sp>
      <p:sp>
        <p:nvSpPr>
          <p:cNvPr id="21" name="Text 18"/>
          <p:cNvSpPr/>
          <p:nvPr/>
        </p:nvSpPr>
        <p:spPr>
          <a:xfrm>
            <a:off x="4502810" y="5303520"/>
            <a:ext cx="3186074" cy="685800"/>
          </a:xfrm>
          <a:prstGeom prst="rect">
            <a:avLst/>
          </a:prstGeom>
          <a:noFill/>
          <a:ln/>
        </p:spPr>
        <p:txBody>
          <a:bodyPr wrap="square" rtlCol="0" anchor="t"/>
          <a:lstStyle/>
          <a:p>
            <a:pPr rtl="1" algn="r" indent="0" marL="0">
              <a:buNone/>
            </a:pPr>
            <a:r>
              <a:rPr lang="en-US" sz="930" dirty="0">
                <a:solidFill>
                  <a:srgbClr val="3A4A4E"/>
                </a:solidFill>
                <a:latin typeface="Tahoma" pitchFamily="34" charset="0"/>
                <a:ea typeface="Tahoma" pitchFamily="34" charset="-122"/>
                <a:cs typeface="Tahoma" pitchFamily="34" charset="-120"/>
              </a:rPr>
              <a:t>یک فرآیند را از دو منظر مکمل نشان می‌دهند: جریان فعالیت‌ها در برابر ترتیب تبادل پیام‌ها</a:t>
            </a:r>
            <a:endParaRPr lang="en-US" sz="930" dirty="0"/>
          </a:p>
        </p:txBody>
      </p:sp>
      <p:sp>
        <p:nvSpPr>
          <p:cNvPr id="22" name="Shape 19"/>
          <p:cNvSpPr/>
          <p:nvPr/>
        </p:nvSpPr>
        <p:spPr>
          <a:xfrm>
            <a:off x="8127797" y="4846320"/>
            <a:ext cx="3515258" cy="1280160"/>
          </a:xfrm>
          <a:prstGeom prst="roundRect">
            <a:avLst>
              <a:gd name="adj" fmla="val 5714"/>
            </a:avLst>
          </a:prstGeom>
          <a:solidFill>
            <a:srgbClr val="EAF4F5"/>
          </a:solidFill>
          <a:ln/>
        </p:spPr>
      </p:sp>
      <p:sp>
        <p:nvSpPr>
          <p:cNvPr id="23" name="Text 20"/>
          <p:cNvSpPr/>
          <p:nvPr/>
        </p:nvSpPr>
        <p:spPr>
          <a:xfrm>
            <a:off x="8292389" y="4956048"/>
            <a:ext cx="3186074" cy="320040"/>
          </a:xfrm>
          <a:prstGeom prst="rect">
            <a:avLst/>
          </a:prstGeom>
          <a:noFill/>
          <a:ln/>
        </p:spPr>
        <p:txBody>
          <a:bodyPr wrap="square" rtlCol="0" anchor="ctr"/>
          <a:lstStyle/>
          <a:p>
            <a:pPr rtl="1" algn="r" indent="0" marL="0">
              <a:buNone/>
            </a:pPr>
            <a:r>
              <a:rPr lang="en-US" sz="1150" b="1" dirty="0">
                <a:solidFill>
                  <a:srgbClr val="0E7C86"/>
                </a:solidFill>
                <a:latin typeface="Courier New" pitchFamily="34" charset="0"/>
                <a:ea typeface="Courier New" pitchFamily="34" charset="-122"/>
                <a:cs typeface="Courier New" pitchFamily="34" charset="-120"/>
              </a:rPr>
              <a:t>Sequence → State</a:t>
            </a:r>
            <a:endParaRPr lang="en-US" sz="1150" dirty="0"/>
          </a:p>
        </p:txBody>
      </p:sp>
      <p:sp>
        <p:nvSpPr>
          <p:cNvPr id="24" name="Text 21"/>
          <p:cNvSpPr/>
          <p:nvPr/>
        </p:nvSpPr>
        <p:spPr>
          <a:xfrm>
            <a:off x="8292389" y="5303520"/>
            <a:ext cx="3186074" cy="685800"/>
          </a:xfrm>
          <a:prstGeom prst="rect">
            <a:avLst/>
          </a:prstGeom>
          <a:noFill/>
          <a:ln/>
        </p:spPr>
        <p:txBody>
          <a:bodyPr wrap="square" rtlCol="0" anchor="t"/>
          <a:lstStyle/>
          <a:p>
            <a:pPr rtl="1" algn="r" indent="0" marL="0">
              <a:buNone/>
            </a:pPr>
            <a:r>
              <a:rPr lang="en-US" sz="930" dirty="0">
                <a:solidFill>
                  <a:srgbClr val="3A4A4E"/>
                </a:solidFill>
                <a:latin typeface="Tahoma" pitchFamily="34" charset="0"/>
                <a:ea typeface="Tahoma" pitchFamily="34" charset="-122"/>
                <a:cs typeface="Tahoma" pitchFamily="34" charset="-120"/>
              </a:rPr>
              <a:t>رویدادهایی مانند ()Publish و ()Evaluate در نمودار توالی، محرک تغییر وضعیت در نمودار State هستند</a:t>
            </a:r>
            <a:endParaRPr lang="en-US" sz="930" dirty="0"/>
          </a:p>
        </p:txBody>
      </p:sp>
      <p:sp>
        <p:nvSpPr>
          <p:cNvPr id="25" name="Text 22"/>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26" name="Text 23"/>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65760"/>
          </a:xfrm>
          <a:prstGeom prst="rect">
            <a:avLst/>
          </a:prstGeom>
          <a:noFill/>
          <a:ln/>
        </p:spPr>
        <p:txBody>
          <a:bodyPr wrap="square" rtlCol="0" anchor="ctr"/>
          <a:lstStyle/>
          <a:p>
            <a:pPr rtl="1" algn="r" indent="0" marL="0">
              <a:buNone/>
            </a:pPr>
            <a:r>
              <a:rPr lang="en-US" sz="1300" b="1" spc="100" kern="0" dirty="0">
                <a:solidFill>
                  <a:srgbClr val="0E7C86"/>
                </a:solidFill>
                <a:latin typeface="Tahoma" pitchFamily="34" charset="0"/>
                <a:ea typeface="Tahoma" pitchFamily="34" charset="-122"/>
                <a:cs typeface="Tahoma" pitchFamily="34" charset="-120"/>
              </a:rPr>
              <a:t>تحویلی ۷ از ۷</a:t>
            </a:r>
            <a:endParaRPr lang="en-US" sz="1300" dirty="0"/>
          </a:p>
        </p:txBody>
      </p:sp>
      <p:sp>
        <p:nvSpPr>
          <p:cNvPr id="3" name="Text 1"/>
          <p:cNvSpPr/>
          <p:nvPr/>
        </p:nvSpPr>
        <p:spPr>
          <a:xfrm>
            <a:off x="548640" y="658368"/>
            <a:ext cx="11094415" cy="685800"/>
          </a:xfrm>
          <a:prstGeom prst="rect">
            <a:avLst/>
          </a:prstGeom>
          <a:noFill/>
          <a:ln/>
        </p:spPr>
        <p:txBody>
          <a:bodyPr wrap="square" rtlCol="0" anchor="ctr"/>
          <a:lstStyle/>
          <a:p>
            <a:pPr rtl="1" algn="r" indent="0" marL="0">
              <a:buNone/>
            </a:pPr>
            <a:r>
              <a:rPr lang="en-US" sz="3000" b="1" dirty="0">
                <a:solidFill>
                  <a:srgbClr val="0B3A4A"/>
                </a:solidFill>
                <a:latin typeface="Tahoma" pitchFamily="34" charset="0"/>
                <a:ea typeface="Tahoma" pitchFamily="34" charset="-122"/>
                <a:cs typeface="Tahoma" pitchFamily="34" charset="-120"/>
              </a:rPr>
              <a:t>ماتریس یکپارچگی نمودارها و جمع‌بندی</a:t>
            </a:r>
            <a:endParaRPr lang="en-US" sz="3000" dirty="0"/>
          </a:p>
        </p:txBody>
      </p:sp>
      <p:sp>
        <p:nvSpPr>
          <p:cNvPr id="4" name="Shape 2"/>
          <p:cNvSpPr/>
          <p:nvPr/>
        </p:nvSpPr>
        <p:spPr>
          <a:xfrm>
            <a:off x="548640" y="1417320"/>
            <a:ext cx="6492240" cy="4892040"/>
          </a:xfrm>
          <a:prstGeom prst="roundRect">
            <a:avLst>
              <a:gd name="adj" fmla="val 1495"/>
            </a:avLst>
          </a:prstGeom>
          <a:solidFill>
            <a:srgbClr val="FFFFFF"/>
          </a:solidFill>
          <a:ln w="12700">
            <a:solidFill>
              <a:srgbClr val="D8E6E7"/>
            </a:solidFill>
            <a:prstDash val="solid"/>
          </a:ln>
          <a:effectLst>
            <a:outerShdw sx="100000" sy="100000" kx="0" ky="0" algn="bl" rotWithShape="0" blurRad="127000" dist="38100" dir="5400000">
              <a:srgbClr val="1B2A2E">
                <a:alpha val="18000"/>
              </a:srgbClr>
            </a:outerShdw>
          </a:effectLst>
        </p:spPr>
      </p:sp>
      <p:pic>
        <p:nvPicPr>
          <p:cNvPr id="5" name="Image 0" descr="/home/claude/deck/img/integration_matrix.jpeg">    </p:cNvPr>
          <p:cNvPicPr>
            <a:picLocks noChangeAspect="1"/>
          </p:cNvPicPr>
          <p:nvPr/>
        </p:nvPicPr>
        <p:blipFill>
          <a:blip r:embed="rId1"/>
          <a:stretch>
            <a:fillRect/>
          </a:stretch>
        </p:blipFill>
        <p:spPr>
          <a:xfrm>
            <a:off x="685800" y="1680453"/>
            <a:ext cx="6217920" cy="4365774"/>
          </a:xfrm>
          <a:prstGeom prst="rect">
            <a:avLst/>
          </a:prstGeom>
        </p:spPr>
      </p:pic>
      <p:sp>
        <p:nvSpPr>
          <p:cNvPr id="6" name="Text 3"/>
          <p:cNvSpPr/>
          <p:nvPr/>
        </p:nvSpPr>
        <p:spPr>
          <a:xfrm>
            <a:off x="7269480" y="1417320"/>
            <a:ext cx="4373575" cy="292608"/>
          </a:xfrm>
          <a:prstGeom prst="rect">
            <a:avLst/>
          </a:prstGeom>
          <a:noFill/>
          <a:ln/>
        </p:spPr>
        <p:txBody>
          <a:bodyPr wrap="square" rtlCol="0" anchor="ctr"/>
          <a:lstStyle/>
          <a:p>
            <a:pPr rtl="1" algn="r" indent="0" marL="0">
              <a:buNone/>
            </a:pPr>
            <a:r>
              <a:rPr lang="en-US" sz="1300" b="1" dirty="0">
                <a:solidFill>
                  <a:srgbClr val="0E7C86"/>
                </a:solidFill>
                <a:latin typeface="Tahoma" pitchFamily="34" charset="0"/>
                <a:ea typeface="Tahoma" pitchFamily="34" charset="-122"/>
                <a:cs typeface="Tahoma" pitchFamily="34" charset="-120"/>
              </a:rPr>
              <a:t>جمع‌بندی</a:t>
            </a:r>
            <a:endParaRPr lang="en-US" sz="1300" dirty="0"/>
          </a:p>
        </p:txBody>
      </p:sp>
      <p:sp>
        <p:nvSpPr>
          <p:cNvPr id="7" name="Text 4"/>
          <p:cNvSpPr/>
          <p:nvPr/>
        </p:nvSpPr>
        <p:spPr>
          <a:xfrm>
            <a:off x="7269480" y="1755648"/>
            <a:ext cx="4373575" cy="1737360"/>
          </a:xfrm>
          <a:prstGeom prst="rect">
            <a:avLst/>
          </a:prstGeom>
          <a:noFill/>
          <a:ln/>
        </p:spPr>
        <p:txBody>
          <a:bodyPr wrap="square" rtlCol="0" anchor="t"/>
          <a:lstStyle/>
          <a:p>
            <a:pPr rtl="1" algn="r" indent="0" marL="0">
              <a:buNone/>
            </a:pPr>
            <a:r>
              <a:rPr lang="en-US" sz="1050" dirty="0">
                <a:solidFill>
                  <a:srgbClr val="3A4A4E"/>
                </a:solidFill>
                <a:latin typeface="Tahoma" pitchFamily="34" charset="0"/>
                <a:ea typeface="Tahoma" pitchFamily="34" charset="-122"/>
                <a:cs typeface="Tahoma" pitchFamily="34" charset="-120"/>
              </a:rPr>
              <a:t>نمودارهای این فاز مستقل طراحی نشده‌اند؛ نقشهٔ ذهنی قابلیت‌های اصلی را مشخص می‌کند، Use Case تعامل کاربران را نشان می‌دهد، Activity جریان فرآیندها را مدل می‌کند، Domain Class ساختار مفهومی را ارائه می‌دهد، Sequence تعاملات زمانی را نمایش می‌دهد و State چرخهٔ عمر موجودیت‌های اصلی را مشخص می‌سازد.</a:t>
            </a:r>
            <a:endParaRPr lang="en-US" sz="1050" dirty="0"/>
          </a:p>
        </p:txBody>
      </p:sp>
      <p:sp>
        <p:nvSpPr>
          <p:cNvPr id="8" name="Shape 5"/>
          <p:cNvSpPr/>
          <p:nvPr/>
        </p:nvSpPr>
        <p:spPr>
          <a:xfrm>
            <a:off x="7269480" y="3657600"/>
            <a:ext cx="4373575" cy="1737360"/>
          </a:xfrm>
          <a:prstGeom prst="roundRect">
            <a:avLst>
              <a:gd name="adj" fmla="val 4737"/>
            </a:avLst>
          </a:prstGeom>
          <a:solidFill>
            <a:srgbClr val="0B3A4A"/>
          </a:solidFill>
          <a:ln/>
        </p:spPr>
      </p:sp>
      <p:sp>
        <p:nvSpPr>
          <p:cNvPr id="9" name="Text 6"/>
          <p:cNvSpPr/>
          <p:nvPr/>
        </p:nvSpPr>
        <p:spPr>
          <a:xfrm>
            <a:off x="7470648" y="3794760"/>
            <a:ext cx="3971239" cy="1463040"/>
          </a:xfrm>
          <a:prstGeom prst="rect">
            <a:avLst/>
          </a:prstGeom>
          <a:noFill/>
          <a:ln/>
        </p:spPr>
        <p:txBody>
          <a:bodyPr wrap="square" rtlCol="0" anchor="t"/>
          <a:lstStyle/>
          <a:p>
            <a:pPr rtl="1" algn="r" indent="0" marL="0">
              <a:buNone/>
            </a:pPr>
            <a:r>
              <a:rPr lang="en-US" sz="1080" dirty="0">
                <a:solidFill>
                  <a:srgbClr val="EAF4F5"/>
                </a:solidFill>
                <a:latin typeface="Tahoma" pitchFamily="34" charset="0"/>
                <a:ea typeface="Tahoma" pitchFamily="34" charset="-122"/>
                <a:cs typeface="Tahoma" pitchFamily="34" charset="-120"/>
              </a:rPr>
              <a:t>این ارتباطات، یک مدل تحلیلی یکپارچه، منسجم و قابل‌ردیابی برای سامانهٔ آموزش آنلین مدارس ایجاد می‌کند و پایهٔ مناسبی برای مراحل طراحی معماری و پیاده‌سازی سیستم فراهم می‌سازد.</a:t>
            </a:r>
            <a:endParaRPr lang="en-US" sz="1080" dirty="0"/>
          </a:p>
        </p:txBody>
      </p:sp>
      <p:sp>
        <p:nvSpPr>
          <p:cNvPr id="10" name="Text 7"/>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11" name="Text 8"/>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2530"/>
        </a:solidFill>
      </p:bgPr>
    </p:bg>
    <p:spTree>
      <p:nvGrpSpPr>
        <p:cNvPr id="1" name=""/>
        <p:cNvGrpSpPr/>
        <p:nvPr/>
      </p:nvGrpSpPr>
      <p:grpSpPr>
        <a:xfrm>
          <a:off x="0" y="0"/>
          <a:ext cx="0" cy="0"/>
          <a:chOff x="0" y="0"/>
          <a:chExt cx="0" cy="0"/>
        </a:xfrm>
      </p:grpSpPr>
      <p:sp>
        <p:nvSpPr>
          <p:cNvPr id="2" name="Shape 0"/>
          <p:cNvSpPr/>
          <p:nvPr/>
        </p:nvSpPr>
        <p:spPr>
          <a:xfrm>
            <a:off x="-2286000" y="3840480"/>
            <a:ext cx="5943600" cy="5943600"/>
          </a:xfrm>
          <a:prstGeom prst="ellipse">
            <a:avLst/>
          </a:prstGeom>
          <a:solidFill>
            <a:srgbClr val="0B3A4A"/>
          </a:solidFill>
          <a:ln/>
        </p:spPr>
      </p:sp>
      <p:sp>
        <p:nvSpPr>
          <p:cNvPr id="3" name="Shape 1"/>
          <p:cNvSpPr/>
          <p:nvPr/>
        </p:nvSpPr>
        <p:spPr>
          <a:xfrm>
            <a:off x="9875520" y="-2103120"/>
            <a:ext cx="4754880" cy="4754880"/>
          </a:xfrm>
          <a:prstGeom prst="ellipse">
            <a:avLst/>
          </a:prstGeom>
          <a:solidFill>
            <a:srgbClr val="0E7C86">
              <a:alpha val="45000"/>
            </a:srgbClr>
          </a:solidFill>
          <a:ln/>
        </p:spPr>
      </p:sp>
      <p:sp>
        <p:nvSpPr>
          <p:cNvPr id="4" name="Text 2"/>
          <p:cNvSpPr/>
          <p:nvPr/>
        </p:nvSpPr>
        <p:spPr>
          <a:xfrm>
            <a:off x="822960" y="2377440"/>
            <a:ext cx="10545775" cy="365760"/>
          </a:xfrm>
          <a:prstGeom prst="rect">
            <a:avLst/>
          </a:prstGeom>
          <a:noFill/>
          <a:ln/>
        </p:spPr>
        <p:txBody>
          <a:bodyPr wrap="square" rtlCol="0" anchor="ctr"/>
          <a:lstStyle/>
          <a:p>
            <a:pPr rtl="1" algn="r" indent="0" marL="0">
              <a:buNone/>
            </a:pPr>
            <a:r>
              <a:rPr lang="en-US" sz="1500" b="1" spc="120" kern="0" dirty="0">
                <a:solidFill>
                  <a:srgbClr val="F2A93B"/>
                </a:solidFill>
                <a:latin typeface="Tahoma" pitchFamily="34" charset="0"/>
                <a:ea typeface="Tahoma" pitchFamily="34" charset="-122"/>
                <a:cs typeface="Tahoma" pitchFamily="34" charset="-120"/>
              </a:rPr>
              <a:t>پایان فاز دوم</a:t>
            </a:r>
            <a:endParaRPr lang="en-US" sz="1500" dirty="0"/>
          </a:p>
        </p:txBody>
      </p:sp>
      <p:sp>
        <p:nvSpPr>
          <p:cNvPr id="5" name="Text 3"/>
          <p:cNvSpPr/>
          <p:nvPr/>
        </p:nvSpPr>
        <p:spPr>
          <a:xfrm>
            <a:off x="822960" y="2743200"/>
            <a:ext cx="10545775" cy="822960"/>
          </a:xfrm>
          <a:prstGeom prst="rect">
            <a:avLst/>
          </a:prstGeom>
          <a:noFill/>
          <a:ln/>
        </p:spPr>
        <p:txBody>
          <a:bodyPr wrap="square" rtlCol="0" anchor="ctr"/>
          <a:lstStyle/>
          <a:p>
            <a:pPr rtl="1" algn="r" indent="0" marL="0">
              <a:buNone/>
            </a:pPr>
            <a:r>
              <a:rPr lang="en-US" sz="3200" b="1" dirty="0">
                <a:solidFill>
                  <a:srgbClr val="FFFFFF"/>
                </a:solidFill>
                <a:latin typeface="Tahoma" pitchFamily="34" charset="0"/>
                <a:ea typeface="Tahoma" pitchFamily="34" charset="-122"/>
                <a:cs typeface="Tahoma" pitchFamily="34" charset="-120"/>
              </a:rPr>
              <a:t>مدل تحلیلی یکپارچه — آماده برای فاز طراحی معماری</a:t>
            </a:r>
            <a:endParaRPr lang="en-US" sz="3200" dirty="0"/>
          </a:p>
        </p:txBody>
      </p:sp>
      <p:sp>
        <p:nvSpPr>
          <p:cNvPr id="6" name="Text 4"/>
          <p:cNvSpPr/>
          <p:nvPr/>
        </p:nvSpPr>
        <p:spPr>
          <a:xfrm>
            <a:off x="822960" y="3657600"/>
            <a:ext cx="10545775" cy="822960"/>
          </a:xfrm>
          <a:prstGeom prst="rect">
            <a:avLst/>
          </a:prstGeom>
          <a:noFill/>
          <a:ln/>
        </p:spPr>
        <p:txBody>
          <a:bodyPr wrap="square" rtlCol="0" anchor="ctr"/>
          <a:lstStyle/>
          <a:p>
            <a:pPr rtl="1" algn="r" indent="0" marL="0">
              <a:buNone/>
            </a:pPr>
            <a:r>
              <a:rPr lang="en-US" sz="1300" dirty="0">
                <a:solidFill>
                  <a:srgbClr val="EAF4F5"/>
                </a:solidFill>
                <a:latin typeface="Tahoma" pitchFamily="34" charset="0"/>
                <a:ea typeface="Tahoma" pitchFamily="34" charset="-122"/>
                <a:cs typeface="Tahoma" pitchFamily="34" charset="-120"/>
              </a:rPr>
              <a:t>هفت تحویلی — Use Case، Domain Class، Sequence، Activity، State، Mind Map و سند یکپارچگی — با هم یک تصویر کامل، منسجم و قابل ردیابی از سامانهٔ آموزش آنلین مدارس ارائه می‌دهند.</a:t>
            </a:r>
            <a:endParaRPr lang="en-US" sz="1300" dirty="0"/>
          </a:p>
        </p:txBody>
      </p:sp>
      <p:sp>
        <p:nvSpPr>
          <p:cNvPr id="7" name="Text 5"/>
          <p:cNvSpPr/>
          <p:nvPr/>
        </p:nvSpPr>
        <p:spPr>
          <a:xfrm>
            <a:off x="822960" y="5852160"/>
            <a:ext cx="10545775" cy="457200"/>
          </a:xfrm>
          <a:prstGeom prst="rect">
            <a:avLst/>
          </a:prstGeom>
          <a:noFill/>
          <a:ln/>
        </p:spPr>
        <p:txBody>
          <a:bodyPr wrap="square" rtlCol="0" anchor="ctr"/>
          <a:lstStyle/>
          <a:p>
            <a:pPr rtl="1" algn="r" indent="0" marL="0">
              <a:buNone/>
            </a:pPr>
            <a:r>
              <a:rPr lang="en-US" sz="1400" dirty="0">
                <a:solidFill>
                  <a:srgbClr val="6E8285"/>
                </a:solidFill>
                <a:latin typeface="Tahoma" pitchFamily="34" charset="0"/>
                <a:ea typeface="Tahoma" pitchFamily="34" charset="-122"/>
                <a:cs typeface="Tahoma" pitchFamily="34" charset="-120"/>
              </a:rPr>
              <a:t>با تشکر</a:t>
            </a:r>
            <a:endParaRPr lang="en-US" sz="1400" dirty="0"/>
          </a:p>
        </p:txBody>
      </p:sp>
      <p:sp>
        <p:nvSpPr>
          <p:cNvPr id="8" name="Text 6"/>
          <p:cNvSpPr/>
          <p:nvPr/>
        </p:nvSpPr>
        <p:spPr>
          <a:xfrm>
            <a:off x="548640" y="6473952"/>
            <a:ext cx="9997135" cy="274320"/>
          </a:xfrm>
          <a:prstGeom prst="rect">
            <a:avLst/>
          </a:prstGeom>
          <a:noFill/>
          <a:ln/>
        </p:spPr>
        <p:txBody>
          <a:bodyPr wrap="square" rtlCol="0" anchor="ctr"/>
          <a:lstStyle/>
          <a:p>
            <a:pPr rtl="1" algn="r" indent="0" marL="0">
              <a:buNone/>
            </a:pPr>
            <a:r>
              <a:rPr lang="en-US" sz="900" dirty="0">
                <a:solidFill>
                  <a:srgbClr val="6E8285"/>
                </a:solidFill>
                <a:latin typeface="Tahoma" pitchFamily="34" charset="0"/>
                <a:ea typeface="Tahoma" pitchFamily="34" charset="-122"/>
                <a:cs typeface="Tahoma" pitchFamily="34" charset="-120"/>
              </a:rPr>
              <a:t>فاز دوم — مدل‌سازی و تصویرسازی  |  سامانه آموزش آنلین مدارس</a:t>
            </a:r>
            <a:endParaRPr lang="en-US" sz="900" dirty="0"/>
          </a:p>
        </p:txBody>
      </p:sp>
      <p:sp>
        <p:nvSpPr>
          <p:cNvPr id="9" name="Text 7"/>
          <p:cNvSpPr/>
          <p:nvPr/>
        </p:nvSpPr>
        <p:spPr>
          <a:xfrm>
            <a:off x="10911535" y="6473952"/>
            <a:ext cx="731520" cy="274320"/>
          </a:xfrm>
          <a:prstGeom prst="rect">
            <a:avLst/>
          </a:prstGeom>
          <a:noFill/>
          <a:ln/>
        </p:spPr>
        <p:txBody>
          <a:bodyPr wrap="square" rtlCol="0" anchor="ctr"/>
          <a:lstStyle/>
          <a:p>
            <a:pPr algn="l" indent="0" marL="0">
              <a:buNone/>
            </a:pPr>
            <a:r>
              <a:rPr lang="en-US" sz="900" dirty="0">
                <a:solidFill>
                  <a:srgbClr val="6E8285"/>
                </a:solidFill>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2026-07-10T19:14:51Z</dcterms:created>
  <dcterms:modified xsi:type="dcterms:W3CDTF">2026-07-10T19:14:51Z</dcterms:modified>
</cp:coreProperties>
</file>