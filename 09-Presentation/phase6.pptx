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5.png"/><Relationship Id="rId7" Type="http://schemas.openxmlformats.org/officeDocument/2006/relationships/image" Target="../media/image-16-5.png"/><Relationship Id="rId8" Type="http://schemas.openxmlformats.org/officeDocument/2006/relationships/image" Target="../media/image-16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291840" cy="32918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68696" y="1028700"/>
            <a:ext cx="1051560" cy="105156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5" name="Image 0" descr="/home/claude/build2/icon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2102" y="1302106"/>
            <a:ext cx="504749" cy="5047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46888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پیاده‌سازی، استقرار و تطابق طراحی با کد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914400" y="338328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سامانه یکپارچه آموزش آنلاین مدارس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937760" y="4114800"/>
            <a:ext cx="22860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42976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فاز ششم: ساخت نمونه اولیه  |  گزارش تطابق کد با طراحی  |  تاریخچه کامیت‌های Git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مقدمه فاز ششم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از طراحی مفهومی تا نمونه اولیه قابل اجرا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94960" cy="4663440"/>
          </a:xfrm>
          <a:prstGeom prst="roundRect">
            <a:avLst>
              <a:gd name="adj" fmla="val 2353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 این فاز، معماری طراحی‌شده در مرحله قبل به یک نمونه اولیه قابل اجرا تبدیل شد. هدف اصلی این بود که پیاده‌سازی تا حد امکان با نمودار DCD و معماری انتخاب‌شده در فاز طراحی منطبق باشد تا علاوه بر اجرای سناریوهای اصلی سیستم، توسعه و نگهداری پروژه نیز حفظ شود.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4069080"/>
            <a:ext cx="4846320" cy="0"/>
          </a:xfrm>
          <a:prstGeom prst="line">
            <a:avLst/>
          </a:prstGeom>
          <a:noFill/>
          <a:ln w="12700">
            <a:solidFill>
              <a:srgbClr val="3C7C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25196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پیش از شروع کدنویسی، ساختار پوشه‌ها، مسئولیت هر لایه و نحوه ارتباط بین اجزای سیستم مشخص شد و پیاده‌سازی بر همان اساس انجام گرفت.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584180" y="1988820"/>
            <a:ext cx="777240" cy="77724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10" name="Image 0" descr="/home/claude/build2/icons/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6262" y="2190902"/>
            <a:ext cx="373075" cy="37307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537960" y="1892808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ساخت نمونه اولیه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537960" y="2313432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تبدیل معماری به کد قابل اجرا مطابق DCD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309360" y="329184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0584180" y="3589020"/>
            <a:ext cx="777240" cy="77724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15" name="Image 1" descr="/home/claude/build2/icons/checkDou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262" y="3791102"/>
            <a:ext cx="373075" cy="37307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537960" y="3493008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گزارش تطابق کد با طراحی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6537960" y="3913632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بررسی هم‌راستایی UML، الگوها و ساختار کد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309360" y="489204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10584180" y="5189220"/>
            <a:ext cx="777240" cy="77724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20" name="Image 2" descr="/home/claude/build2/icons/bra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6262" y="5391302"/>
            <a:ext cx="373075" cy="37307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37960" y="5093208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تاریخچه کامیت‌های Git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6537960" y="5513832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مستندسازی روند توسعه مرحله‌به‌مرحله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ساختار پروژه و معماری لایه‌ای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معماری لایه‌ای در کنار اصول Domain Driven Design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4297680" cy="4663440"/>
          </a:xfrm>
          <a:prstGeom prst="roundRect">
            <a:avLst>
              <a:gd name="adj" fmla="val 2128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online_education_platform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234440" y="22402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DDE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234440" y="26974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DDE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34440" y="31546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DDE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34440" y="36118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DDE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34440" y="40690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DDE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554480" y="4526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DDE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strategies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554480" y="4983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DDE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34440" y="54406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DDE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257800" y="1554480"/>
            <a:ext cx="23957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04204" y="1668780"/>
            <a:ext cx="502920" cy="50292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16" name="Image 0" descr="/home/claude/build2/icons/cu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4963" y="1799539"/>
            <a:ext cx="241402" cy="24140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349240" y="2212848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367528" y="2468880"/>
            <a:ext cx="217627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موجودیت‌ها و قوانین اصلی کسب‌وکار — بدون وابستگی به پایگاه‌داده یا رابط کاربری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909560" y="1554480"/>
            <a:ext cx="23957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855964" y="1668780"/>
            <a:ext cx="502920" cy="50292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21" name="Image 1" descr="/home/claude/build2/icons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6723" y="1799539"/>
            <a:ext cx="241402" cy="24140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001000" y="2212848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8019288" y="2468880"/>
            <a:ext cx="217627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پیاده‌سازی منطق اجرایی سیستم و فرآیندهای کسب‌وکار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5257800" y="3108960"/>
            <a:ext cx="23957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204204" y="3223260"/>
            <a:ext cx="502920" cy="50292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26" name="Image 2" descr="/home/claude/build2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963" y="3354019"/>
            <a:ext cx="241402" cy="24140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349240" y="3767328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5367528" y="4023360"/>
            <a:ext cx="217627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مسئول مدیریت و نگهداری داده‌ها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7909560" y="3108960"/>
            <a:ext cx="23957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8855964" y="3223260"/>
            <a:ext cx="502920" cy="50292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31" name="Image 3" descr="/home/claude/build2/icons/netwo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6723" y="3354019"/>
            <a:ext cx="241402" cy="24140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8001000" y="3767328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8019288" y="4023360"/>
            <a:ext cx="217627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مدیریت درخواست‌های ورودی سیستم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6583680" y="4663440"/>
            <a:ext cx="23957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7530084" y="4777740"/>
            <a:ext cx="502920" cy="50292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36" name="Image 4" descr="/home/claude/build2/icons/bel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0843" y="4908499"/>
            <a:ext cx="241402" cy="24140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675120" y="5321808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6693408" y="5577840"/>
            <a:ext cx="217627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مدیریت رویدادها و ارسال اعلان‌ها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محیط توسعه و فرآیند Build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زبان، معماری و مراحل ساخت نمونه اولیه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12080" cy="4663440"/>
          </a:xfrm>
          <a:prstGeom prst="roundRect">
            <a:avLst>
              <a:gd name="adj" fmla="val 2353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محیط توسعه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06340" y="2281428"/>
            <a:ext cx="502920" cy="5029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7" name="Image 0" descr="/home/claude/build2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7099" y="2412187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28600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زبان برنامه‌نویسی Python 3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06340" y="3058668"/>
            <a:ext cx="502920" cy="5029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10" name="Image 1" descr="/home/claude/build2/icons/cub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099" y="3189427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306324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معماری شیءگرا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006340" y="3835908"/>
            <a:ext cx="502920" cy="5029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13" name="Image 2" descr="/home/claude/build2/icons/termin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7099" y="3966667"/>
            <a:ext cx="241402" cy="2414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4400" y="384048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اجرای پروژه از طریق Python Interpreter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006340" y="4613148"/>
            <a:ext cx="502920" cy="5029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16" name="Image 3" descr="/home/claude/build2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7099" y="4743907"/>
            <a:ext cx="241402" cy="24140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4400" y="461772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عدم نیاز به نصب پایگاه داده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5006340" y="5390388"/>
            <a:ext cx="502920" cy="5029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19" name="Image 4" descr="/home/claude/build2/icons/ser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7099" y="5521147"/>
            <a:ext cx="241402" cy="24140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14400" y="539496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استفاده از Repository های In-Memory برای نگهداری داده در حافظه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6309360" y="1554480"/>
            <a:ext cx="521208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6583680" y="17373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مراحل فرآیند Build</a:t>
            </a:r>
            <a:endParaRPr lang="en-US" sz="1700" dirty="0"/>
          </a:p>
        </p:txBody>
      </p:sp>
      <p:sp>
        <p:nvSpPr>
          <p:cNvPr id="23" name="Shape 16"/>
          <p:cNvSpPr/>
          <p:nvPr/>
        </p:nvSpPr>
        <p:spPr>
          <a:xfrm>
            <a:off x="10744200" y="22402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17"/>
          <p:cNvSpPr/>
          <p:nvPr/>
        </p:nvSpPr>
        <p:spPr>
          <a:xfrm>
            <a:off x="10744200" y="2240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6583680" y="2221992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دریافت سورس پروژه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10936224" y="2624328"/>
            <a:ext cx="0" cy="137160"/>
          </a:xfrm>
          <a:prstGeom prst="line">
            <a:avLst/>
          </a:prstGeom>
          <a:noFill/>
          <a:ln w="19050">
            <a:solidFill>
              <a:srgbClr val="C7D6E0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10744200" y="276148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1"/>
          <p:cNvSpPr/>
          <p:nvPr/>
        </p:nvSpPr>
        <p:spPr>
          <a:xfrm>
            <a:off x="10744200" y="2761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6583680" y="274320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قرارگرفتن فایل‌ها در ساختار تعریف‌شده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10936224" y="3145536"/>
            <a:ext cx="0" cy="137160"/>
          </a:xfrm>
          <a:prstGeom prst="line">
            <a:avLst/>
          </a:prstGeom>
          <a:noFill/>
          <a:ln w="19050">
            <a:solidFill>
              <a:srgbClr val="C7D6E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10744200" y="328269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25"/>
          <p:cNvSpPr/>
          <p:nvPr/>
        </p:nvSpPr>
        <p:spPr>
          <a:xfrm>
            <a:off x="10744200" y="32826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6583680" y="3264408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ایجاد نمونه Repository ها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10936224" y="3666744"/>
            <a:ext cx="0" cy="137160"/>
          </a:xfrm>
          <a:prstGeom prst="line">
            <a:avLst/>
          </a:prstGeom>
          <a:noFill/>
          <a:ln w="19050">
            <a:solidFill>
              <a:srgbClr val="C7D6E0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10744200" y="380390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6" name="Text 29"/>
          <p:cNvSpPr/>
          <p:nvPr/>
        </p:nvSpPr>
        <p:spPr>
          <a:xfrm>
            <a:off x="10744200" y="3803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6583680" y="3785616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ایجاد سرویس‌های دامنه</a:t>
            </a:r>
            <a:endParaRPr lang="en-US" sz="1250" dirty="0"/>
          </a:p>
        </p:txBody>
      </p:sp>
      <p:sp>
        <p:nvSpPr>
          <p:cNvPr id="38" name="Shape 31"/>
          <p:cNvSpPr/>
          <p:nvPr/>
        </p:nvSpPr>
        <p:spPr>
          <a:xfrm>
            <a:off x="10936224" y="4187952"/>
            <a:ext cx="0" cy="137160"/>
          </a:xfrm>
          <a:prstGeom prst="line">
            <a:avLst/>
          </a:prstGeom>
          <a:noFill/>
          <a:ln w="19050">
            <a:solidFill>
              <a:srgbClr val="C7D6E0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10744200" y="432511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0" name="Text 33"/>
          <p:cNvSpPr/>
          <p:nvPr/>
        </p:nvSpPr>
        <p:spPr>
          <a:xfrm>
            <a:off x="10744200" y="4325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6583680" y="4306824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تزریق وابستگی‌ها</a:t>
            </a:r>
            <a:endParaRPr lang="en-US" sz="1250" dirty="0"/>
          </a:p>
        </p:txBody>
      </p:sp>
      <p:sp>
        <p:nvSpPr>
          <p:cNvPr id="42" name="Shape 35"/>
          <p:cNvSpPr/>
          <p:nvPr/>
        </p:nvSpPr>
        <p:spPr>
          <a:xfrm>
            <a:off x="10936224" y="4709160"/>
            <a:ext cx="0" cy="137160"/>
          </a:xfrm>
          <a:prstGeom prst="line">
            <a:avLst/>
          </a:prstGeom>
          <a:noFill/>
          <a:ln w="19050">
            <a:solidFill>
              <a:srgbClr val="C7D6E0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10744200" y="484632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4" name="Text 37"/>
          <p:cNvSpPr/>
          <p:nvPr/>
        </p:nvSpPr>
        <p:spPr>
          <a:xfrm>
            <a:off x="10744200" y="4846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5" name="Text 38"/>
          <p:cNvSpPr/>
          <p:nvPr/>
        </p:nvSpPr>
        <p:spPr>
          <a:xfrm>
            <a:off x="6583680" y="4828032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مقداردهی اولیه سیستم</a:t>
            </a:r>
            <a:endParaRPr lang="en-US" sz="1250" dirty="0"/>
          </a:p>
        </p:txBody>
      </p:sp>
      <p:sp>
        <p:nvSpPr>
          <p:cNvPr id="46" name="Shape 39"/>
          <p:cNvSpPr/>
          <p:nvPr/>
        </p:nvSpPr>
        <p:spPr>
          <a:xfrm>
            <a:off x="10936224" y="5230368"/>
            <a:ext cx="0" cy="137160"/>
          </a:xfrm>
          <a:prstGeom prst="line">
            <a:avLst/>
          </a:prstGeom>
          <a:noFill/>
          <a:ln w="19050">
            <a:solidFill>
              <a:srgbClr val="C7D6E0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10744200" y="536752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8" name="Text 41"/>
          <p:cNvSpPr/>
          <p:nvPr/>
        </p:nvSpPr>
        <p:spPr>
          <a:xfrm>
            <a:off x="10744200" y="5367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9" name="Text 42"/>
          <p:cNvSpPr/>
          <p:nvPr/>
        </p:nvSpPr>
        <p:spPr>
          <a:xfrm>
            <a:off x="6583680" y="534924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اجرای سناریوی آزمایشی</a:t>
            </a:r>
            <a:endParaRPr lang="en-US" sz="1250" dirty="0"/>
          </a:p>
        </p:txBody>
      </p:sp>
      <p:sp>
        <p:nvSpPr>
          <p:cNvPr id="50" name="Text 4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مدیریت وابستگی‌ها و لایه دامنه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Injection و موجودیت‌های Domain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1208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92040" y="1828800"/>
            <a:ext cx="731520" cy="73152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6" name="Image 0" descr="/home/claude/build2/icons/rand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2235" y="201899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73736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تزریق وابستگی (Dependency Injection)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14400" y="2606040"/>
            <a:ext cx="44805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کلاس‌هایی مانند ExamService به‌طور مستقیم Repository ها را ایجاد نمی‌کنند؛ بلکه Repository های موردنیاز هنگام ایجاد شیء به آن‌ها تزریق می‌شوند. همین رویکرد در CourseService و NotificationService نیز رعایت شده است.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14400" y="4206240"/>
            <a:ext cx="4480560" cy="0"/>
          </a:xfrm>
          <a:prstGeom prst="line">
            <a:avLst/>
          </a:prstGeom>
          <a:noFill/>
          <a:ln w="12700">
            <a:solidFill>
              <a:srgbClr val="E3EA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212080" y="4407408"/>
            <a:ext cx="365760" cy="365760"/>
          </a:xfrm>
          <a:prstGeom prst="ellipse">
            <a:avLst/>
          </a:prstGeom>
          <a:solidFill>
            <a:srgbClr val="1E9E6C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11" name="Image 1" descr="/home/claude/build2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7178" y="4502506"/>
            <a:ext cx="175565" cy="1755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438912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کاهش وابستگی مستقیم میان کلاس‌ها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212080" y="4910328"/>
            <a:ext cx="365760" cy="365760"/>
          </a:xfrm>
          <a:prstGeom prst="ellipse">
            <a:avLst/>
          </a:prstGeom>
          <a:solidFill>
            <a:srgbClr val="1E9E6C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14" name="Image 2" descr="/home/claude/build2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7178" y="5005426"/>
            <a:ext cx="175565" cy="17556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4400" y="489204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ساده‌تر شدن تست سیستم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212080" y="5413248"/>
            <a:ext cx="365760" cy="365760"/>
          </a:xfrm>
          <a:prstGeom prst="ellipse">
            <a:avLst/>
          </a:prstGeom>
          <a:solidFill>
            <a:srgbClr val="1E9E6C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17" name="Image 3" descr="/home/claude/build2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7178" y="5508346"/>
            <a:ext cx="175565" cy="17556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4400" y="539496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امکان جایگزینی Repository یا پایگاه‌داده بدون تغییر منطق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309360" y="1554480"/>
            <a:ext cx="5212080" cy="4663440"/>
          </a:xfrm>
          <a:prstGeom prst="roundRect">
            <a:avLst>
              <a:gd name="adj" fmla="val 2353"/>
            </a:avLst>
          </a:prstGeom>
          <a:solidFill>
            <a:srgbClr val="1B2A4A"/>
          </a:solidFill>
          <a:ln/>
        </p:spPr>
      </p:sp>
      <p:sp>
        <p:nvSpPr>
          <p:cNvPr id="20" name="Text 14"/>
          <p:cNvSpPr/>
          <p:nvPr/>
        </p:nvSpPr>
        <p:spPr>
          <a:xfrm>
            <a:off x="6583680" y="17373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موجودیت‌های لایه Domain</a:t>
            </a:r>
            <a:endParaRPr lang="en-US" sz="1550" dirty="0"/>
          </a:p>
        </p:txBody>
      </p:sp>
      <p:sp>
        <p:nvSpPr>
          <p:cNvPr id="21" name="Text 15"/>
          <p:cNvSpPr/>
          <p:nvPr/>
        </p:nvSpPr>
        <p:spPr>
          <a:xfrm>
            <a:off x="6583680" y="21488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تمامی موجودیت‌ها از کلاس BaseEntity ارث‌بری می‌کنند و شناسه یکتای هر شیء با UUID تولید می‌شود.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583680" y="2788920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24365C"/>
          </a:solidFill>
          <a:ln/>
        </p:spPr>
      </p:sp>
      <p:sp>
        <p:nvSpPr>
          <p:cNvPr id="23" name="Text 17"/>
          <p:cNvSpPr/>
          <p:nvPr/>
        </p:nvSpPr>
        <p:spPr>
          <a:xfrm>
            <a:off x="6583680" y="2788920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8138160" y="2788920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24365C"/>
          </a:solidFill>
          <a:ln/>
        </p:spPr>
      </p:sp>
      <p:sp>
        <p:nvSpPr>
          <p:cNvPr id="25" name="Text 19"/>
          <p:cNvSpPr/>
          <p:nvPr/>
        </p:nvSpPr>
        <p:spPr>
          <a:xfrm>
            <a:off x="8138160" y="2788920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9692640" y="2788920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24365C"/>
          </a:solidFill>
          <a:ln/>
        </p:spPr>
      </p:sp>
      <p:sp>
        <p:nvSpPr>
          <p:cNvPr id="27" name="Text 21"/>
          <p:cNvSpPr/>
          <p:nvPr/>
        </p:nvSpPr>
        <p:spPr>
          <a:xfrm>
            <a:off x="9692640" y="2788920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583680" y="3319272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24365C"/>
          </a:solidFill>
          <a:ln/>
        </p:spPr>
      </p:sp>
      <p:sp>
        <p:nvSpPr>
          <p:cNvPr id="29" name="Text 23"/>
          <p:cNvSpPr/>
          <p:nvPr/>
        </p:nvSpPr>
        <p:spPr>
          <a:xfrm>
            <a:off x="6583680" y="3319272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8138160" y="3319272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24365C"/>
          </a:solidFill>
          <a:ln/>
        </p:spPr>
      </p:sp>
      <p:sp>
        <p:nvSpPr>
          <p:cNvPr id="31" name="Text 25"/>
          <p:cNvSpPr/>
          <p:nvPr/>
        </p:nvSpPr>
        <p:spPr>
          <a:xfrm>
            <a:off x="8138160" y="3319272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9692640" y="3319272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24365C"/>
          </a:solidFill>
          <a:ln/>
        </p:spPr>
      </p:sp>
      <p:sp>
        <p:nvSpPr>
          <p:cNvPr id="33" name="Text 27"/>
          <p:cNvSpPr/>
          <p:nvPr/>
        </p:nvSpPr>
        <p:spPr>
          <a:xfrm>
            <a:off x="9692640" y="3319272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ClassSession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6583680" y="3849624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24365C"/>
          </a:solidFill>
          <a:ln/>
        </p:spPr>
      </p:sp>
      <p:sp>
        <p:nvSpPr>
          <p:cNvPr id="35" name="Text 29"/>
          <p:cNvSpPr/>
          <p:nvPr/>
        </p:nvSpPr>
        <p:spPr>
          <a:xfrm>
            <a:off x="6583680" y="3849624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8138160" y="3849624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24365C"/>
          </a:solidFill>
          <a:ln/>
        </p:spPr>
      </p:sp>
      <p:sp>
        <p:nvSpPr>
          <p:cNvPr id="37" name="Text 31"/>
          <p:cNvSpPr/>
          <p:nvPr/>
        </p:nvSpPr>
        <p:spPr>
          <a:xfrm>
            <a:off x="8138160" y="3849624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9692640" y="3849624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24365C"/>
          </a:solidFill>
          <a:ln/>
        </p:spPr>
      </p:sp>
      <p:sp>
        <p:nvSpPr>
          <p:cNvPr id="39" name="Text 33"/>
          <p:cNvSpPr/>
          <p:nvPr/>
        </p:nvSpPr>
        <p:spPr>
          <a:xfrm>
            <a:off x="9692640" y="3849624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</a:t>
            </a:r>
            <a:endParaRPr lang="en-US" sz="1050" dirty="0"/>
          </a:p>
        </p:txBody>
      </p:sp>
      <p:sp>
        <p:nvSpPr>
          <p:cNvPr id="40" name="Shape 34"/>
          <p:cNvSpPr/>
          <p:nvPr/>
        </p:nvSpPr>
        <p:spPr>
          <a:xfrm>
            <a:off x="6583680" y="4379976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24365C"/>
          </a:solidFill>
          <a:ln/>
        </p:spPr>
      </p:sp>
      <p:sp>
        <p:nvSpPr>
          <p:cNvPr id="41" name="Text 35"/>
          <p:cNvSpPr/>
          <p:nvPr/>
        </p:nvSpPr>
        <p:spPr>
          <a:xfrm>
            <a:off x="6583680" y="4379976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8138160" y="4379976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24365C"/>
          </a:solidFill>
          <a:ln/>
        </p:spPr>
      </p:sp>
      <p:sp>
        <p:nvSpPr>
          <p:cNvPr id="43" name="Text 37"/>
          <p:cNvSpPr/>
          <p:nvPr/>
        </p:nvSpPr>
        <p:spPr>
          <a:xfrm>
            <a:off x="8138160" y="4379976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050" dirty="0"/>
          </a:p>
        </p:txBody>
      </p:sp>
      <p:sp>
        <p:nvSpPr>
          <p:cNvPr id="44" name="Shape 38"/>
          <p:cNvSpPr/>
          <p:nvPr/>
        </p:nvSpPr>
        <p:spPr>
          <a:xfrm>
            <a:off x="9692640" y="4379976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24365C"/>
          </a:solidFill>
          <a:ln/>
        </p:spPr>
      </p:sp>
      <p:sp>
        <p:nvSpPr>
          <p:cNvPr id="45" name="Text 39"/>
          <p:cNvSpPr/>
          <p:nvPr/>
        </p:nvSpPr>
        <p:spPr>
          <a:xfrm>
            <a:off x="9692640" y="4379976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1050" dirty="0"/>
          </a:p>
        </p:txBody>
      </p:sp>
      <p:sp>
        <p:nvSpPr>
          <p:cNvPr id="46" name="Shape 40"/>
          <p:cNvSpPr/>
          <p:nvPr/>
        </p:nvSpPr>
        <p:spPr>
          <a:xfrm>
            <a:off x="6583680" y="4910328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24365C"/>
          </a:solidFill>
          <a:ln/>
        </p:spPr>
      </p:sp>
      <p:sp>
        <p:nvSpPr>
          <p:cNvPr id="47" name="Text 41"/>
          <p:cNvSpPr/>
          <p:nvPr/>
        </p:nvSpPr>
        <p:spPr>
          <a:xfrm>
            <a:off x="6583680" y="4910328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050" dirty="0"/>
          </a:p>
        </p:txBody>
      </p:sp>
      <p:sp>
        <p:nvSpPr>
          <p:cNvPr id="48" name="Text 4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پیاده‌سازی Repository و منطق کسب‌وکار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الگوی Repository و لایه Service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1208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914900" y="1805940"/>
            <a:ext cx="685800" cy="68580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6" name="Image 0" descr="/home/claude/build2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3208" y="19842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78308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لایه Repository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60604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برای هر موجودیت اصلی یک Interface مستقل تعریف و سپس نسخه In-Memory آن پیاده‌سازی شد. داده‌ها در Dictionary نگهداری می‌شوند و در آینده می‌توان بدون تغییر سایر بخش‌ها، به پایگاه‌داده‌هایی مانند PostgreSQL یا MySQL متصل شد.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14400" y="4069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UserRepository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246120" y="4069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CourseRepository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14400" y="447141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EnrollmentRepository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246120" y="447141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ExamRepository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14400" y="487375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SubmissionRepository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46120" y="487375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NotificationRepository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14400" y="527608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ClassSessionRepository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309360" y="1554480"/>
            <a:ext cx="5212080" cy="4663440"/>
          </a:xfrm>
          <a:prstGeom prst="roundRect">
            <a:avLst>
              <a:gd name="adj" fmla="val 2353"/>
            </a:avLst>
          </a:prstGeom>
          <a:solidFill>
            <a:srgbClr val="1C7293"/>
          </a:solidFill>
          <a:ln/>
        </p:spPr>
      </p:sp>
      <p:sp>
        <p:nvSpPr>
          <p:cNvPr id="17" name="Shape 14"/>
          <p:cNvSpPr/>
          <p:nvPr/>
        </p:nvSpPr>
        <p:spPr>
          <a:xfrm>
            <a:off x="10675620" y="1805940"/>
            <a:ext cx="685800" cy="68580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18" name="Image 1" descr="/home/claude/build2/icons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3928" y="1984248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583680" y="178308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لایه Service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583680" y="260604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AF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منطق اصلی سیستم در این لایه قرار دارد و مسئول اجرای فرآیندهایی مانند ثبت‌نام دانشجو، ایجاد آزمون، ارسال پاسخ، محاسبه نمره، مدیریت اعلان‌ها و ارائه محتوای آموزشی است.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729984" y="4069080"/>
            <a:ext cx="438912" cy="438912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22" name="Image 2" descr="/home/claude/build2/icons/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101" y="4183197"/>
            <a:ext cx="210678" cy="21067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315200" y="406908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CourseService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729984" y="4636008"/>
            <a:ext cx="438912" cy="438912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25" name="Image 3" descr="/home/claude/build2/icons/penci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4101" y="4750125"/>
            <a:ext cx="210678" cy="21067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15200" y="463600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ExamService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6729984" y="5202936"/>
            <a:ext cx="438912" cy="438912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28" name="Image 4" descr="/home/claude/build2/icons/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4101" y="5317053"/>
            <a:ext cx="210678" cy="21067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315200" y="5202936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GradeService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6729984" y="5769864"/>
            <a:ext cx="438912" cy="438912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31" name="Image 5" descr="/home/claude/build2/icons/bel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4101" y="5883981"/>
            <a:ext cx="210678" cy="21067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315200" y="5769864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NotificationService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الگوهای طراحی پیاده‌سازی‌شده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پیاده‌سازی کامل الگوهای GoF انتخاب‌شده در فاز معماری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180076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783080"/>
            <a:ext cx="731520" cy="73152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6" name="Image 0" descr="/home/claude/build2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315" y="197327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828800"/>
            <a:ext cx="37170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3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2606040"/>
            <a:ext cx="463143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جداسازی منطق ذخیره‌سازی داده‌ها از منطق کسب‌وکار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68796" y="1554480"/>
            <a:ext cx="5180076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88836" y="1783080"/>
            <a:ext cx="731520" cy="73152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11" name="Image 1" descr="/home/claude/build2/icons/rand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9031" y="197327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03236" y="1828800"/>
            <a:ext cx="37170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3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643116" y="2606040"/>
            <a:ext cx="463143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روش‌های مختلف تصحیح آزمون — انتخاب تصحیح خودکار یا دستی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180076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206240"/>
            <a:ext cx="731520" cy="73152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16" name="Image 2" descr="/home/claude/build2/icons/lay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5" y="439643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251960"/>
            <a:ext cx="37170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3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914400" y="5029200"/>
            <a:ext cx="463143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اعمال جریمه تأخیر بدون تغییر منطق اصلی تصحیح، افزودن درصد جریمه به نمره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68796" y="3977640"/>
            <a:ext cx="5180076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88836" y="4206240"/>
            <a:ext cx="731520" cy="73152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21" name="Image 3" descr="/home/claude/build2/icons/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9031" y="4396435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03236" y="4251960"/>
            <a:ext cx="37170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3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6643116" y="5029200"/>
            <a:ext cx="463143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مدیریت اعلان‌ها و رویدادها؛ انتشار مستقل رویداد و واکنش سرویس‌های مختلف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استقرار (Deployment) و سناریوی آزمایشی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اجرای Local و سناریوی تست سرتاسری سیستم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4937760" cy="4663440"/>
          </a:xfrm>
          <a:prstGeom prst="roundRect">
            <a:avLst>
              <a:gd name="adj" fmla="val 2353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مراحل استقرار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20640" y="22860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512064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267712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دریافت سورس پروژه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120640" y="2816352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28163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798064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اجرای فایل main.py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120640" y="3346704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3346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328416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ایجاد تمامی Repository ها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120640" y="3877056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38770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858768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ایجاد سرویس‌ها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120640" y="4407408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4407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4389120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ایجاد داده‌های اولیه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120640" y="49377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4937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4919472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اجرای سناریوی تست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852160" y="1554480"/>
            <a:ext cx="566928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17373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سناریوی آزمایشی سرتاسری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607040" y="2276856"/>
            <a:ext cx="457200" cy="45720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27" name="Image 0" descr="/home/claude/build2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2395728"/>
            <a:ext cx="219456" cy="219456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126480" y="22860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ایجاد یک استاد و یک دانشجو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10607040" y="2898648"/>
            <a:ext cx="457200" cy="45720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30" name="Image 1" descr="/home/claude/build2/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912" y="3017520"/>
            <a:ext cx="219456" cy="219456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6126480" y="29077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ثبت یک درس جدید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10607040" y="3520440"/>
            <a:ext cx="457200" cy="45720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33" name="Image 2" descr="/home/claude/build2/icons/graduationC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2" y="3639312"/>
            <a:ext cx="219456" cy="219456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126480" y="352958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ثبت‌نام دانشجو در درس</a:t>
            </a:r>
            <a:endParaRPr lang="en-US" sz="1250" dirty="0"/>
          </a:p>
        </p:txBody>
      </p:sp>
      <p:sp>
        <p:nvSpPr>
          <p:cNvPr id="35" name="Shape 30"/>
          <p:cNvSpPr/>
          <p:nvPr/>
        </p:nvSpPr>
        <p:spPr>
          <a:xfrm>
            <a:off x="10607040" y="4142232"/>
            <a:ext cx="457200" cy="45720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36" name="Image 3" descr="/home/claude/build2/icons/penci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5912" y="4261104"/>
            <a:ext cx="219456" cy="219456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126480" y="415137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ایجاد و انتشار آزمون</a:t>
            </a:r>
            <a:endParaRPr lang="en-US" sz="1250" dirty="0"/>
          </a:p>
        </p:txBody>
      </p:sp>
      <p:sp>
        <p:nvSpPr>
          <p:cNvPr id="38" name="Shape 32"/>
          <p:cNvSpPr/>
          <p:nvPr/>
        </p:nvSpPr>
        <p:spPr>
          <a:xfrm>
            <a:off x="10607040" y="4764024"/>
            <a:ext cx="457200" cy="45720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39" name="Image 4" descr="/home/claude/build2/icons/checkDoub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25912" y="4882896"/>
            <a:ext cx="219456" cy="219456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6126480" y="477316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ارسال پاسخ‌های دانشجو</a:t>
            </a:r>
            <a:endParaRPr lang="en-US" sz="1250" dirty="0"/>
          </a:p>
        </p:txBody>
      </p:sp>
      <p:sp>
        <p:nvSpPr>
          <p:cNvPr id="41" name="Shape 34"/>
          <p:cNvSpPr/>
          <p:nvPr/>
        </p:nvSpPr>
        <p:spPr>
          <a:xfrm>
            <a:off x="10607040" y="5385816"/>
            <a:ext cx="457200" cy="45720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42" name="Image 5" descr="/home/claude/build2/icons/cha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25912" y="5504688"/>
            <a:ext cx="219456" cy="219456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6126480" y="53949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نمایش نمره، وضعیت قبولی و اطلاعات ورود کاربر</a:t>
            </a:r>
            <a:endParaRPr lang="en-US" sz="1250" dirty="0"/>
          </a:p>
        </p:txBody>
      </p:sp>
      <p:sp>
        <p:nvSpPr>
          <p:cNvPr id="44" name="Text 36"/>
          <p:cNvSpPr/>
          <p:nvPr/>
        </p:nvSpPr>
        <p:spPr>
          <a:xfrm>
            <a:off x="6126480" y="615391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این سناریو نشان می‌دهد اجزای مختلف سامانه مطابق طراحی اولیه با یکدیگر تعامل دارند.</a:t>
            </a:r>
            <a:endParaRPr lang="en-US" sz="1150" dirty="0"/>
          </a:p>
        </p:txBody>
      </p:sp>
      <p:sp>
        <p:nvSpPr>
          <p:cNvPr id="45" name="Text 3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ساختار نهایی پروژه در یک نگاه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تطابق کامل با ساختار طراحی‌شده در فاز معماری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651760" y="1463040"/>
            <a:ext cx="6858000" cy="4892040"/>
          </a:xfrm>
          <a:prstGeom prst="roundRect">
            <a:avLst>
              <a:gd name="adj" fmla="val 1869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2926080" y="16276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online_education_platform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200400" y="1901952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DE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474720" y="2176272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DE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__init__.py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74720" y="2450592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DE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app_controller.py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74720" y="2724912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DE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exam_controller.py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0" y="2999232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DE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74720" y="3273552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DE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base_entity.py · class_session.py · course.py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74720" y="3547872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DE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enrollment.py · exam.py · notification.py · user.py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00400" y="3822192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DE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74720" y="4096512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DE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event_listeners.py · event_publisher.py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00400" y="4370832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DE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74720" y="4645152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DE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in_memory_repo.py · interfaces.py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00400" y="4919472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DE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74720" y="5193792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DE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strategies: auto.py · base.py · manual.py · late_penalty.py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74720" y="5468112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DE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course_service.py · exam_service.py · grade_service.py · notification_service.py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00400" y="5742432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DE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  ·  README.md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گزارش تطابق کد با طراحی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بررسی هم‌راستایی طراحی UML و پیاده‌سازی نهایی سیستم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12080" cy="4663440"/>
          </a:xfrm>
          <a:prstGeom prst="roundRect">
            <a:avLst>
              <a:gd name="adj" fmla="val 2353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هدف این گزارش، بررسی میزان هماهنگی میان طراحی سامانه آموزش آنلاین مدارس (UML، مدل‌سازی موجودیت‌ها و ساختار ماژول‌ها) و پیاده‌سازی نهایی سیستم در بخش کد است. بررسی تاریخچه تغییرات در Git نشان می‌دهد توسعه پروژه مرحله‌ای بوده و هر بخش از طراحی در مراحل مختلف به کد منتقل شده است.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09360" y="1554480"/>
            <a:ext cx="521208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7373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تطابق ساختار کلی پروژه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0" y="219456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سیستم در طراحی به‌صورت ماژولار در نظر گرفته شده بود و پیاده‌سازی نیز مطابق همین رویکرد توسعه یافته است.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0" y="2971800"/>
            <a:ext cx="4663440" cy="777240"/>
          </a:xfrm>
          <a:prstGeom prst="roundRect">
            <a:avLst>
              <a:gd name="adj" fmla="val 9412"/>
            </a:avLst>
          </a:prstGeom>
          <a:solidFill>
            <a:srgbClr val="F3F7FA"/>
          </a:solidFill>
          <a:ln w="12700">
            <a:solidFill>
              <a:srgbClr val="E3EA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304495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initial project structure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766560" y="335584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ایجاد ساختار اولیه پروژه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0" y="3886200"/>
            <a:ext cx="4663440" cy="777240"/>
          </a:xfrm>
          <a:prstGeom prst="roundRect">
            <a:avLst>
              <a:gd name="adj" fmla="val 9412"/>
            </a:avLst>
          </a:prstGeom>
          <a:solidFill>
            <a:srgbClr val="F3F7FA"/>
          </a:solidFill>
          <a:ln w="12700">
            <a:solidFill>
              <a:srgbClr val="E3EA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395935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.gitkeep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766560" y="427024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ایجاد ساختار استاندارد پوشه‌ها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0" y="4800600"/>
            <a:ext cx="4663440" cy="777240"/>
          </a:xfrm>
          <a:prstGeom prst="roundRect">
            <a:avLst>
              <a:gd name="adj" fmla="val 9412"/>
            </a:avLst>
          </a:prstGeom>
          <a:solidFill>
            <a:srgbClr val="F3F7FA"/>
          </a:solidFill>
          <a:ln w="12700">
            <a:solidFill>
              <a:srgbClr val="E3EA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487375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promote Enrollment to dedicated feature module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766560" y="518464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انتقال ماژول ثبت‌نام به ساختار اختصاصی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تطابق مدل دامنه و الگوهای طراحی با کد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از موجودیت‌های مفهومی و الگوهای GoF تا کلاس‌های واقعی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08792" cy="4480560"/>
        </p:xfrm>
        <a:graphic>
          <a:graphicData uri="http://schemas.openxmlformats.org/drawingml/2006/table">
            <a:tbl>
              <a:tblPr/>
              <a:tblGrid>
                <a:gridCol w="3657600"/>
                <a:gridCol w="3685032"/>
                <a:gridCol w="3566160"/>
              </a:tblGrid>
              <a:tr h="50292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کامیت مرتبط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پیاده‌سازی در کد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بخش طراحی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72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implement BaseEntity class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BaseEntity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331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موجودیت پایه سیستم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72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implement exam domain entities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 Entity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331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موجودیت آزمون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72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reformat ClassSession entity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ClassSession Entity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331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جلسه کلاس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72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promote Enrollment to dedicated feature module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Enrollment 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331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ثبت‌نام دانش‌آموز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72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implement base strategies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 Pattern (auto/manual)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331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الگوی Strategy برای تصحیح آزمون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72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ساختار و بازسازی مرتبط با Observer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Observer Pattern (Event)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331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الگوی Observer برای اعلان‌ها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تطابق کنترلر، Repository و مستندات با طراحی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65760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314700" y="1668780"/>
            <a:ext cx="777240" cy="77724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5" name="Image 0" descr="/home/claude/build2/icons/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6782" y="187086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691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کنترلر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914400" y="246888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کنترلرها مسئول دریافت درخواست‌ها و ارتباط میان رابط کاربری و منطق سیستم بودند؛ این جداسازی مسئولیت‌ها در کد نیز رعایت شده است.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914400" y="3977640"/>
            <a:ext cx="3108960" cy="0"/>
          </a:xfrm>
          <a:prstGeom prst="line">
            <a:avLst/>
          </a:prstGeom>
          <a:noFill/>
          <a:ln w="12700">
            <a:solidFill>
              <a:srgbClr val="E3EA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4160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 app controller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26280" y="1463040"/>
            <a:ext cx="3657600" cy="4937760"/>
          </a:xfrm>
          <a:prstGeom prst="roundRect">
            <a:avLst>
              <a:gd name="adj" fmla="val 3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200900" y="1668780"/>
            <a:ext cx="777240" cy="7772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12" name="Image 1" descr="/home/claude/build2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2982" y="1870862"/>
            <a:ext cx="373075" cy="3730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00600" y="1691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800600" y="246888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الگوی Repository برای جدا کردن منطق کسب‌وکار از نحوه ذخیره‌سازی داده‌ها پیاده‌سازی شد و اینترفیس‌های آن بهبود یافتند.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800600" y="3977640"/>
            <a:ext cx="3108960" cy="0"/>
          </a:xfrm>
          <a:prstGeom prst="line">
            <a:avLst/>
          </a:prstGeom>
          <a:noFill/>
          <a:ln w="12700">
            <a:solidFill>
              <a:srgbClr val="3C587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00600" y="4160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FE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improve interfaces code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8412480" y="1463040"/>
            <a:ext cx="365760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11087100" y="1668780"/>
            <a:ext cx="777240" cy="77724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19" name="Image 2" descr="/home/claude/build2/icons/diagr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9182" y="1870862"/>
            <a:ext cx="373075" cy="37307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86800" y="1691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مستندات UML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8686800" y="246888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نمودارهای UML همراه با کد تکمیل شدند تا طراحی رفتاری سیستم با فرآیند توسعه هماهنگ بماند.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8686800" y="3977640"/>
            <a:ext cx="3108960" cy="0"/>
          </a:xfrm>
          <a:prstGeom prst="line">
            <a:avLst/>
          </a:prstGeom>
          <a:noFill/>
          <a:ln w="12700">
            <a:solidFill>
              <a:srgbClr val="E3EAF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686800" y="4160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Activity Diagrams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8686800" y="454456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Sequence diagram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029200"/>
            <a:ext cx="4114800" cy="41148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نتیجه‌گیری تطابق طراحی و کد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بررسی روند توسعه نشان می‌دهد پیاده‌سازی انجام‌شده تطابق مناسبی با طراحی اولیه سیستم دارد. ساختار ماژولار، موجودیت‌های دامنه، کنترلرها، اینترفیس‌ها، Repository ها و الگوهای طراحی تعریف‌شده در مرحله طراحی، در کد نهایی نیز پیاده‌سازی شده‌اند.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423160"/>
            <a:ext cx="4860036" cy="1691640"/>
          </a:xfrm>
          <a:prstGeom prst="roundRect">
            <a:avLst>
              <a:gd name="adj" fmla="val 6486"/>
            </a:avLst>
          </a:prstGeom>
          <a:solidFill>
            <a:srgbClr val="24365C"/>
          </a:solidFill>
          <a:ln/>
        </p:spPr>
      </p:sp>
      <p:sp>
        <p:nvSpPr>
          <p:cNvPr id="6" name="Shape 4"/>
          <p:cNvSpPr/>
          <p:nvPr/>
        </p:nvSpPr>
        <p:spPr>
          <a:xfrm>
            <a:off x="4745736" y="2583180"/>
            <a:ext cx="685800" cy="68580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7" name="Image 0" descr="/home/claude/build2/icons/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4044" y="276148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2606040"/>
            <a:ext cx="37627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معماری طراحی‌شده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97280" y="3108960"/>
            <a:ext cx="43113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9C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 ساختار کد پیاده‌سازی شده است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505956" y="2423160"/>
            <a:ext cx="4860036" cy="1691640"/>
          </a:xfrm>
          <a:prstGeom prst="roundRect">
            <a:avLst>
              <a:gd name="adj" fmla="val 6486"/>
            </a:avLst>
          </a:prstGeom>
          <a:solidFill>
            <a:srgbClr val="24365C"/>
          </a:solidFill>
          <a:ln/>
        </p:spPr>
      </p:sp>
      <p:sp>
        <p:nvSpPr>
          <p:cNvPr id="11" name="Shape 8"/>
          <p:cNvSpPr/>
          <p:nvPr/>
        </p:nvSpPr>
        <p:spPr>
          <a:xfrm>
            <a:off x="10428732" y="2583180"/>
            <a:ext cx="685800" cy="68580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12" name="Image 1" descr="/home/claude/build2/icons/cu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76148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80276" y="2606040"/>
            <a:ext cx="37627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مدل دامنه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780276" y="3108960"/>
            <a:ext cx="43113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9C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به کلاس‌های نرم‌افزاری تبدیل شده است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22960" y="4389120"/>
            <a:ext cx="4860036" cy="1691640"/>
          </a:xfrm>
          <a:prstGeom prst="roundRect">
            <a:avLst>
              <a:gd name="adj" fmla="val 6486"/>
            </a:avLst>
          </a:prstGeom>
          <a:solidFill>
            <a:srgbClr val="24365C"/>
          </a:solidFill>
          <a:ln/>
        </p:spPr>
      </p:sp>
      <p:sp>
        <p:nvSpPr>
          <p:cNvPr id="16" name="Shape 12"/>
          <p:cNvSpPr/>
          <p:nvPr/>
        </p:nvSpPr>
        <p:spPr>
          <a:xfrm>
            <a:off x="4745736" y="4549140"/>
            <a:ext cx="685800" cy="68580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17" name="Image 2" descr="/home/claude/build2/icons/rand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4044" y="472744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4572000"/>
            <a:ext cx="37627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الگوهای طراحی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097280" y="5074920"/>
            <a:ext cx="43113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9C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 بخش‌های مختلف سیستم استفاده شده‌اند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505956" y="4389120"/>
            <a:ext cx="4860036" cy="1691640"/>
          </a:xfrm>
          <a:prstGeom prst="roundRect">
            <a:avLst>
              <a:gd name="adj" fmla="val 6486"/>
            </a:avLst>
          </a:prstGeom>
          <a:solidFill>
            <a:srgbClr val="24365C"/>
          </a:solidFill>
          <a:ln/>
        </p:spPr>
      </p:sp>
      <p:sp>
        <p:nvSpPr>
          <p:cNvPr id="21" name="Shape 16"/>
          <p:cNvSpPr/>
          <p:nvPr/>
        </p:nvSpPr>
        <p:spPr>
          <a:xfrm>
            <a:off x="10428732" y="4549140"/>
            <a:ext cx="685800" cy="68580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22" name="Image 3" descr="/home/claude/build2/icons/file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472744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780276" y="4572000"/>
            <a:ext cx="37627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مستندات طراحی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6780276" y="5074920"/>
            <a:ext cx="43113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9C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همراه با توسعه کد تکمیل شده‌اند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822960" y="640080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 مجموع، میزان تطابق میان طراحی و کد پروژه بالا ارزیابی می‌شود.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تاریخچه کامیت‌های Git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مدیریت نسخه‌ها و مستندسازی روند توسعه پروژه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12080" cy="2011680"/>
          </a:xfrm>
          <a:prstGeom prst="roundRect">
            <a:avLst>
              <a:gd name="adj" fmla="val 5455"/>
            </a:avLst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1074420" y="1988820"/>
            <a:ext cx="685800" cy="68580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6" name="Image 0" descr="/home/claude/build2/icons/git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21671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8288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Shad-Education-Platform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331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FB8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github.com/jafaripourmotahareh/Shad-Education-Platform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914400" y="2880360"/>
            <a:ext cx="4663440" cy="0"/>
          </a:xfrm>
          <a:prstGeom prst="line">
            <a:avLst/>
          </a:prstGeom>
          <a:noFill/>
          <a:ln w="12700">
            <a:solidFill>
              <a:srgbClr val="3C587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0175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تعداد Commit ها قبل از فاز ۶: 128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94760"/>
            <a:ext cx="521208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4023360"/>
            <a:ext cx="4663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برای مدیریت تغییرات، نگهداری نسخه‌های مختلف و پیگیری روند توسعه، از Git و مخزن GitHub استفاده شد. ثبت منظم تغییرات نقش مهمی در مستندسازی روند توسعه و هماهنگی میان اعضای تیم ایفا کرده است.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309360" y="1554480"/>
            <a:ext cx="5212080" cy="4663440"/>
          </a:xfrm>
          <a:prstGeom prst="roundRect">
            <a:avLst>
              <a:gd name="adj" fmla="val 2353"/>
            </a:avLst>
          </a:prstGeom>
          <a:solidFill>
            <a:srgbClr val="065A82"/>
          </a:solidFill>
          <a:ln/>
        </p:spPr>
      </p:sp>
      <p:sp>
        <p:nvSpPr>
          <p:cNvPr id="14" name="Text 11"/>
          <p:cNvSpPr/>
          <p:nvPr/>
        </p:nvSpPr>
        <p:spPr>
          <a:xfrm>
            <a:off x="6583680" y="17373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اهداف استفاده از Git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0817352" y="2267712"/>
            <a:ext cx="402336" cy="40233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16" name="Image 1" descr="/home/claude/build2/icons/syn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1959" y="2372319"/>
            <a:ext cx="193121" cy="19312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583680" y="2286000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مدیریت نسخه‌های مختلف پروژه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10817352" y="2724912"/>
            <a:ext cx="402336" cy="40233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19" name="Image 2" descr="/home/claude/build2/icons/histo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1959" y="2829519"/>
            <a:ext cx="193121" cy="19312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83680" y="2743200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ثبت تغییرات انجام‌شده در هر مرحله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10817352" y="3182112"/>
            <a:ext cx="402336" cy="40233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22" name="Image 3" descr="/home/claude/build2/icons/bran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1959" y="3286719"/>
            <a:ext cx="193121" cy="19312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583680" y="3200400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امکان بازگشت به نسخه‌های قبلی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10817352" y="3639312"/>
            <a:ext cx="402336" cy="40233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25" name="Image 4" descr="/home/claude/build2/icons/us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1959" y="3743919"/>
            <a:ext cx="193121" cy="19312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583680" y="3657600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مدیریت همکاری میان اعضای گروه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10817352" y="4096512"/>
            <a:ext cx="402336" cy="40233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28" name="Image 5" descr="/home/claude/build2/icons/listO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1959" y="4201119"/>
            <a:ext cx="193121" cy="193121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583680" y="4114800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نگهداری تاریخچه توسعه پروژه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10817352" y="4553712"/>
            <a:ext cx="402336" cy="40233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31" name="Image 6" descr="/home/claude/build2/icons/checkDoub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21959" y="4658319"/>
            <a:ext cx="193121" cy="193121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583680" y="4572000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افزایش قابلیت ردیابی تغییرات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10817352" y="5010912"/>
            <a:ext cx="402336" cy="40233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34" name="Image 7" descr="/home/claude/build2/icons/shie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21959" y="5115519"/>
            <a:ext cx="193121" cy="193121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583680" y="5029200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جلوگیری از از بین رفتن اطلاعات</a:t>
            </a:r>
            <a:endParaRPr lang="en-US" sz="1200" dirty="0"/>
          </a:p>
        </p:txBody>
      </p:sp>
      <p:sp>
        <p:nvSpPr>
          <p:cNvPr id="36" name="Text 2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کامیت‌های کلیدی و مهم پروژه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گزیده‌ای از کامیت‌های فنی و معنادار روند توسعه</a:t>
            </a:r>
            <a:endParaRPr lang="en-US" sz="13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908792" cy="4709160"/>
        </p:xfrm>
        <a:graphic>
          <a:graphicData uri="http://schemas.openxmlformats.org/drawingml/2006/table">
            <a:tbl>
              <a:tblPr/>
              <a:tblGrid>
                <a:gridCol w="4480560"/>
                <a:gridCol w="5148072"/>
                <a:gridCol w="365760"/>
              </a:tblGrid>
              <a:tr h="42976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شرح فعالیت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پیام Commit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dirty="0">
                          <a:solidFill>
                            <a:srgbClr val="1331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ایجاد ساختار اولیه پروژه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create initial project structure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7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dirty="0">
                          <a:solidFill>
                            <a:srgbClr val="1331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پیاده‌سازی کلاس پایه موجودیت‌ها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implement BaseEntity class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7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dirty="0">
                          <a:solidFill>
                            <a:srgbClr val="1331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پیاده‌سازی موجودیت‌های دامنه آزمون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implement exam domain entities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7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dirty="0">
                          <a:solidFill>
                            <a:srgbClr val="1331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پیاده‌سازی استراتژی‌های پایه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implement base strategies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7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dirty="0">
                          <a:solidFill>
                            <a:srgbClr val="1331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افزودن نمودارهای Activity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Create Activity Diagrams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7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dirty="0">
                          <a:solidFill>
                            <a:srgbClr val="1331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ایجاد کنترلر اصلی سیستم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created app controller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7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dirty="0">
                          <a:solidFill>
                            <a:srgbClr val="1331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بهبود کیفیت کد اینترفیس‌ها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improve interfaces code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7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dirty="0">
                          <a:solidFill>
                            <a:srgbClr val="1331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انتقال Enrollment به ماژول اختصاصی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promote Enrollment to dedicated feature module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7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dirty="0">
                          <a:solidFill>
                            <a:srgbClr val="1331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افزودن نمودار توالی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Create Sequence diagram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7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dirty="0">
                          <a:solidFill>
                            <a:srgbClr val="1331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بازآرایی موجودیت جلسه کلاس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reformat ClassSession entity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7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تحلیل و جمع‌بندی کامیت‌ها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روند تکاملی توسعه از ساختار اولیه تا معماری کامل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03504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روند تکاملی توسعه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1225296" y="2295144"/>
            <a:ext cx="566928" cy="566928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7" name="Image 0" descr="/home/claude/build2/icons/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2697" y="2442545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22860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ایجاد ساختار اولیه و مدل‌سازی موجودیت‌های اصلی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508760" y="2880360"/>
            <a:ext cx="0" cy="320040"/>
          </a:xfrm>
          <a:prstGeom prst="line">
            <a:avLst/>
          </a:prstGeom>
          <a:noFill/>
          <a:ln w="19050">
            <a:solidFill>
              <a:srgbClr val="C7D6E0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1225296" y="3255264"/>
            <a:ext cx="566928" cy="56692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11" name="Image 1" descr="/home/claude/build2/icons/cub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697" y="3402665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65960" y="324612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تکمیل زیرساخت‌های نرم‌افزاری (Repository، Controller)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1508760" y="3840480"/>
            <a:ext cx="0" cy="320040"/>
          </a:xfrm>
          <a:prstGeom prst="line">
            <a:avLst/>
          </a:prstGeom>
          <a:noFill/>
          <a:ln w="19050">
            <a:solidFill>
              <a:srgbClr val="C7D6E0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1225296" y="4215384"/>
            <a:ext cx="566928" cy="566928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15" name="Image 2" descr="/home/claude/build2/icons/rand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697" y="4362785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65960" y="42062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پیاده‌سازی الگوهای طراحی (Observer، Strategy)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1508760" y="4800600"/>
            <a:ext cx="0" cy="320040"/>
          </a:xfrm>
          <a:prstGeom prst="line">
            <a:avLst/>
          </a:prstGeom>
          <a:noFill/>
          <a:ln w="19050">
            <a:solidFill>
              <a:srgbClr val="C7D6E0"/>
            </a:solidFill>
            <a:prstDash val="dash"/>
          </a:ln>
        </p:spPr>
      </p:sp>
      <p:sp>
        <p:nvSpPr>
          <p:cNvPr id="18" name="Shape 13"/>
          <p:cNvSpPr/>
          <p:nvPr/>
        </p:nvSpPr>
        <p:spPr>
          <a:xfrm>
            <a:off x="1225296" y="5175504"/>
            <a:ext cx="566928" cy="56692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19" name="Image 3" descr="/home/claude/build2/icons/syn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2697" y="5322905"/>
            <a:ext cx="272125" cy="27212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965960" y="51663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33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بهبود ساختار کد، بازآرایی ماژول‌ها و کلاس‌ها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903720" y="1554480"/>
            <a:ext cx="4617720" cy="4663440"/>
          </a:xfrm>
          <a:prstGeom prst="roundRect">
            <a:avLst>
              <a:gd name="adj" fmla="val 2376"/>
            </a:avLst>
          </a:prstGeom>
          <a:solidFill>
            <a:srgbClr val="1B2A4A"/>
          </a:solidFill>
          <a:ln/>
        </p:spPr>
      </p:sp>
      <p:sp>
        <p:nvSpPr>
          <p:cNvPr id="22" name="Text 16"/>
          <p:cNvSpPr/>
          <p:nvPr/>
        </p:nvSpPr>
        <p:spPr>
          <a:xfrm>
            <a:off x="7178040" y="17373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مستندسازی تغییرات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178040" y="2194560"/>
            <a:ext cx="4069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تمامی تغییرات به‌صورت منظم در Git ثبت شده‌اند. تاریخچه ثبت‌شده نشان می‌دهد توسعه پروژه مرحله‌ای انجام شده و تمامی اصلاحات و به‌روزرسانی‌ها در قالب Commit های متوالی ثبت شده‌اند.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7178040" y="4160520"/>
            <a:ext cx="4069080" cy="0"/>
          </a:xfrm>
          <a:prstGeom prst="line">
            <a:avLst/>
          </a:prstGeom>
          <a:noFill/>
          <a:ln w="12700">
            <a:solidFill>
              <a:srgbClr val="3C587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972800" y="4343400"/>
            <a:ext cx="365760" cy="36576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26" name="Image 4" descr="/home/claude/build2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7898" y="4438498"/>
            <a:ext cx="175565" cy="17556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78040" y="4343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افزایش نظم در مدیریت پروژه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10972800" y="4782312"/>
            <a:ext cx="365760" cy="36576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29" name="Image 5" descr="/home/claude/build2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7898" y="4877410"/>
            <a:ext cx="175565" cy="175565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178040" y="47823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امکان رهگیری تغییرات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10972800" y="5221224"/>
            <a:ext cx="365760" cy="36576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32" name="Image 6" descr="/home/claude/build2/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7898" y="5316322"/>
            <a:ext cx="175565" cy="175565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178040" y="522122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بازیابی نسخه‌های قبلی</a:t>
            </a:r>
            <a:endParaRPr lang="en-US" sz="1150" dirty="0"/>
          </a:p>
        </p:txBody>
      </p:sp>
      <p:sp>
        <p:nvSpPr>
          <p:cNvPr id="34" name="Shape 25"/>
          <p:cNvSpPr/>
          <p:nvPr/>
        </p:nvSpPr>
        <p:spPr>
          <a:xfrm>
            <a:off x="10972800" y="5660136"/>
            <a:ext cx="365760" cy="36576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35" name="Image 7" descr="/home/claude/build2/icon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67898" y="5755234"/>
            <a:ext cx="175565" cy="175565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7178040" y="566013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هماهنگی مؤثر میان اعضای گروه</a:t>
            </a:r>
            <a:endParaRPr lang="en-US" sz="1150" dirty="0"/>
          </a:p>
        </p:txBody>
      </p:sp>
      <p:sp>
        <p:nvSpPr>
          <p:cNvPr id="37" name="Text 2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572000"/>
            <a:ext cx="3840480" cy="38404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جمع‌بندی نهایی فاز ششم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4997196" cy="1920240"/>
          </a:xfrm>
          <a:prstGeom prst="roundRect">
            <a:avLst>
              <a:gd name="adj" fmla="val 5714"/>
            </a:avLst>
          </a:prstGeom>
          <a:solidFill>
            <a:srgbClr val="24365C"/>
          </a:solidFill>
          <a:ln/>
        </p:spPr>
      </p:sp>
      <p:sp>
        <p:nvSpPr>
          <p:cNvPr id="6" name="Shape 4"/>
          <p:cNvSpPr/>
          <p:nvPr/>
        </p:nvSpPr>
        <p:spPr>
          <a:xfrm>
            <a:off x="4745736" y="2125980"/>
            <a:ext cx="777240" cy="7772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7" name="Image 0" descr="/home/claude/build2/icon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7818" y="2328062"/>
            <a:ext cx="373075" cy="373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2148840"/>
            <a:ext cx="38084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نمونه اولیه قابل اجرا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97280" y="2743200"/>
            <a:ext cx="444855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9C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پیاده‌سازی کامل مطابق DCD با معماری لایه‌ای و اصول DDD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68796" y="1920240"/>
            <a:ext cx="4997196" cy="1920240"/>
          </a:xfrm>
          <a:prstGeom prst="roundRect">
            <a:avLst>
              <a:gd name="adj" fmla="val 5714"/>
            </a:avLst>
          </a:prstGeom>
          <a:solidFill>
            <a:srgbClr val="24365C"/>
          </a:solidFill>
          <a:ln/>
        </p:spPr>
      </p:sp>
      <p:sp>
        <p:nvSpPr>
          <p:cNvPr id="11" name="Shape 8"/>
          <p:cNvSpPr/>
          <p:nvPr/>
        </p:nvSpPr>
        <p:spPr>
          <a:xfrm>
            <a:off x="10291572" y="2125980"/>
            <a:ext cx="777240" cy="7772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12" name="Image 1" descr="/home/claude/build2/icons/checkDou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3654" y="2328062"/>
            <a:ext cx="373075" cy="3730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43116" y="2148840"/>
            <a:ext cx="38084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تطابق بالا با طراحی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643116" y="2743200"/>
            <a:ext cx="444855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9C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مدل دامنه، الگوهای GoF و مستندات UML همگی در کد پیاده شده‌اند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22960" y="4114800"/>
            <a:ext cx="4997196" cy="1920240"/>
          </a:xfrm>
          <a:prstGeom prst="roundRect">
            <a:avLst>
              <a:gd name="adj" fmla="val 5714"/>
            </a:avLst>
          </a:prstGeom>
          <a:solidFill>
            <a:srgbClr val="24365C"/>
          </a:solidFill>
          <a:ln/>
        </p:spPr>
      </p:sp>
      <p:sp>
        <p:nvSpPr>
          <p:cNvPr id="16" name="Shape 12"/>
          <p:cNvSpPr/>
          <p:nvPr/>
        </p:nvSpPr>
        <p:spPr>
          <a:xfrm>
            <a:off x="4745736" y="4320540"/>
            <a:ext cx="777240" cy="7772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17" name="Image 2" descr="/home/claude/build2/icons/rand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7818" y="4522622"/>
            <a:ext cx="373075" cy="3730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4343400"/>
            <a:ext cx="38084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الگوهای طراحی فعال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097280" y="4937760"/>
            <a:ext cx="444855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9C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Repository، Strategy، Decorator و Observer به‌صورت کامل اعمال شدند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368796" y="4114800"/>
            <a:ext cx="4997196" cy="1920240"/>
          </a:xfrm>
          <a:prstGeom prst="roundRect">
            <a:avLst>
              <a:gd name="adj" fmla="val 5714"/>
            </a:avLst>
          </a:prstGeom>
          <a:solidFill>
            <a:srgbClr val="24365C"/>
          </a:solidFill>
          <a:ln/>
        </p:spPr>
      </p:sp>
      <p:sp>
        <p:nvSpPr>
          <p:cNvPr id="21" name="Shape 16"/>
          <p:cNvSpPr/>
          <p:nvPr/>
        </p:nvSpPr>
        <p:spPr>
          <a:xfrm>
            <a:off x="10291572" y="4320540"/>
            <a:ext cx="777240" cy="7772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1B2A4A">
                <a:alpha val="25000"/>
              </a:srgbClr>
            </a:outerShdw>
          </a:effectLst>
        </p:spPr>
      </p:sp>
      <p:pic>
        <p:nvPicPr>
          <p:cNvPr id="22" name="Image 3" descr="/home/claude/build2/icons/bran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3654" y="4522622"/>
            <a:ext cx="373075" cy="37307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643116" y="4343400"/>
            <a:ext cx="38084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مستندسازی کامل توسعه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643116" y="4937760"/>
            <a:ext cx="444855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9C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 کامیت پیش از فاز ۶ با روند مرحله‌ای و قابل‌ردیابی در Git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914400" y="62636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8FA6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سامانه یکپارچه آموزش آنلاین مدارس — فاز ششم: پیاده‌سازی، استقرار و تطابق با طراحی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2026-07-10T12:31:34Z</dcterms:created>
  <dcterms:modified xsi:type="dcterms:W3CDTF">2026-07-10T12:31:34Z</dcterms:modified>
</cp:coreProperties>
</file>