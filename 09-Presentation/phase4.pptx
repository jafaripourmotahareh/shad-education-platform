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778240" y="-2011680"/>
            <a:ext cx="5943601" cy="5943601"/>
          </a:xfrm>
          <a:prstGeom prst="ellipse">
            <a:avLst/>
          </a:prstGeom>
          <a:solidFill>
            <a:srgbClr val="6D28D9">
              <a:alpha val="3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-2286000" y="3840479"/>
            <a:ext cx="5029200" cy="5029201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777239" y="2409766"/>
            <a:ext cx="10634473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5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فاز چهارم  ·  معماری نرم‌افزار و مقایسه رویکردها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77239" y="2950044"/>
            <a:ext cx="10634473" cy="683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سامانه یکپارچه آموزش آنلاین مدارس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777239" y="3893749"/>
            <a:ext cx="10634473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پلتفرم «شبکه شاد»  —  معماری سیستم، سرویس‌گرایی و زیرساخت ابری</a:t>
            </a:r>
          </a:p>
        </p:txBody>
      </p:sp>
      <p:sp>
        <p:nvSpPr>
          <p:cNvPr id="25" name="Shape 5"/>
          <p:cNvSpPr/>
          <p:nvPr/>
        </p:nvSpPr>
        <p:spPr>
          <a:xfrm>
            <a:off x="5166359" y="4617720"/>
            <a:ext cx="1828801" cy="1"/>
          </a:xfrm>
          <a:prstGeom prst="line">
            <a:avLst/>
          </a:prstGeom>
          <a:ln w="254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777239" y="4890930"/>
            <a:ext cx="10634473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sz="1300">
                <a:solidFill>
                  <a:srgbClr val="9490D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نمودار معماری  ·  سرویس‌ها  ·  ADR  ·  استقرار ابری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فهرست مطالب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نقشه راه ارائه</a:t>
            </a:r>
          </a:p>
        </p:txBody>
      </p:sp>
      <p:sp>
        <p:nvSpPr>
          <p:cNvPr id="30" name="Shape 2"/>
          <p:cNvSpPr/>
          <p:nvPr/>
        </p:nvSpPr>
        <p:spPr>
          <a:xfrm>
            <a:off x="548640" y="1600200"/>
            <a:ext cx="5349241" cy="841248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" name="Shape 3"/>
          <p:cNvSpPr/>
          <p:nvPr/>
        </p:nvSpPr>
        <p:spPr>
          <a:xfrm>
            <a:off x="5212079" y="1764792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4"/>
          <p:cNvSpPr txBox="1"/>
          <p:nvPr/>
        </p:nvSpPr>
        <p:spPr>
          <a:xfrm>
            <a:off x="5257799" y="1864127"/>
            <a:ext cx="42062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۱</a:t>
            </a:r>
          </a:p>
        </p:txBody>
      </p:sp>
      <p:sp>
        <p:nvSpPr>
          <p:cNvPr id="33" name="Text 5"/>
          <p:cNvSpPr txBox="1"/>
          <p:nvPr/>
        </p:nvSpPr>
        <p:spPr>
          <a:xfrm>
            <a:off x="822959" y="1876412"/>
            <a:ext cx="42976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معماری کلی سیستم و لایه‌ها</a:t>
            </a:r>
          </a:p>
        </p:txBody>
      </p:sp>
      <p:sp>
        <p:nvSpPr>
          <p:cNvPr id="34" name="Shape 6"/>
          <p:cNvSpPr/>
          <p:nvPr/>
        </p:nvSpPr>
        <p:spPr>
          <a:xfrm>
            <a:off x="6263640" y="1600200"/>
            <a:ext cx="5349241" cy="841248"/>
          </a:xfrm>
          <a:prstGeom prst="roundRect">
            <a:avLst>
              <a:gd name="adj" fmla="val 13043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" name="Shape 7"/>
          <p:cNvSpPr/>
          <p:nvPr/>
        </p:nvSpPr>
        <p:spPr>
          <a:xfrm>
            <a:off x="10927080" y="1764792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8"/>
          <p:cNvSpPr txBox="1"/>
          <p:nvPr/>
        </p:nvSpPr>
        <p:spPr>
          <a:xfrm>
            <a:off x="10972800" y="1864127"/>
            <a:ext cx="42062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۲</a:t>
            </a:r>
          </a:p>
        </p:txBody>
      </p:sp>
      <p:sp>
        <p:nvSpPr>
          <p:cNvPr id="37" name="Text 9"/>
          <p:cNvSpPr txBox="1"/>
          <p:nvPr/>
        </p:nvSpPr>
        <p:spPr>
          <a:xfrm>
            <a:off x="6537960" y="1876412"/>
            <a:ext cx="429768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مقایسه رویکرد سنتی و مدرن توسعه</a:t>
            </a:r>
          </a:p>
        </p:txBody>
      </p:sp>
      <p:sp>
        <p:nvSpPr>
          <p:cNvPr id="38" name="Shape 10"/>
          <p:cNvSpPr/>
          <p:nvPr/>
        </p:nvSpPr>
        <p:spPr>
          <a:xfrm>
            <a:off x="548640" y="2606039"/>
            <a:ext cx="5349241" cy="841249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" name="Shape 11"/>
          <p:cNvSpPr/>
          <p:nvPr/>
        </p:nvSpPr>
        <p:spPr>
          <a:xfrm>
            <a:off x="5212079" y="2770632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2"/>
          <p:cNvSpPr txBox="1"/>
          <p:nvPr/>
        </p:nvSpPr>
        <p:spPr>
          <a:xfrm>
            <a:off x="5257799" y="2869967"/>
            <a:ext cx="42062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۳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822959" y="2882252"/>
            <a:ext cx="42976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مقایسه سبک‌های معماری (تک‌هسته‌ای / لایه‌ای / سرویس‌گرا)</a:t>
            </a:r>
          </a:p>
        </p:txBody>
      </p:sp>
      <p:sp>
        <p:nvSpPr>
          <p:cNvPr id="42" name="Shape 14"/>
          <p:cNvSpPr/>
          <p:nvPr/>
        </p:nvSpPr>
        <p:spPr>
          <a:xfrm>
            <a:off x="6263640" y="2606039"/>
            <a:ext cx="5349241" cy="841249"/>
          </a:xfrm>
          <a:prstGeom prst="roundRect">
            <a:avLst>
              <a:gd name="adj" fmla="val 13043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" name="Shape 15"/>
          <p:cNvSpPr/>
          <p:nvPr/>
        </p:nvSpPr>
        <p:spPr>
          <a:xfrm>
            <a:off x="10927080" y="2770632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6"/>
          <p:cNvSpPr txBox="1"/>
          <p:nvPr/>
        </p:nvSpPr>
        <p:spPr>
          <a:xfrm>
            <a:off x="10972800" y="2869967"/>
            <a:ext cx="42062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۴</a:t>
            </a:r>
          </a:p>
        </p:txBody>
      </p:sp>
      <p:sp>
        <p:nvSpPr>
          <p:cNvPr id="45" name="Text 17"/>
          <p:cNvSpPr txBox="1"/>
          <p:nvPr/>
        </p:nvSpPr>
        <p:spPr>
          <a:xfrm>
            <a:off x="6537960" y="2882252"/>
            <a:ext cx="429768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زیرساخت Cloud Native</a:t>
            </a:r>
          </a:p>
        </p:txBody>
      </p:sp>
      <p:sp>
        <p:nvSpPr>
          <p:cNvPr id="46" name="Shape 18"/>
          <p:cNvSpPr/>
          <p:nvPr/>
        </p:nvSpPr>
        <p:spPr>
          <a:xfrm>
            <a:off x="548640" y="3611879"/>
            <a:ext cx="5349241" cy="841249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" name="Shape 19"/>
          <p:cNvSpPr/>
          <p:nvPr/>
        </p:nvSpPr>
        <p:spPr>
          <a:xfrm>
            <a:off x="5212079" y="3776471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20"/>
          <p:cNvSpPr txBox="1"/>
          <p:nvPr/>
        </p:nvSpPr>
        <p:spPr>
          <a:xfrm>
            <a:off x="5257799" y="3875807"/>
            <a:ext cx="420625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۵</a:t>
            </a:r>
          </a:p>
        </p:txBody>
      </p:sp>
      <p:sp>
        <p:nvSpPr>
          <p:cNvPr id="49" name="Text 21"/>
          <p:cNvSpPr txBox="1"/>
          <p:nvPr/>
        </p:nvSpPr>
        <p:spPr>
          <a:xfrm>
            <a:off x="822959" y="3888092"/>
            <a:ext cx="42976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شناسایی سرویس‌های SOA</a:t>
            </a:r>
          </a:p>
        </p:txBody>
      </p:sp>
      <p:sp>
        <p:nvSpPr>
          <p:cNvPr id="50" name="Shape 22"/>
          <p:cNvSpPr/>
          <p:nvPr/>
        </p:nvSpPr>
        <p:spPr>
          <a:xfrm>
            <a:off x="6263640" y="3611879"/>
            <a:ext cx="5349241" cy="841249"/>
          </a:xfrm>
          <a:prstGeom prst="roundRect">
            <a:avLst>
              <a:gd name="adj" fmla="val 13043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" name="Shape 23"/>
          <p:cNvSpPr/>
          <p:nvPr/>
        </p:nvSpPr>
        <p:spPr>
          <a:xfrm>
            <a:off x="10927080" y="3776471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24"/>
          <p:cNvSpPr txBox="1"/>
          <p:nvPr/>
        </p:nvSpPr>
        <p:spPr>
          <a:xfrm>
            <a:off x="10972800" y="3875807"/>
            <a:ext cx="420625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۶</a:t>
            </a:r>
          </a:p>
        </p:txBody>
      </p:sp>
      <p:sp>
        <p:nvSpPr>
          <p:cNvPr id="53" name="Text 25"/>
          <p:cNvSpPr txBox="1"/>
          <p:nvPr/>
        </p:nvSpPr>
        <p:spPr>
          <a:xfrm>
            <a:off x="6537960" y="3888092"/>
            <a:ext cx="429768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رابط سرویس‌ها و قراردادهای داده‌ای</a:t>
            </a:r>
          </a:p>
        </p:txBody>
      </p:sp>
      <p:sp>
        <p:nvSpPr>
          <p:cNvPr id="54" name="Shape 26"/>
          <p:cNvSpPr/>
          <p:nvPr/>
        </p:nvSpPr>
        <p:spPr>
          <a:xfrm>
            <a:off x="548640" y="4617720"/>
            <a:ext cx="5349241" cy="841249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Shape 27"/>
          <p:cNvSpPr/>
          <p:nvPr/>
        </p:nvSpPr>
        <p:spPr>
          <a:xfrm>
            <a:off x="5212079" y="4782311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28"/>
          <p:cNvSpPr txBox="1"/>
          <p:nvPr/>
        </p:nvSpPr>
        <p:spPr>
          <a:xfrm>
            <a:off x="5257799" y="4881647"/>
            <a:ext cx="42062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۷</a:t>
            </a:r>
          </a:p>
        </p:txBody>
      </p:sp>
      <p:sp>
        <p:nvSpPr>
          <p:cNvPr id="57" name="Text 29"/>
          <p:cNvSpPr txBox="1"/>
          <p:nvPr/>
        </p:nvSpPr>
        <p:spPr>
          <a:xfrm>
            <a:off x="822959" y="4893932"/>
            <a:ext cx="42976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معماری ترکیبی نهایی و تصمیمات (ADR)</a:t>
            </a:r>
          </a:p>
        </p:txBody>
      </p:sp>
      <p:sp>
        <p:nvSpPr>
          <p:cNvPr id="58" name="Shape 30"/>
          <p:cNvSpPr/>
          <p:nvPr/>
        </p:nvSpPr>
        <p:spPr>
          <a:xfrm>
            <a:off x="6263640" y="4617720"/>
            <a:ext cx="5349241" cy="841249"/>
          </a:xfrm>
          <a:prstGeom prst="roundRect">
            <a:avLst>
              <a:gd name="adj" fmla="val 13043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" name="Shape 31"/>
          <p:cNvSpPr/>
          <p:nvPr/>
        </p:nvSpPr>
        <p:spPr>
          <a:xfrm>
            <a:off x="10927080" y="4782311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32"/>
          <p:cNvSpPr txBox="1"/>
          <p:nvPr/>
        </p:nvSpPr>
        <p:spPr>
          <a:xfrm>
            <a:off x="10972800" y="4881647"/>
            <a:ext cx="42062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۸</a:t>
            </a:r>
          </a:p>
        </p:txBody>
      </p:sp>
      <p:sp>
        <p:nvSpPr>
          <p:cNvPr id="61" name="Text 33"/>
          <p:cNvSpPr txBox="1"/>
          <p:nvPr/>
        </p:nvSpPr>
        <p:spPr>
          <a:xfrm>
            <a:off x="6537960" y="4893932"/>
            <a:ext cx="429768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نمودار مؤلفه و نمودار استقرار</a:t>
            </a:r>
          </a:p>
        </p:txBody>
      </p:sp>
      <p:sp>
        <p:nvSpPr>
          <p:cNvPr id="62" name="Shape 34"/>
          <p:cNvSpPr/>
          <p:nvPr/>
        </p:nvSpPr>
        <p:spPr>
          <a:xfrm>
            <a:off x="548640" y="5623559"/>
            <a:ext cx="5349241" cy="841249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" name="Shape 35"/>
          <p:cNvSpPr/>
          <p:nvPr/>
        </p:nvSpPr>
        <p:spPr>
          <a:xfrm>
            <a:off x="5212079" y="5788152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36"/>
          <p:cNvSpPr txBox="1"/>
          <p:nvPr/>
        </p:nvSpPr>
        <p:spPr>
          <a:xfrm>
            <a:off x="5257799" y="5887487"/>
            <a:ext cx="42062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۹</a:t>
            </a:r>
          </a:p>
        </p:txBody>
      </p:sp>
      <p:sp>
        <p:nvSpPr>
          <p:cNvPr id="65" name="Text 37"/>
          <p:cNvSpPr txBox="1"/>
          <p:nvPr/>
        </p:nvSpPr>
        <p:spPr>
          <a:xfrm>
            <a:off x="822959" y="5899772"/>
            <a:ext cx="42976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مدیریت نیازمندی‌ها</a:t>
            </a:r>
          </a:p>
        </p:txBody>
      </p:sp>
      <p:sp>
        <p:nvSpPr>
          <p:cNvPr id="66" name="Shape 38"/>
          <p:cNvSpPr/>
          <p:nvPr/>
        </p:nvSpPr>
        <p:spPr>
          <a:xfrm>
            <a:off x="6263640" y="5623559"/>
            <a:ext cx="5349241" cy="841249"/>
          </a:xfrm>
          <a:prstGeom prst="roundRect">
            <a:avLst>
              <a:gd name="adj" fmla="val 13043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" name="Shape 39"/>
          <p:cNvSpPr/>
          <p:nvPr/>
        </p:nvSpPr>
        <p:spPr>
          <a:xfrm>
            <a:off x="10927080" y="5788152"/>
            <a:ext cx="512065" cy="512065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40"/>
          <p:cNvSpPr txBox="1"/>
          <p:nvPr/>
        </p:nvSpPr>
        <p:spPr>
          <a:xfrm>
            <a:off x="10972800" y="5887487"/>
            <a:ext cx="42062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۱۰</a:t>
            </a:r>
          </a:p>
        </p:txBody>
      </p:sp>
      <p:sp>
        <p:nvSpPr>
          <p:cNvPr id="69" name="Text 41"/>
          <p:cNvSpPr txBox="1"/>
          <p:nvPr/>
        </p:nvSpPr>
        <p:spPr>
          <a:xfrm>
            <a:off x="6537960" y="5899772"/>
            <a:ext cx="429768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سناریوی همکاری سرویس‌ها و جمع‌بندی</a:t>
            </a:r>
          </a:p>
        </p:txBody>
      </p:sp>
      <p:sp>
        <p:nvSpPr>
          <p:cNvPr id="70" name="Text 42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معماری کلی سیستم</a:t>
            </a:r>
          </a:p>
        </p:txBody>
      </p:sp>
      <p:sp>
        <p:nvSpPr>
          <p:cNvPr id="73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لایه‌های معماری «شاد»</a:t>
            </a:r>
          </a:p>
        </p:txBody>
      </p:sp>
      <p:sp>
        <p:nvSpPr>
          <p:cNvPr id="74" name="Text 2"/>
          <p:cNvSpPr txBox="1"/>
          <p:nvPr/>
        </p:nvSpPr>
        <p:spPr>
          <a:xfrm>
            <a:off x="594360" y="146193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معماری اجتماعی–فناورانه و ترکیبی (Hybrid) که از چند الگوی معماری برای پشتیبانی از میلیون‌ها کاربر همزمان استفاده می‌کند.</a:t>
            </a:r>
          </a:p>
        </p:txBody>
      </p:sp>
      <p:sp>
        <p:nvSpPr>
          <p:cNvPr id="75" name="Shape 3"/>
          <p:cNvSpPr/>
          <p:nvPr/>
        </p:nvSpPr>
        <p:spPr>
          <a:xfrm>
            <a:off x="548640" y="20574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4"/>
          <p:cNvSpPr/>
          <p:nvPr/>
        </p:nvSpPr>
        <p:spPr>
          <a:xfrm>
            <a:off x="548640" y="205740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5"/>
          <p:cNvSpPr/>
          <p:nvPr/>
        </p:nvSpPr>
        <p:spPr>
          <a:xfrm>
            <a:off x="548640" y="2331720"/>
            <a:ext cx="2606040" cy="228601"/>
          </a:xfrm>
          <a:prstGeom prst="rect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6"/>
          <p:cNvSpPr txBox="1"/>
          <p:nvPr/>
        </p:nvSpPr>
        <p:spPr>
          <a:xfrm>
            <a:off x="731519" y="2156735"/>
            <a:ext cx="365762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9" name="Text 7"/>
          <p:cNvSpPr txBox="1"/>
          <p:nvPr/>
        </p:nvSpPr>
        <p:spPr>
          <a:xfrm>
            <a:off x="777240" y="2912686"/>
            <a:ext cx="2148840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لایه کلاینت</a:t>
            </a:r>
          </a:p>
        </p:txBody>
      </p:sp>
      <p:sp>
        <p:nvSpPr>
          <p:cNvPr id="80" name="Text 8"/>
          <p:cNvSpPr txBox="1"/>
          <p:nvPr/>
        </p:nvSpPr>
        <p:spPr>
          <a:xfrm>
            <a:off x="777240" y="3428999"/>
            <a:ext cx="2148840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defRPr sz="1100"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اپلیکیشن دانش‌آموز، اپلیکیشن معلم و نسخه وب — ارسال درخواست و نمایش نتایج</a:t>
            </a:r>
          </a:p>
        </p:txBody>
      </p:sp>
      <p:sp>
        <p:nvSpPr>
          <p:cNvPr id="81" name="Shape 9"/>
          <p:cNvSpPr/>
          <p:nvPr/>
        </p:nvSpPr>
        <p:spPr>
          <a:xfrm>
            <a:off x="3383279" y="2057400"/>
            <a:ext cx="2606041" cy="4023360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0"/>
          <p:cNvSpPr/>
          <p:nvPr/>
        </p:nvSpPr>
        <p:spPr>
          <a:xfrm>
            <a:off x="3383279" y="2057400"/>
            <a:ext cx="2606041" cy="502920"/>
          </a:xfrm>
          <a:prstGeom prst="roundRect">
            <a:avLst>
              <a:gd name="adj" fmla="val 21818"/>
            </a:avLst>
          </a:prstGeom>
          <a:solidFill>
            <a:srgbClr val="6D28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1"/>
          <p:cNvSpPr/>
          <p:nvPr/>
        </p:nvSpPr>
        <p:spPr>
          <a:xfrm>
            <a:off x="3383279" y="2331720"/>
            <a:ext cx="2606041" cy="228601"/>
          </a:xfrm>
          <a:prstGeom prst="rect">
            <a:avLst/>
          </a:prstGeom>
          <a:solidFill>
            <a:srgbClr val="6D28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2"/>
          <p:cNvSpPr txBox="1"/>
          <p:nvPr/>
        </p:nvSpPr>
        <p:spPr>
          <a:xfrm>
            <a:off x="3566160" y="2156735"/>
            <a:ext cx="3657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5" name="Text 13"/>
          <p:cNvSpPr txBox="1"/>
          <p:nvPr/>
        </p:nvSpPr>
        <p:spPr>
          <a:xfrm>
            <a:off x="3611879" y="2912686"/>
            <a:ext cx="214884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لایه سرویس‌ها</a:t>
            </a:r>
          </a:p>
        </p:txBody>
      </p:sp>
      <p:sp>
        <p:nvSpPr>
          <p:cNvPr id="86" name="Text 14"/>
          <p:cNvSpPr txBox="1"/>
          <p:nvPr/>
        </p:nvSpPr>
        <p:spPr>
          <a:xfrm>
            <a:off x="3611879" y="3428999"/>
            <a:ext cx="214884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defRPr sz="1100"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احراز هویت، مدیریت کلاس، محتوا، پیام‌رسانی، اعلان‌ها و آزمون‌ها</a:t>
            </a:r>
          </a:p>
        </p:txBody>
      </p:sp>
      <p:sp>
        <p:nvSpPr>
          <p:cNvPr id="87" name="Shape 15"/>
          <p:cNvSpPr/>
          <p:nvPr/>
        </p:nvSpPr>
        <p:spPr>
          <a:xfrm>
            <a:off x="6217920" y="2057400"/>
            <a:ext cx="2606041" cy="4023360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6"/>
          <p:cNvSpPr/>
          <p:nvPr/>
        </p:nvSpPr>
        <p:spPr>
          <a:xfrm>
            <a:off x="6217920" y="2057400"/>
            <a:ext cx="2606041" cy="502920"/>
          </a:xfrm>
          <a:prstGeom prst="roundRect">
            <a:avLst>
              <a:gd name="adj" fmla="val 21818"/>
            </a:avLst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17"/>
          <p:cNvSpPr/>
          <p:nvPr/>
        </p:nvSpPr>
        <p:spPr>
          <a:xfrm>
            <a:off x="6217920" y="2331720"/>
            <a:ext cx="2606041" cy="228601"/>
          </a:xfrm>
          <a:prstGeom prst="rect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18"/>
          <p:cNvSpPr txBox="1"/>
          <p:nvPr/>
        </p:nvSpPr>
        <p:spPr>
          <a:xfrm>
            <a:off x="6400799" y="2156735"/>
            <a:ext cx="3657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1" name="Text 19"/>
          <p:cNvSpPr txBox="1"/>
          <p:nvPr/>
        </p:nvSpPr>
        <p:spPr>
          <a:xfrm>
            <a:off x="6446520" y="2912686"/>
            <a:ext cx="2148840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لایه داده</a:t>
            </a:r>
          </a:p>
        </p:txBody>
      </p:sp>
      <p:sp>
        <p:nvSpPr>
          <p:cNvPr id="92" name="Text 20"/>
          <p:cNvSpPr txBox="1"/>
          <p:nvPr/>
        </p:nvSpPr>
        <p:spPr>
          <a:xfrm>
            <a:off x="6446520" y="3428999"/>
            <a:ext cx="2148840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defRPr sz="1100"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پایگاه‌داده کاربران، کلاس‌ها، نمرات و تاریخچه پیام‌ها</a:t>
            </a:r>
          </a:p>
        </p:txBody>
      </p:sp>
      <p:sp>
        <p:nvSpPr>
          <p:cNvPr id="93" name="Shape 21"/>
          <p:cNvSpPr/>
          <p:nvPr/>
        </p:nvSpPr>
        <p:spPr>
          <a:xfrm>
            <a:off x="9052559" y="2057400"/>
            <a:ext cx="2606041" cy="4023360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22"/>
          <p:cNvSpPr/>
          <p:nvPr/>
        </p:nvSpPr>
        <p:spPr>
          <a:xfrm>
            <a:off x="9052559" y="2057400"/>
            <a:ext cx="2606041" cy="502920"/>
          </a:xfrm>
          <a:prstGeom prst="roundRect">
            <a:avLst>
              <a:gd name="adj" fmla="val 21818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Shape 23"/>
          <p:cNvSpPr/>
          <p:nvPr/>
        </p:nvSpPr>
        <p:spPr>
          <a:xfrm>
            <a:off x="9052559" y="2331720"/>
            <a:ext cx="2606041" cy="228601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24"/>
          <p:cNvSpPr txBox="1"/>
          <p:nvPr/>
        </p:nvSpPr>
        <p:spPr>
          <a:xfrm>
            <a:off x="9235439" y="2156735"/>
            <a:ext cx="3657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7" name="Text 25"/>
          <p:cNvSpPr txBox="1"/>
          <p:nvPr/>
        </p:nvSpPr>
        <p:spPr>
          <a:xfrm>
            <a:off x="9281160" y="2912686"/>
            <a:ext cx="214884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لایه زیرساخت</a:t>
            </a:r>
          </a:p>
        </p:txBody>
      </p:sp>
      <p:sp>
        <p:nvSpPr>
          <p:cNvPr id="98" name="Text 26"/>
          <p:cNvSpPr txBox="1"/>
          <p:nvPr/>
        </p:nvSpPr>
        <p:spPr>
          <a:xfrm>
            <a:off x="9281160" y="3428999"/>
            <a:ext cx="214884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defRPr sz="1100"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سرورهای مرکزی، شبکه، CDN و سیستم‌های امنیت و مانیتورینگ</a:t>
            </a:r>
          </a:p>
        </p:txBody>
      </p:sp>
      <p:sp>
        <p:nvSpPr>
          <p:cNvPr id="99" name="Text 27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اتصالات و تعامل اجزا</a:t>
            </a:r>
          </a:p>
        </p:txBody>
      </p:sp>
      <p:sp>
        <p:nvSpPr>
          <p:cNvPr id="102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ارتباط چندلایه مبتنی بر API</a:t>
            </a:r>
          </a:p>
        </p:txBody>
      </p:sp>
      <p:sp>
        <p:nvSpPr>
          <p:cNvPr id="103" name="Shape 2"/>
          <p:cNvSpPr/>
          <p:nvPr/>
        </p:nvSpPr>
        <p:spPr>
          <a:xfrm>
            <a:off x="548640" y="1737360"/>
            <a:ext cx="2468880" cy="914401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Text 3"/>
          <p:cNvSpPr txBox="1"/>
          <p:nvPr/>
        </p:nvSpPr>
        <p:spPr>
          <a:xfrm>
            <a:off x="594359" y="2056290"/>
            <a:ext cx="237744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لایه داده (ORM)</a:t>
            </a:r>
          </a:p>
        </p:txBody>
      </p:sp>
      <p:sp>
        <p:nvSpPr>
          <p:cNvPr id="105" name="Shape 4"/>
          <p:cNvSpPr/>
          <p:nvPr/>
        </p:nvSpPr>
        <p:spPr>
          <a:xfrm flipH="1">
            <a:off x="3072383" y="2075688"/>
            <a:ext cx="393193" cy="23774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Shape 5"/>
          <p:cNvSpPr/>
          <p:nvPr/>
        </p:nvSpPr>
        <p:spPr>
          <a:xfrm>
            <a:off x="3520440" y="1737360"/>
            <a:ext cx="2468881" cy="914401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" name="Text 6"/>
          <p:cNvSpPr txBox="1"/>
          <p:nvPr/>
        </p:nvSpPr>
        <p:spPr>
          <a:xfrm>
            <a:off x="3566160" y="2056290"/>
            <a:ext cx="237744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سرویس‌های REST (JSON)</a:t>
            </a:r>
          </a:p>
        </p:txBody>
      </p:sp>
      <p:sp>
        <p:nvSpPr>
          <p:cNvPr id="108" name="Shape 7"/>
          <p:cNvSpPr/>
          <p:nvPr/>
        </p:nvSpPr>
        <p:spPr>
          <a:xfrm flipH="1">
            <a:off x="6044184" y="2075688"/>
            <a:ext cx="393193" cy="23774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8"/>
          <p:cNvSpPr/>
          <p:nvPr/>
        </p:nvSpPr>
        <p:spPr>
          <a:xfrm>
            <a:off x="6492240" y="1737360"/>
            <a:ext cx="2468881" cy="914401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" name="Text 9"/>
          <p:cNvSpPr txBox="1"/>
          <p:nvPr/>
        </p:nvSpPr>
        <p:spPr>
          <a:xfrm>
            <a:off x="6537960" y="2056290"/>
            <a:ext cx="237744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Gateway API</a:t>
            </a:r>
          </a:p>
        </p:txBody>
      </p:sp>
      <p:sp>
        <p:nvSpPr>
          <p:cNvPr id="111" name="Shape 10"/>
          <p:cNvSpPr/>
          <p:nvPr/>
        </p:nvSpPr>
        <p:spPr>
          <a:xfrm flipH="1">
            <a:off x="9015983" y="2075688"/>
            <a:ext cx="393193" cy="23774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11"/>
          <p:cNvSpPr/>
          <p:nvPr/>
        </p:nvSpPr>
        <p:spPr>
          <a:xfrm>
            <a:off x="9464040" y="1737360"/>
            <a:ext cx="2468881" cy="914401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" name="Text 12"/>
          <p:cNvSpPr txBox="1"/>
          <p:nvPr/>
        </p:nvSpPr>
        <p:spPr>
          <a:xfrm>
            <a:off x="9509760" y="2056290"/>
            <a:ext cx="237744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کاربر (وب / موبایل)</a:t>
            </a:r>
          </a:p>
        </p:txBody>
      </p:sp>
      <p:sp>
        <p:nvSpPr>
          <p:cNvPr id="114" name="Text 13"/>
          <p:cNvSpPr txBox="1"/>
          <p:nvPr/>
        </p:nvSpPr>
        <p:spPr>
          <a:xfrm>
            <a:off x="594360" y="31078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فایل‌های حجیم (ویدیو، PDF) از طریق CDN توزیع می‌شوند و اعلان‌ها/پیام‌ها به‌صورت Real-Time منتقل می‌شوند.</a:t>
            </a:r>
          </a:p>
        </p:txBody>
      </p:sp>
      <p:sp>
        <p:nvSpPr>
          <p:cNvPr id="115" name="Shape 14"/>
          <p:cNvSpPr/>
          <p:nvPr/>
        </p:nvSpPr>
        <p:spPr>
          <a:xfrm>
            <a:off x="548640" y="3749040"/>
            <a:ext cx="11091672" cy="777241"/>
          </a:xfrm>
          <a:prstGeom prst="roundRect">
            <a:avLst>
              <a:gd name="adj" fmla="val 14118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" name="Shape 15"/>
          <p:cNvSpPr/>
          <p:nvPr/>
        </p:nvSpPr>
        <p:spPr>
          <a:xfrm>
            <a:off x="10881359" y="3995928"/>
            <a:ext cx="292609" cy="292609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6"/>
          <p:cNvSpPr txBox="1"/>
          <p:nvPr/>
        </p:nvSpPr>
        <p:spPr>
          <a:xfrm>
            <a:off x="10927079" y="4010105"/>
            <a:ext cx="201169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8" name="Text 17"/>
          <p:cNvSpPr txBox="1"/>
          <p:nvPr/>
        </p:nvSpPr>
        <p:spPr>
          <a:xfrm>
            <a:off x="822960" y="3999390"/>
            <a:ext cx="9875520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کلاینت با سرور از طریق HTTPS و Gateway API ارتباط برقرار می‌کند.</a:t>
            </a:r>
          </a:p>
        </p:txBody>
      </p:sp>
      <p:sp>
        <p:nvSpPr>
          <p:cNvPr id="119" name="Shape 18"/>
          <p:cNvSpPr/>
          <p:nvPr/>
        </p:nvSpPr>
        <p:spPr>
          <a:xfrm>
            <a:off x="548640" y="4663440"/>
            <a:ext cx="11091672" cy="777241"/>
          </a:xfrm>
          <a:prstGeom prst="roundRect">
            <a:avLst>
              <a:gd name="adj" fmla="val 14118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" name="Shape 19"/>
          <p:cNvSpPr/>
          <p:nvPr/>
        </p:nvSpPr>
        <p:spPr>
          <a:xfrm>
            <a:off x="10881359" y="4910328"/>
            <a:ext cx="292609" cy="292609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20"/>
          <p:cNvSpPr txBox="1"/>
          <p:nvPr/>
        </p:nvSpPr>
        <p:spPr>
          <a:xfrm>
            <a:off x="10927079" y="4924505"/>
            <a:ext cx="201169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2" name="Text 21"/>
          <p:cNvSpPr txBox="1"/>
          <p:nvPr/>
        </p:nvSpPr>
        <p:spPr>
          <a:xfrm>
            <a:off x="822960" y="4913790"/>
            <a:ext cx="9875520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سرویس‌ها مستقل اما از طریق REST API با یکدیگر تعامل دارند؛ تبادل داده با فرمت JSON.</a:t>
            </a:r>
          </a:p>
        </p:txBody>
      </p:sp>
      <p:sp>
        <p:nvSpPr>
          <p:cNvPr id="123" name="Shape 22"/>
          <p:cNvSpPr/>
          <p:nvPr/>
        </p:nvSpPr>
        <p:spPr>
          <a:xfrm>
            <a:off x="548640" y="5577840"/>
            <a:ext cx="11091672" cy="777241"/>
          </a:xfrm>
          <a:prstGeom prst="roundRect">
            <a:avLst>
              <a:gd name="adj" fmla="val 14118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Shape 23"/>
          <p:cNvSpPr/>
          <p:nvPr/>
        </p:nvSpPr>
        <p:spPr>
          <a:xfrm>
            <a:off x="10881359" y="5824728"/>
            <a:ext cx="292609" cy="292609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24"/>
          <p:cNvSpPr txBox="1"/>
          <p:nvPr/>
        </p:nvSpPr>
        <p:spPr>
          <a:xfrm>
            <a:off x="10927079" y="5838905"/>
            <a:ext cx="201169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6" name="Text 25"/>
          <p:cNvSpPr txBox="1"/>
          <p:nvPr/>
        </p:nvSpPr>
        <p:spPr>
          <a:xfrm>
            <a:off x="822960" y="5828190"/>
            <a:ext cx="9875520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تمام سرویس‌ها برای ذخیره و بازیابی اطلاعات به لایه داده متصل‌اند.</a:t>
            </a:r>
          </a:p>
        </p:txBody>
      </p:sp>
      <p:sp>
        <p:nvSpPr>
          <p:cNvPr id="127" name="Text 26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مدل فرآیند توسعه</a:t>
            </a:r>
          </a:p>
        </p:txBody>
      </p:sp>
      <p:sp>
        <p:nvSpPr>
          <p:cNvPr id="130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چرا Agile + Scrum + DevOps؟</a:t>
            </a:r>
          </a:p>
        </p:txBody>
      </p:sp>
      <p:sp>
        <p:nvSpPr>
          <p:cNvPr id="131" name="Shape 2"/>
          <p:cNvSpPr/>
          <p:nvPr/>
        </p:nvSpPr>
        <p:spPr>
          <a:xfrm>
            <a:off x="548640" y="1600200"/>
            <a:ext cx="5349241" cy="4480560"/>
          </a:xfrm>
          <a:prstGeom prst="roundRect">
            <a:avLst>
              <a:gd name="adj" fmla="val 2449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Text 3"/>
          <p:cNvSpPr txBox="1"/>
          <p:nvPr/>
        </p:nvSpPr>
        <p:spPr>
          <a:xfrm>
            <a:off x="868680" y="1877843"/>
            <a:ext cx="47091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6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مدل آبشاری (Waterfall)</a:t>
            </a:r>
          </a:p>
        </p:txBody>
      </p:sp>
      <p:sp>
        <p:nvSpPr>
          <p:cNvPr id="133" name="Text 4"/>
          <p:cNvSpPr txBox="1"/>
          <p:nvPr/>
        </p:nvSpPr>
        <p:spPr>
          <a:xfrm>
            <a:off x="868680" y="3465961"/>
            <a:ext cx="4709161" cy="1297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مراحل خطی: تحلیل، طراحی، پیاده‌سازی، آزمون، استقرار</a:t>
            </a:r>
          </a:p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مستندسازی دقیق و کنترل مناسب فرآیند</a:t>
            </a:r>
          </a:p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تغییرات پرهزینه و زمان‌بر</a:t>
            </a:r>
          </a:p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نیازمندی‌های سامانه آموزشی ثابت نمی‌مانند</a:t>
            </a:r>
          </a:p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ناسازگار با تغییر مداوم قوانین آموزشی و نیاز کاربران</a:t>
            </a:r>
          </a:p>
        </p:txBody>
      </p:sp>
      <p:sp>
        <p:nvSpPr>
          <p:cNvPr id="134" name="Shape 5"/>
          <p:cNvSpPr/>
          <p:nvPr/>
        </p:nvSpPr>
        <p:spPr>
          <a:xfrm>
            <a:off x="6263640" y="1600200"/>
            <a:ext cx="5349241" cy="4480560"/>
          </a:xfrm>
          <a:prstGeom prst="roundRect">
            <a:avLst>
              <a:gd name="adj" fmla="val 2449"/>
            </a:avLst>
          </a:prstGeom>
          <a:solidFill>
            <a:srgbClr val="F0FDF4"/>
          </a:solidFill>
          <a:ln w="12700">
            <a:solidFill>
              <a:srgbClr val="86EFAC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" name="Text 6"/>
          <p:cNvSpPr txBox="1"/>
          <p:nvPr/>
        </p:nvSpPr>
        <p:spPr>
          <a:xfrm>
            <a:off x="6583679" y="1877843"/>
            <a:ext cx="47091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60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چابک (Agile/Scrum) + DevOps</a:t>
            </a:r>
          </a:p>
        </p:txBody>
      </p:sp>
      <p:sp>
        <p:nvSpPr>
          <p:cNvPr id="136" name="Text 7"/>
          <p:cNvSpPr txBox="1"/>
          <p:nvPr/>
        </p:nvSpPr>
        <p:spPr>
          <a:xfrm>
            <a:off x="6583679" y="3465961"/>
            <a:ext cx="4709161" cy="1297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توسعه در Sprintهای کوتاه با خروجی قابل استفاده</a:t>
            </a:r>
          </a:p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واکنش سریع به امکانات جدید و تغییر نیازمندی‌ها</a:t>
            </a:r>
          </a:p>
          <a:p>
            <a:pPr algn="r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DevOps: یکپارچگی تیم توسعه و عملیات</a:t>
            </a:r>
          </a:p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خودکارسازی Build / Test / Deploy</a:t>
            </a:r>
          </a:p>
          <a:p>
            <a:pPr algn="r" rtl="1">
              <a:lnSpc>
                <a:spcPct val="135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کاهش خطا و افزایش سرعت استقرار نسخه‌های جدید</a:t>
            </a:r>
          </a:p>
        </p:txBody>
      </p:sp>
      <p:sp>
        <p:nvSpPr>
          <p:cNvPr id="137" name="Text 8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مقایسه سبک‌های معماری</a:t>
            </a:r>
          </a:p>
        </p:txBody>
      </p:sp>
      <p:sp>
        <p:nvSpPr>
          <p:cNvPr id="140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تک‌هسته‌ای در برابر لایه‌ای در برابر سرویس‌گرا</a:t>
            </a:r>
          </a:p>
        </p:txBody>
      </p:sp>
      <p:graphicFrame>
        <p:nvGraphicFramePr>
          <p:cNvPr id="141" name="Table 0"/>
          <p:cNvGraphicFramePr/>
          <p:nvPr/>
        </p:nvGraphicFramePr>
        <p:xfrm>
          <a:off x="548640" y="1554480"/>
          <a:ext cx="11091672" cy="4114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سرویس‌گرا (SOA)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لایه‌ای (Layered)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تک‌هسته‌ای (Monolithic)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معیار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4338C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هر سرویس مستقل مقیاس‌پذیر است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کل سیستم به‌صورت واحد اجرا می‌شود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کل سیستم باید مقیاس داده شود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مقیاس‌پذیری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کاملاً امکان‌پذیر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محدود به‌دلیل وابستگی لایه‌ها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عملاً غیرممکن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توسعه موازی تیم‌ها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پایین (Loose Coupling)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بالا بین لایه‌ها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بسیار بالا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وابستگی اجزا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سامانه‌های بزرگ و پرترافیک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پروژه‌های کوچک تا متوسط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سامانه‌های کوچک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مناسب برای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Shape 2"/>
          <p:cNvSpPr/>
          <p:nvPr/>
        </p:nvSpPr>
        <p:spPr>
          <a:xfrm>
            <a:off x="548640" y="5943600"/>
            <a:ext cx="11091672" cy="548641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Text 3"/>
          <p:cNvSpPr txBox="1"/>
          <p:nvPr/>
        </p:nvSpPr>
        <p:spPr>
          <a:xfrm>
            <a:off x="868680" y="6085792"/>
            <a:ext cx="1042416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2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نتیجه: معماری سرویس‌گرا به‌دلیل استقلال سرویس‌ها و مقیاس‌پذیری هدفمند، انتخاب اصلی برای «شاد» است.</a:t>
            </a:r>
          </a:p>
        </p:txBody>
      </p:sp>
      <p:sp>
        <p:nvSpPr>
          <p:cNvPr id="144" name="Text 4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زیرساخت ابری</a:t>
            </a:r>
          </a:p>
        </p:txBody>
      </p:sp>
      <p:sp>
        <p:nvSpPr>
          <p:cNvPr id="147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چرا Cloud Native؟</a:t>
            </a:r>
          </a:p>
        </p:txBody>
      </p:sp>
      <p:sp>
        <p:nvSpPr>
          <p:cNvPr id="148" name="Shape 2"/>
          <p:cNvSpPr/>
          <p:nvPr/>
        </p:nvSpPr>
        <p:spPr>
          <a:xfrm>
            <a:off x="548640" y="1600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" name="Text 3"/>
          <p:cNvSpPr txBox="1"/>
          <p:nvPr/>
        </p:nvSpPr>
        <p:spPr>
          <a:xfrm>
            <a:off x="777239" y="1781970"/>
            <a:ext cx="31089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مقیاس‌دهی هدفمند</a:t>
            </a:r>
          </a:p>
        </p:txBody>
      </p:sp>
      <p:sp>
        <p:nvSpPr>
          <p:cNvPr id="150" name="Text 4"/>
          <p:cNvSpPr txBox="1"/>
          <p:nvPr/>
        </p:nvSpPr>
        <p:spPr>
          <a:xfrm>
            <a:off x="777239" y="2130551"/>
            <a:ext cx="3108961" cy="421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lnSpc>
                <a:spcPct val="120000"/>
              </a:lnSpc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فقط سرویس پرترافیک (مثل آزمون آنلاین) مقیاس داده می‌شود، نه کل سامانه.</a:t>
            </a:r>
          </a:p>
        </p:txBody>
      </p:sp>
      <p:sp>
        <p:nvSpPr>
          <p:cNvPr id="151" name="Shape 5"/>
          <p:cNvSpPr/>
          <p:nvPr/>
        </p:nvSpPr>
        <p:spPr>
          <a:xfrm>
            <a:off x="4297679" y="1600200"/>
            <a:ext cx="3566161" cy="1417320"/>
          </a:xfrm>
          <a:prstGeom prst="roundRect">
            <a:avLst>
              <a:gd name="adj" fmla="val 7742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Text 6"/>
          <p:cNvSpPr txBox="1"/>
          <p:nvPr/>
        </p:nvSpPr>
        <p:spPr>
          <a:xfrm>
            <a:off x="4526279" y="1781970"/>
            <a:ext cx="31089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دسترس‌پذیری بالا</a:t>
            </a:r>
          </a:p>
        </p:txBody>
      </p:sp>
      <p:sp>
        <p:nvSpPr>
          <p:cNvPr id="153" name="Text 7"/>
          <p:cNvSpPr txBox="1"/>
          <p:nvPr/>
        </p:nvSpPr>
        <p:spPr>
          <a:xfrm>
            <a:off x="4526279" y="2130551"/>
            <a:ext cx="3108961" cy="421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lnSpc>
                <a:spcPct val="120000"/>
              </a:lnSpc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اجرای چند نمونه از هر سرویس؛ خرابی یک نمونه اختلالی ایجاد نمی‌کند.</a:t>
            </a:r>
          </a:p>
        </p:txBody>
      </p:sp>
      <p:sp>
        <p:nvSpPr>
          <p:cNvPr id="154" name="Shape 8"/>
          <p:cNvSpPr/>
          <p:nvPr/>
        </p:nvSpPr>
        <p:spPr>
          <a:xfrm>
            <a:off x="8046719" y="1600200"/>
            <a:ext cx="3566161" cy="1417320"/>
          </a:xfrm>
          <a:prstGeom prst="roundRect">
            <a:avLst>
              <a:gd name="adj" fmla="val 7742"/>
            </a:avLst>
          </a:prstGeom>
          <a:solidFill>
            <a:srgbClr val="E0F2FE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" name="Text 9"/>
          <p:cNvSpPr txBox="1"/>
          <p:nvPr/>
        </p:nvSpPr>
        <p:spPr>
          <a:xfrm>
            <a:off x="8275319" y="1781970"/>
            <a:ext cx="310896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استقرار مستقل</a:t>
            </a:r>
          </a:p>
        </p:txBody>
      </p:sp>
      <p:sp>
        <p:nvSpPr>
          <p:cNvPr id="156" name="Text 10"/>
          <p:cNvSpPr txBox="1"/>
          <p:nvPr/>
        </p:nvSpPr>
        <p:spPr>
          <a:xfrm>
            <a:off x="8275319" y="2130551"/>
            <a:ext cx="3108962" cy="421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lnSpc>
                <a:spcPct val="120000"/>
              </a:lnSpc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تغییر قوانین در یک سرویس نیازمند استقرار مجدد کل سامانه نیست.</a:t>
            </a:r>
          </a:p>
        </p:txBody>
      </p:sp>
      <p:sp>
        <p:nvSpPr>
          <p:cNvPr id="157" name="Shape 11"/>
          <p:cNvSpPr/>
          <p:nvPr/>
        </p:nvSpPr>
        <p:spPr>
          <a:xfrm>
            <a:off x="548640" y="32004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Text 12"/>
          <p:cNvSpPr txBox="1"/>
          <p:nvPr/>
        </p:nvSpPr>
        <p:spPr>
          <a:xfrm>
            <a:off x="777239" y="3382170"/>
            <a:ext cx="31089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بهینه‌سازی هزینه</a:t>
            </a:r>
          </a:p>
        </p:txBody>
      </p:sp>
      <p:sp>
        <p:nvSpPr>
          <p:cNvPr id="159" name="Text 13"/>
          <p:cNvSpPr txBox="1"/>
          <p:nvPr/>
        </p:nvSpPr>
        <p:spPr>
          <a:xfrm>
            <a:off x="777239" y="3730752"/>
            <a:ext cx="3108961" cy="421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lnSpc>
                <a:spcPct val="120000"/>
              </a:lnSpc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پرداخت متناسب با مصرف واقعی، به‌جای تهیه سخت‌افزار با ظرفیت حداکثری.</a:t>
            </a:r>
          </a:p>
        </p:txBody>
      </p:sp>
      <p:sp>
        <p:nvSpPr>
          <p:cNvPr id="160" name="Shape 14"/>
          <p:cNvSpPr/>
          <p:nvPr/>
        </p:nvSpPr>
        <p:spPr>
          <a:xfrm>
            <a:off x="4297679" y="3200400"/>
            <a:ext cx="3566161" cy="1417320"/>
          </a:xfrm>
          <a:prstGeom prst="roundRect">
            <a:avLst>
              <a:gd name="adj" fmla="val 7742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Text 15"/>
          <p:cNvSpPr txBox="1"/>
          <p:nvPr/>
        </p:nvSpPr>
        <p:spPr>
          <a:xfrm>
            <a:off x="4526279" y="3382170"/>
            <a:ext cx="31089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استانداردسازی محیط</a:t>
            </a:r>
          </a:p>
        </p:txBody>
      </p:sp>
      <p:sp>
        <p:nvSpPr>
          <p:cNvPr id="162" name="Text 16"/>
          <p:cNvSpPr txBox="1"/>
          <p:nvPr/>
        </p:nvSpPr>
        <p:spPr>
          <a:xfrm>
            <a:off x="4526279" y="3730752"/>
            <a:ext cx="3108961" cy="421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lnSpc>
                <a:spcPct val="120000"/>
              </a:lnSpc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کانتینرها و ارکستریشن، اختلاف محیط توسعه/تست/تولید را حذف می‌کنند.</a:t>
            </a:r>
          </a:p>
        </p:txBody>
      </p:sp>
      <p:sp>
        <p:nvSpPr>
          <p:cNvPr id="163" name="Shape 17"/>
          <p:cNvSpPr/>
          <p:nvPr/>
        </p:nvSpPr>
        <p:spPr>
          <a:xfrm>
            <a:off x="8046719" y="3200400"/>
            <a:ext cx="3566161" cy="1417320"/>
          </a:xfrm>
          <a:prstGeom prst="roundRect">
            <a:avLst>
              <a:gd name="adj" fmla="val 7742"/>
            </a:avLst>
          </a:prstGeom>
          <a:solidFill>
            <a:srgbClr val="E0F2FE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Text 18"/>
          <p:cNvSpPr txBox="1"/>
          <p:nvPr/>
        </p:nvSpPr>
        <p:spPr>
          <a:xfrm>
            <a:off x="8275319" y="3382170"/>
            <a:ext cx="310896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آماده برای توسعه آینده</a:t>
            </a:r>
          </a:p>
        </p:txBody>
      </p:sp>
      <p:sp>
        <p:nvSpPr>
          <p:cNvPr id="165" name="Text 19"/>
          <p:cNvSpPr txBox="1"/>
          <p:nvPr/>
        </p:nvSpPr>
        <p:spPr>
          <a:xfrm>
            <a:off x="8275319" y="3730752"/>
            <a:ext cx="31089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rtl="1">
              <a:lnSpc>
                <a:spcPct val="120000"/>
              </a:lnSpc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افزودن سرویس‌های جدید بدون تغییر اساسی در سایر بخش‌ها.</a:t>
            </a:r>
          </a:p>
        </p:txBody>
      </p:sp>
      <p:sp>
        <p:nvSpPr>
          <p:cNvPr id="166" name="Text 20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شناسایی سرویس‌های بالقوه</a:t>
            </a:r>
          </a:p>
        </p:txBody>
      </p:sp>
      <p:sp>
        <p:nvSpPr>
          <p:cNvPr id="169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۱۰ سرویس اصلی بر اساس اصول SOA</a:t>
            </a:r>
          </a:p>
        </p:txBody>
      </p:sp>
      <p:sp>
        <p:nvSpPr>
          <p:cNvPr id="170" name="Shape 2"/>
          <p:cNvSpPr/>
          <p:nvPr/>
        </p:nvSpPr>
        <p:spPr>
          <a:xfrm>
            <a:off x="548640" y="1600200"/>
            <a:ext cx="2084833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Shape 3"/>
          <p:cNvSpPr/>
          <p:nvPr/>
        </p:nvSpPr>
        <p:spPr>
          <a:xfrm>
            <a:off x="1335024" y="1764792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4"/>
          <p:cNvSpPr txBox="1"/>
          <p:nvPr/>
        </p:nvSpPr>
        <p:spPr>
          <a:xfrm>
            <a:off x="1380744" y="1870270"/>
            <a:ext cx="420625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3" name="Text 5"/>
          <p:cNvSpPr txBox="1"/>
          <p:nvPr/>
        </p:nvSpPr>
        <p:spPr>
          <a:xfrm>
            <a:off x="704087" y="2377439"/>
            <a:ext cx="1773938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احراز هویت و مدیریت کاربران</a:t>
            </a:r>
          </a:p>
        </p:txBody>
      </p:sp>
      <p:sp>
        <p:nvSpPr>
          <p:cNvPr id="174" name="Shape 6"/>
          <p:cNvSpPr/>
          <p:nvPr/>
        </p:nvSpPr>
        <p:spPr>
          <a:xfrm>
            <a:off x="2798064" y="1600200"/>
            <a:ext cx="2084833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Shape 7"/>
          <p:cNvSpPr/>
          <p:nvPr/>
        </p:nvSpPr>
        <p:spPr>
          <a:xfrm>
            <a:off x="3584447" y="1764792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8"/>
          <p:cNvSpPr txBox="1"/>
          <p:nvPr/>
        </p:nvSpPr>
        <p:spPr>
          <a:xfrm>
            <a:off x="3630167" y="1870270"/>
            <a:ext cx="420625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7" name="Text 9"/>
          <p:cNvSpPr txBox="1"/>
          <p:nvPr/>
        </p:nvSpPr>
        <p:spPr>
          <a:xfrm>
            <a:off x="2953512" y="2377439"/>
            <a:ext cx="1773937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مدیریت مدارس، کلاس‌ها و دروس</a:t>
            </a:r>
          </a:p>
        </p:txBody>
      </p:sp>
      <p:sp>
        <p:nvSpPr>
          <p:cNvPr id="178" name="Shape 10"/>
          <p:cNvSpPr/>
          <p:nvPr/>
        </p:nvSpPr>
        <p:spPr>
          <a:xfrm>
            <a:off x="5047488" y="1600200"/>
            <a:ext cx="2084833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Shape 11"/>
          <p:cNvSpPr/>
          <p:nvPr/>
        </p:nvSpPr>
        <p:spPr>
          <a:xfrm>
            <a:off x="5833871" y="1764792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12"/>
          <p:cNvSpPr txBox="1"/>
          <p:nvPr/>
        </p:nvSpPr>
        <p:spPr>
          <a:xfrm>
            <a:off x="5879591" y="1870270"/>
            <a:ext cx="420625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1" name="Text 13"/>
          <p:cNvSpPr txBox="1"/>
          <p:nvPr/>
        </p:nvSpPr>
        <p:spPr>
          <a:xfrm>
            <a:off x="5202935" y="2377439"/>
            <a:ext cx="1773937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کلاس آنلاین</a:t>
            </a:r>
          </a:p>
        </p:txBody>
      </p:sp>
      <p:sp>
        <p:nvSpPr>
          <p:cNvPr id="182" name="Shape 14"/>
          <p:cNvSpPr/>
          <p:nvPr/>
        </p:nvSpPr>
        <p:spPr>
          <a:xfrm>
            <a:off x="7296911" y="1600200"/>
            <a:ext cx="2084834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Shape 15"/>
          <p:cNvSpPr/>
          <p:nvPr/>
        </p:nvSpPr>
        <p:spPr>
          <a:xfrm>
            <a:off x="8083295" y="1764792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16"/>
          <p:cNvSpPr txBox="1"/>
          <p:nvPr/>
        </p:nvSpPr>
        <p:spPr>
          <a:xfrm>
            <a:off x="8129015" y="1870270"/>
            <a:ext cx="420625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5" name="Text 17"/>
          <p:cNvSpPr txBox="1"/>
          <p:nvPr/>
        </p:nvSpPr>
        <p:spPr>
          <a:xfrm>
            <a:off x="7452360" y="2377439"/>
            <a:ext cx="1773937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پیام‌رسان</a:t>
            </a:r>
          </a:p>
        </p:txBody>
      </p:sp>
      <p:sp>
        <p:nvSpPr>
          <p:cNvPr id="186" name="Shape 18"/>
          <p:cNvSpPr/>
          <p:nvPr/>
        </p:nvSpPr>
        <p:spPr>
          <a:xfrm>
            <a:off x="9546335" y="1600200"/>
            <a:ext cx="2084833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Shape 19"/>
          <p:cNvSpPr/>
          <p:nvPr/>
        </p:nvSpPr>
        <p:spPr>
          <a:xfrm>
            <a:off x="10332719" y="1764792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20"/>
          <p:cNvSpPr txBox="1"/>
          <p:nvPr/>
        </p:nvSpPr>
        <p:spPr>
          <a:xfrm>
            <a:off x="10378439" y="1870270"/>
            <a:ext cx="420625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9" name="Text 21"/>
          <p:cNvSpPr txBox="1"/>
          <p:nvPr/>
        </p:nvSpPr>
        <p:spPr>
          <a:xfrm>
            <a:off x="9701784" y="2377439"/>
            <a:ext cx="1773937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مدیریت تکالیف</a:t>
            </a:r>
          </a:p>
        </p:txBody>
      </p:sp>
      <p:sp>
        <p:nvSpPr>
          <p:cNvPr id="190" name="Shape 22"/>
          <p:cNvSpPr/>
          <p:nvPr/>
        </p:nvSpPr>
        <p:spPr>
          <a:xfrm>
            <a:off x="548640" y="3154679"/>
            <a:ext cx="2084833" cy="1371601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Shape 23"/>
          <p:cNvSpPr/>
          <p:nvPr/>
        </p:nvSpPr>
        <p:spPr>
          <a:xfrm>
            <a:off x="1335024" y="3319271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24"/>
          <p:cNvSpPr txBox="1"/>
          <p:nvPr/>
        </p:nvSpPr>
        <p:spPr>
          <a:xfrm>
            <a:off x="1380744" y="3424749"/>
            <a:ext cx="420625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93" name="Text 25"/>
          <p:cNvSpPr txBox="1"/>
          <p:nvPr/>
        </p:nvSpPr>
        <p:spPr>
          <a:xfrm>
            <a:off x="704087" y="3931920"/>
            <a:ext cx="1773938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آزمون و ارزشیابی</a:t>
            </a:r>
          </a:p>
        </p:txBody>
      </p:sp>
      <p:sp>
        <p:nvSpPr>
          <p:cNvPr id="194" name="Shape 26"/>
          <p:cNvSpPr/>
          <p:nvPr/>
        </p:nvSpPr>
        <p:spPr>
          <a:xfrm>
            <a:off x="2798064" y="3154679"/>
            <a:ext cx="2084833" cy="1371601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Shape 27"/>
          <p:cNvSpPr/>
          <p:nvPr/>
        </p:nvSpPr>
        <p:spPr>
          <a:xfrm>
            <a:off x="3584447" y="3319271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28"/>
          <p:cNvSpPr txBox="1"/>
          <p:nvPr/>
        </p:nvSpPr>
        <p:spPr>
          <a:xfrm>
            <a:off x="3630167" y="3424749"/>
            <a:ext cx="420625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97" name="Text 29"/>
          <p:cNvSpPr txBox="1"/>
          <p:nvPr/>
        </p:nvSpPr>
        <p:spPr>
          <a:xfrm>
            <a:off x="2953512" y="3931920"/>
            <a:ext cx="1773937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حضور و غیاب</a:t>
            </a:r>
          </a:p>
        </p:txBody>
      </p:sp>
      <p:sp>
        <p:nvSpPr>
          <p:cNvPr id="198" name="Shape 30"/>
          <p:cNvSpPr/>
          <p:nvPr/>
        </p:nvSpPr>
        <p:spPr>
          <a:xfrm>
            <a:off x="5047488" y="3154679"/>
            <a:ext cx="2084833" cy="1371601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hape 31"/>
          <p:cNvSpPr/>
          <p:nvPr/>
        </p:nvSpPr>
        <p:spPr>
          <a:xfrm>
            <a:off x="5833871" y="3319271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32"/>
          <p:cNvSpPr txBox="1"/>
          <p:nvPr/>
        </p:nvSpPr>
        <p:spPr>
          <a:xfrm>
            <a:off x="5879591" y="3424749"/>
            <a:ext cx="420625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01" name="Text 33"/>
          <p:cNvSpPr txBox="1"/>
          <p:nvPr/>
        </p:nvSpPr>
        <p:spPr>
          <a:xfrm>
            <a:off x="5202935" y="3931920"/>
            <a:ext cx="1773937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مدیریت فایل</a:t>
            </a:r>
          </a:p>
        </p:txBody>
      </p:sp>
      <p:sp>
        <p:nvSpPr>
          <p:cNvPr id="202" name="Shape 34"/>
          <p:cNvSpPr/>
          <p:nvPr/>
        </p:nvSpPr>
        <p:spPr>
          <a:xfrm>
            <a:off x="7296911" y="3154679"/>
            <a:ext cx="2084834" cy="1371601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hape 35"/>
          <p:cNvSpPr/>
          <p:nvPr/>
        </p:nvSpPr>
        <p:spPr>
          <a:xfrm>
            <a:off x="8083295" y="3319271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36"/>
          <p:cNvSpPr txBox="1"/>
          <p:nvPr/>
        </p:nvSpPr>
        <p:spPr>
          <a:xfrm>
            <a:off x="8129015" y="3424749"/>
            <a:ext cx="420625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05" name="Text 37"/>
          <p:cNvSpPr txBox="1"/>
          <p:nvPr/>
        </p:nvSpPr>
        <p:spPr>
          <a:xfrm>
            <a:off x="7452360" y="3931920"/>
            <a:ext cx="1773937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اعلان‌ها</a:t>
            </a:r>
          </a:p>
        </p:txBody>
      </p:sp>
      <p:sp>
        <p:nvSpPr>
          <p:cNvPr id="206" name="Shape 38"/>
          <p:cNvSpPr/>
          <p:nvPr/>
        </p:nvSpPr>
        <p:spPr>
          <a:xfrm>
            <a:off x="9546335" y="3154679"/>
            <a:ext cx="2084833" cy="1371601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Shape 39"/>
          <p:cNvSpPr/>
          <p:nvPr/>
        </p:nvSpPr>
        <p:spPr>
          <a:xfrm>
            <a:off x="10332719" y="3319271"/>
            <a:ext cx="512065" cy="51206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40"/>
          <p:cNvSpPr txBox="1"/>
          <p:nvPr/>
        </p:nvSpPr>
        <p:spPr>
          <a:xfrm>
            <a:off x="10378439" y="3424749"/>
            <a:ext cx="420625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09" name="Text 41"/>
          <p:cNvSpPr txBox="1"/>
          <p:nvPr/>
        </p:nvSpPr>
        <p:spPr>
          <a:xfrm>
            <a:off x="9701784" y="3931920"/>
            <a:ext cx="1773937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گزارش‌گیری و تحلیل اطلاعات</a:t>
            </a:r>
          </a:p>
        </p:txBody>
      </p:sp>
      <p:sp>
        <p:nvSpPr>
          <p:cNvPr id="210" name="Text 42"/>
          <p:cNvSpPr txBox="1"/>
          <p:nvPr/>
        </p:nvSpPr>
        <p:spPr>
          <a:xfrm>
            <a:off x="594360" y="6131513"/>
            <a:ext cx="1100023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sz="12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اصل حاکم: Separation of Concerns — هر سرویس فقط مسئول یک دسته وظیفه مشخص است و پایگاه‌داده اختصاصی خود را دارد.</a:t>
            </a:r>
          </a:p>
        </p:txBody>
      </p:sp>
      <p:sp>
        <p:nvSpPr>
          <p:cNvPr id="211" name="Text 43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رابط سرویس‌ها و قراردادهای داده‌ای</a:t>
            </a:r>
          </a:p>
        </p:txBody>
      </p:sp>
      <p:sp>
        <p:nvSpPr>
          <p:cNvPr id="214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نمونه: Authentication Service</a:t>
            </a:r>
          </a:p>
        </p:txBody>
      </p:sp>
      <p:sp>
        <p:nvSpPr>
          <p:cNvPr id="215" name="Shape 2"/>
          <p:cNvSpPr/>
          <p:nvPr/>
        </p:nvSpPr>
        <p:spPr>
          <a:xfrm>
            <a:off x="548640" y="1600200"/>
            <a:ext cx="5349241" cy="4206241"/>
          </a:xfrm>
          <a:prstGeom prst="roundRect">
            <a:avLst>
              <a:gd name="adj" fmla="val 2609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" name="Text 3"/>
          <p:cNvSpPr txBox="1"/>
          <p:nvPr/>
        </p:nvSpPr>
        <p:spPr>
          <a:xfrm>
            <a:off x="868679" y="1821548"/>
            <a:ext cx="47548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عملیات سرویس (Service Interface)</a:t>
            </a:r>
          </a:p>
        </p:txBody>
      </p:sp>
      <p:sp>
        <p:nvSpPr>
          <p:cNvPr id="217" name="Text 4"/>
          <p:cNvSpPr txBox="1"/>
          <p:nvPr/>
        </p:nvSpPr>
        <p:spPr>
          <a:xfrm>
            <a:off x="868679" y="3143249"/>
            <a:ext cx="4754882" cy="1577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70000"/>
              </a:lnSpc>
              <a:defRPr sz="1300">
                <a:solidFill>
                  <a:srgbClr val="1E1B2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login(username, password) → Authentication Token</a:t>
            </a:r>
          </a:p>
          <a:p>
            <a:pPr>
              <a:lnSpc>
                <a:spcPct val="170000"/>
              </a:lnSpc>
              <a:defRPr sz="1300">
                <a:solidFill>
                  <a:srgbClr val="1E1B2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logout(token)</a:t>
            </a:r>
          </a:p>
          <a:p>
            <a:pPr>
              <a:lnSpc>
                <a:spcPct val="170000"/>
              </a:lnSpc>
              <a:defRPr sz="1300">
                <a:solidFill>
                  <a:srgbClr val="1E1B2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register(userInformation)</a:t>
            </a:r>
          </a:p>
          <a:p>
            <a:pPr>
              <a:lnSpc>
                <a:spcPct val="170000"/>
              </a:lnSpc>
              <a:defRPr sz="1300">
                <a:solidFill>
                  <a:srgbClr val="1E1B2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verifyToken(token)</a:t>
            </a:r>
          </a:p>
        </p:txBody>
      </p:sp>
      <p:sp>
        <p:nvSpPr>
          <p:cNvPr id="218" name="Shape 5"/>
          <p:cNvSpPr/>
          <p:nvPr/>
        </p:nvSpPr>
        <p:spPr>
          <a:xfrm>
            <a:off x="6263640" y="1600200"/>
            <a:ext cx="5349241" cy="4206241"/>
          </a:xfrm>
          <a:prstGeom prst="roundRect">
            <a:avLst>
              <a:gd name="adj" fmla="val 2609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" name="Text 6"/>
          <p:cNvSpPr txBox="1"/>
          <p:nvPr/>
        </p:nvSpPr>
        <p:spPr>
          <a:xfrm>
            <a:off x="6583679" y="1821548"/>
            <a:ext cx="475488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4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قرارداد داده‌ای (Data Contract) — User</a:t>
            </a:r>
          </a:p>
        </p:txBody>
      </p:sp>
      <p:graphicFrame>
        <p:nvGraphicFramePr>
          <p:cNvPr id="220" name="Table 0"/>
          <p:cNvGraphicFramePr/>
          <p:nvPr/>
        </p:nvGraphicFramePr>
        <p:xfrm>
          <a:off x="6537959" y="2286000"/>
          <a:ext cx="4846321" cy="32004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423160"/>
                <a:gridCol w="24231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فیلد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نوع داده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userId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Integer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phoneNumber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1" name="Text 7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الگوی معماری منتخب</a:t>
            </a:r>
          </a:p>
        </p:txBody>
      </p:sp>
      <p:sp>
        <p:nvSpPr>
          <p:cNvPr id="224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معماری ترکیبی (Hybrid Architecture)</a:t>
            </a:r>
          </a:p>
        </p:txBody>
      </p:sp>
      <p:sp>
        <p:nvSpPr>
          <p:cNvPr id="225" name="Shape 2"/>
          <p:cNvSpPr/>
          <p:nvPr/>
        </p:nvSpPr>
        <p:spPr>
          <a:xfrm>
            <a:off x="548640" y="1691639"/>
            <a:ext cx="2606040" cy="3017522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" name="Shape 3"/>
          <p:cNvSpPr/>
          <p:nvPr/>
        </p:nvSpPr>
        <p:spPr>
          <a:xfrm>
            <a:off x="777240" y="1965960"/>
            <a:ext cx="2148840" cy="2148840"/>
          </a:xfrm>
          <a:prstGeom prst="roundRect">
            <a:avLst>
              <a:gd name="adj" fmla="val 6383"/>
            </a:avLst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4"/>
          <p:cNvSpPr txBox="1"/>
          <p:nvPr/>
        </p:nvSpPr>
        <p:spPr>
          <a:xfrm>
            <a:off x="457199" y="2719230"/>
            <a:ext cx="25146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کلاینت–سرور</a:t>
            </a:r>
          </a:p>
        </p:txBody>
      </p:sp>
      <p:sp>
        <p:nvSpPr>
          <p:cNvPr id="228" name="Text 5"/>
          <p:cNvSpPr txBox="1"/>
          <p:nvPr/>
        </p:nvSpPr>
        <p:spPr>
          <a:xfrm>
            <a:off x="685799" y="3086907"/>
            <a:ext cx="224028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sz="1000"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ساختار اصلی ارتباط کاربران با سیستم مرکزی</a:t>
            </a:r>
          </a:p>
        </p:txBody>
      </p:sp>
      <p:sp>
        <p:nvSpPr>
          <p:cNvPr id="229" name="Shape 6"/>
          <p:cNvSpPr/>
          <p:nvPr/>
        </p:nvSpPr>
        <p:spPr>
          <a:xfrm>
            <a:off x="3383279" y="1691639"/>
            <a:ext cx="2606041" cy="3017522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" name="Shape 7"/>
          <p:cNvSpPr/>
          <p:nvPr/>
        </p:nvSpPr>
        <p:spPr>
          <a:xfrm>
            <a:off x="3611879" y="1965960"/>
            <a:ext cx="2148841" cy="2148840"/>
          </a:xfrm>
          <a:prstGeom prst="roundRect">
            <a:avLst>
              <a:gd name="adj" fmla="val 6383"/>
            </a:avLst>
          </a:prstGeom>
          <a:solidFill>
            <a:srgbClr val="6D28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8"/>
          <p:cNvSpPr txBox="1"/>
          <p:nvPr/>
        </p:nvSpPr>
        <p:spPr>
          <a:xfrm>
            <a:off x="3428999" y="2719230"/>
            <a:ext cx="25146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لایه‌ای</a:t>
            </a:r>
          </a:p>
        </p:txBody>
      </p:sp>
      <p:sp>
        <p:nvSpPr>
          <p:cNvPr id="232" name="Text 9"/>
          <p:cNvSpPr txBox="1"/>
          <p:nvPr/>
        </p:nvSpPr>
        <p:spPr>
          <a:xfrm>
            <a:off x="3520440" y="3102737"/>
            <a:ext cx="2240281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sz="1000"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سازمان‌دهی منطق داخلی سرور (UI، منطق تجاری، داده)</a:t>
            </a:r>
          </a:p>
        </p:txBody>
      </p:sp>
      <p:sp>
        <p:nvSpPr>
          <p:cNvPr id="233" name="Shape 10"/>
          <p:cNvSpPr/>
          <p:nvPr/>
        </p:nvSpPr>
        <p:spPr>
          <a:xfrm>
            <a:off x="6217920" y="1691639"/>
            <a:ext cx="2606041" cy="3017522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" name="Shape 11"/>
          <p:cNvSpPr/>
          <p:nvPr/>
        </p:nvSpPr>
        <p:spPr>
          <a:xfrm>
            <a:off x="6446520" y="1965960"/>
            <a:ext cx="2148841" cy="2148840"/>
          </a:xfrm>
          <a:prstGeom prst="roundRect">
            <a:avLst>
              <a:gd name="adj" fmla="val 6383"/>
            </a:avLst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2"/>
          <p:cNvSpPr txBox="1"/>
          <p:nvPr/>
        </p:nvSpPr>
        <p:spPr>
          <a:xfrm>
            <a:off x="6240779" y="2719230"/>
            <a:ext cx="25146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سرویس‌گرا (SOA)</a:t>
            </a:r>
          </a:p>
        </p:txBody>
      </p:sp>
      <p:sp>
        <p:nvSpPr>
          <p:cNvPr id="236" name="Text 13"/>
          <p:cNvSpPr txBox="1"/>
          <p:nvPr/>
        </p:nvSpPr>
        <p:spPr>
          <a:xfrm>
            <a:off x="6377939" y="3086907"/>
            <a:ext cx="224028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sz="1000"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پیاده‌سازی مستقل زیرسیستم‌های اصلی</a:t>
            </a:r>
          </a:p>
        </p:txBody>
      </p:sp>
      <p:sp>
        <p:nvSpPr>
          <p:cNvPr id="237" name="Shape 14"/>
          <p:cNvSpPr/>
          <p:nvPr/>
        </p:nvSpPr>
        <p:spPr>
          <a:xfrm>
            <a:off x="9052559" y="1691639"/>
            <a:ext cx="2606041" cy="3017522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" name="Shape 15"/>
          <p:cNvSpPr/>
          <p:nvPr/>
        </p:nvSpPr>
        <p:spPr>
          <a:xfrm>
            <a:off x="9281159" y="1965960"/>
            <a:ext cx="2148841" cy="2148840"/>
          </a:xfrm>
          <a:prstGeom prst="roundRect">
            <a:avLst>
              <a:gd name="adj" fmla="val 6383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6"/>
          <p:cNvSpPr txBox="1"/>
          <p:nvPr/>
        </p:nvSpPr>
        <p:spPr>
          <a:xfrm>
            <a:off x="9052559" y="2719230"/>
            <a:ext cx="25146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رویدادمحور</a:t>
            </a:r>
          </a:p>
        </p:txBody>
      </p:sp>
      <p:sp>
        <p:nvSpPr>
          <p:cNvPr id="240" name="Text 17"/>
          <p:cNvSpPr txBox="1"/>
          <p:nvPr/>
        </p:nvSpPr>
        <p:spPr>
          <a:xfrm>
            <a:off x="9281159" y="3034168"/>
            <a:ext cx="224028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rtl="1">
              <a:defRPr sz="1000">
                <a:solidFill>
                  <a:srgbClr val="C7C4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اطلاع‌رسانی لحظه‌ای، پیام‌ها و اعلان‌ها</a:t>
            </a:r>
          </a:p>
        </p:txBody>
      </p:sp>
      <p:sp>
        <p:nvSpPr>
          <p:cNvPr id="241" name="Text 18"/>
          <p:cNvSpPr txBox="1"/>
          <p:nvPr/>
        </p:nvSpPr>
        <p:spPr>
          <a:xfrm>
            <a:off x="594360" y="507381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sz="13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هر لایه نقاط قوت خود را به سیستم می‌افزاید: امنیت متمرکز (کلاینت–سرور)، نگهداری ساده (لایه‌ای)، استقلال توسعه (SOA) و پاسخگویی لحظه‌ای (رویدادمحور).</a:t>
            </a:r>
          </a:p>
        </p:txBody>
      </p:sp>
      <p:sp>
        <p:nvSpPr>
          <p:cNvPr id="242" name="Text 19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ثبت تصمیمات معماری</a:t>
            </a:r>
          </a:p>
        </p:txBody>
      </p:sp>
      <p:sp>
        <p:nvSpPr>
          <p:cNvPr id="245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خلاصه ADRها</a:t>
            </a:r>
          </a:p>
        </p:txBody>
      </p:sp>
      <p:graphicFrame>
        <p:nvGraphicFramePr>
          <p:cNvPr id="246" name="Table 0"/>
          <p:cNvGraphicFramePr/>
          <p:nvPr/>
        </p:nvGraphicFramePr>
        <p:xfrm>
          <a:off x="548640" y="1554480"/>
          <a:ext cx="11091672" cy="4572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153912"/>
                <a:gridCol w="3657600"/>
                <a:gridCol w="1280160"/>
              </a:tblGrid>
              <a:tr h="65314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توجیه کلیدی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تصمیم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کد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4338C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ترکیب کلاینت–سرور، لایه‌ای، SOA و رویدادمحور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معماری ترکیبی (Hybrid)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ADR-01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سادگی، سازگاری بالا و تبادل داده با JSON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RESTful API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ADR-02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یکپارچگی امنیت و جلوگیری از تکرار منطق ورود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سرویس متمرکز احراز هویت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ADR-03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استقلال داده و کاهش وابستگی بین سرویس‌ها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 per Service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ADR-04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کاهش وابستگی مستقیم و پاسخ‌گویی لحظه‌ای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معماری رویدادمحور + Event Bus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ADR-05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مقیاس‌پذیری خودکار و دسترس‌پذیری بالا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استقرار روی زیرساخت ابری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1E1B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ADR-06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8D4F0"/>
                      </a:solidFill>
                    </a:lnL>
                    <a:lnR w="12700">
                      <a:solidFill>
                        <a:srgbClr val="D8D4F0"/>
                      </a:solidFill>
                    </a:lnR>
                    <a:lnT w="12700">
                      <a:solidFill>
                        <a:srgbClr val="D8D4F0"/>
                      </a:solidFill>
                    </a:lnT>
                    <a:lnB w="12700">
                      <a:solidFill>
                        <a:srgbClr val="D8D4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7" name="Text 2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نمودار مؤلفه</a:t>
            </a:r>
          </a:p>
        </p:txBody>
      </p:sp>
      <p:sp>
        <p:nvSpPr>
          <p:cNvPr id="250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ساختار ماژولار سامانه</a:t>
            </a:r>
          </a:p>
        </p:txBody>
      </p:sp>
      <p:sp>
        <p:nvSpPr>
          <p:cNvPr id="251" name="Shape 2"/>
          <p:cNvSpPr/>
          <p:nvPr/>
        </p:nvSpPr>
        <p:spPr>
          <a:xfrm>
            <a:off x="548640" y="1554480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4338CA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" name="Text 3"/>
          <p:cNvSpPr txBox="1"/>
          <p:nvPr/>
        </p:nvSpPr>
        <p:spPr>
          <a:xfrm>
            <a:off x="594360" y="1667670"/>
            <a:ext cx="1100023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رابط کاربری وب / موبایل (Web/Mobile User Interface)</a:t>
            </a:r>
          </a:p>
        </p:txBody>
      </p:sp>
      <p:sp>
        <p:nvSpPr>
          <p:cNvPr id="253" name="Shape 4"/>
          <p:cNvSpPr/>
          <p:nvPr/>
        </p:nvSpPr>
        <p:spPr>
          <a:xfrm>
            <a:off x="2377439" y="2194560"/>
            <a:ext cx="7434073" cy="457201"/>
          </a:xfrm>
          <a:prstGeom prst="roundRect">
            <a:avLst>
              <a:gd name="adj" fmla="val 24000"/>
            </a:avLst>
          </a:prstGeom>
          <a:solidFill>
            <a:srgbClr val="6D28D9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" name="Text 5"/>
          <p:cNvSpPr txBox="1"/>
          <p:nvPr/>
        </p:nvSpPr>
        <p:spPr>
          <a:xfrm>
            <a:off x="2423160" y="2291032"/>
            <a:ext cx="734263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Application API</a:t>
            </a:r>
          </a:p>
        </p:txBody>
      </p:sp>
      <p:sp>
        <p:nvSpPr>
          <p:cNvPr id="255" name="Shape 6"/>
          <p:cNvSpPr/>
          <p:nvPr/>
        </p:nvSpPr>
        <p:spPr>
          <a:xfrm>
            <a:off x="548640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" name="Text 7"/>
          <p:cNvSpPr txBox="1"/>
          <p:nvPr/>
        </p:nvSpPr>
        <p:spPr>
          <a:xfrm>
            <a:off x="594359" y="3062615"/>
            <a:ext cx="96012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احراز هویت</a:t>
            </a:r>
          </a:p>
        </p:txBody>
      </p:sp>
      <p:sp>
        <p:nvSpPr>
          <p:cNvPr id="257" name="Shape 8"/>
          <p:cNvSpPr/>
          <p:nvPr/>
        </p:nvSpPr>
        <p:spPr>
          <a:xfrm>
            <a:off x="1655064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" name="Text 9"/>
          <p:cNvSpPr txBox="1"/>
          <p:nvPr/>
        </p:nvSpPr>
        <p:spPr>
          <a:xfrm>
            <a:off x="1700784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مدیریت کاربران</a:t>
            </a:r>
          </a:p>
        </p:txBody>
      </p:sp>
      <p:sp>
        <p:nvSpPr>
          <p:cNvPr id="259" name="Shape 10"/>
          <p:cNvSpPr/>
          <p:nvPr/>
        </p:nvSpPr>
        <p:spPr>
          <a:xfrm>
            <a:off x="2761488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" name="Text 11"/>
          <p:cNvSpPr txBox="1"/>
          <p:nvPr/>
        </p:nvSpPr>
        <p:spPr>
          <a:xfrm>
            <a:off x="2807208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مدیریت کلاس</a:t>
            </a:r>
          </a:p>
        </p:txBody>
      </p:sp>
      <p:sp>
        <p:nvSpPr>
          <p:cNvPr id="261" name="Shape 12"/>
          <p:cNvSpPr/>
          <p:nvPr/>
        </p:nvSpPr>
        <p:spPr>
          <a:xfrm>
            <a:off x="3867911" y="2880360"/>
            <a:ext cx="1051562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" name="Text 13"/>
          <p:cNvSpPr txBox="1"/>
          <p:nvPr/>
        </p:nvSpPr>
        <p:spPr>
          <a:xfrm>
            <a:off x="3913631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مدیریت محتوا</a:t>
            </a:r>
          </a:p>
        </p:txBody>
      </p:sp>
      <p:sp>
        <p:nvSpPr>
          <p:cNvPr id="263" name="Shape 14"/>
          <p:cNvSpPr/>
          <p:nvPr/>
        </p:nvSpPr>
        <p:spPr>
          <a:xfrm>
            <a:off x="4974335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" name="Text 15"/>
          <p:cNvSpPr txBox="1"/>
          <p:nvPr/>
        </p:nvSpPr>
        <p:spPr>
          <a:xfrm>
            <a:off x="5020055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تکالیف</a:t>
            </a:r>
          </a:p>
        </p:txBody>
      </p:sp>
      <p:sp>
        <p:nvSpPr>
          <p:cNvPr id="265" name="Shape 16"/>
          <p:cNvSpPr/>
          <p:nvPr/>
        </p:nvSpPr>
        <p:spPr>
          <a:xfrm>
            <a:off x="6080759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" name="Text 17"/>
          <p:cNvSpPr txBox="1"/>
          <p:nvPr/>
        </p:nvSpPr>
        <p:spPr>
          <a:xfrm>
            <a:off x="6126479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آزمون</a:t>
            </a:r>
          </a:p>
        </p:txBody>
      </p:sp>
      <p:sp>
        <p:nvSpPr>
          <p:cNvPr id="267" name="Shape 18"/>
          <p:cNvSpPr/>
          <p:nvPr/>
        </p:nvSpPr>
        <p:spPr>
          <a:xfrm>
            <a:off x="7187183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" name="Text 19"/>
          <p:cNvSpPr txBox="1"/>
          <p:nvPr/>
        </p:nvSpPr>
        <p:spPr>
          <a:xfrm>
            <a:off x="7232903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نمرات</a:t>
            </a:r>
          </a:p>
        </p:txBody>
      </p:sp>
      <p:sp>
        <p:nvSpPr>
          <p:cNvPr id="269" name="Shape 20"/>
          <p:cNvSpPr/>
          <p:nvPr/>
        </p:nvSpPr>
        <p:spPr>
          <a:xfrm>
            <a:off x="8293607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Text 21"/>
          <p:cNvSpPr txBox="1"/>
          <p:nvPr/>
        </p:nvSpPr>
        <p:spPr>
          <a:xfrm>
            <a:off x="8339327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پیام‌رسانی</a:t>
            </a:r>
          </a:p>
        </p:txBody>
      </p:sp>
      <p:sp>
        <p:nvSpPr>
          <p:cNvPr id="271" name="Shape 22"/>
          <p:cNvSpPr/>
          <p:nvPr/>
        </p:nvSpPr>
        <p:spPr>
          <a:xfrm>
            <a:off x="9400031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" name="Text 23"/>
          <p:cNvSpPr txBox="1"/>
          <p:nvPr/>
        </p:nvSpPr>
        <p:spPr>
          <a:xfrm>
            <a:off x="9445751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اعلان‌ها</a:t>
            </a:r>
          </a:p>
        </p:txBody>
      </p:sp>
      <p:sp>
        <p:nvSpPr>
          <p:cNvPr id="273" name="Shape 24"/>
          <p:cNvSpPr/>
          <p:nvPr/>
        </p:nvSpPr>
        <p:spPr>
          <a:xfrm>
            <a:off x="10506456" y="2880360"/>
            <a:ext cx="1051561" cy="566929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" name="Text 25"/>
          <p:cNvSpPr txBox="1"/>
          <p:nvPr/>
        </p:nvSpPr>
        <p:spPr>
          <a:xfrm>
            <a:off x="10552176" y="3062615"/>
            <a:ext cx="9601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گزارش‌گیری</a:t>
            </a:r>
          </a:p>
        </p:txBody>
      </p:sp>
      <p:sp>
        <p:nvSpPr>
          <p:cNvPr id="275" name="Shape 26"/>
          <p:cNvSpPr/>
          <p:nvPr/>
        </p:nvSpPr>
        <p:spPr>
          <a:xfrm>
            <a:off x="548640" y="3840479"/>
            <a:ext cx="3566160" cy="594361"/>
          </a:xfrm>
          <a:prstGeom prst="roundRect">
            <a:avLst>
              <a:gd name="adj" fmla="val 18462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" name="Text 27"/>
          <p:cNvSpPr txBox="1"/>
          <p:nvPr/>
        </p:nvSpPr>
        <p:spPr>
          <a:xfrm>
            <a:off x="594359" y="4005532"/>
            <a:ext cx="347472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School Database</a:t>
            </a:r>
          </a:p>
        </p:txBody>
      </p:sp>
      <p:sp>
        <p:nvSpPr>
          <p:cNvPr id="277" name="Shape 28"/>
          <p:cNvSpPr/>
          <p:nvPr/>
        </p:nvSpPr>
        <p:spPr>
          <a:xfrm>
            <a:off x="4297679" y="3840479"/>
            <a:ext cx="3566161" cy="594361"/>
          </a:xfrm>
          <a:prstGeom prst="roundRect">
            <a:avLst>
              <a:gd name="adj" fmla="val 18462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" name="Text 29"/>
          <p:cNvSpPr txBox="1"/>
          <p:nvPr/>
        </p:nvSpPr>
        <p:spPr>
          <a:xfrm>
            <a:off x="4343399" y="4005532"/>
            <a:ext cx="3474720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File Storage</a:t>
            </a:r>
          </a:p>
        </p:txBody>
      </p:sp>
      <p:sp>
        <p:nvSpPr>
          <p:cNvPr id="279" name="Shape 30"/>
          <p:cNvSpPr/>
          <p:nvPr/>
        </p:nvSpPr>
        <p:spPr>
          <a:xfrm>
            <a:off x="8046719" y="3840479"/>
            <a:ext cx="3593593" cy="594361"/>
          </a:xfrm>
          <a:prstGeom prst="roundRect">
            <a:avLst>
              <a:gd name="adj" fmla="val 18462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" name="Text 31"/>
          <p:cNvSpPr txBox="1"/>
          <p:nvPr/>
        </p:nvSpPr>
        <p:spPr>
          <a:xfrm>
            <a:off x="8092439" y="4005532"/>
            <a:ext cx="3502153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Email/SMS Gateway</a:t>
            </a:r>
          </a:p>
        </p:txBody>
      </p:sp>
      <p:sp>
        <p:nvSpPr>
          <p:cNvPr id="281" name="Text 32"/>
          <p:cNvSpPr txBox="1"/>
          <p:nvPr/>
        </p:nvSpPr>
        <p:spPr>
          <a:xfrm>
            <a:off x="594360" y="4805632"/>
            <a:ext cx="1100023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sz="12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ارتباط تمام مؤلفه‌ها از طریق رابط‌های استاندارد (Interfaces) انجام می‌شود تا وابستگی مستقیم اجزا کاهش یابد.</a:t>
            </a:r>
          </a:p>
        </p:txBody>
      </p:sp>
      <p:sp>
        <p:nvSpPr>
          <p:cNvPr id="282" name="Text 33"/>
          <p:cNvSpPr txBox="1"/>
          <p:nvPr/>
        </p:nvSpPr>
        <p:spPr>
          <a:xfrm>
            <a:off x="594360" y="5389625"/>
            <a:ext cx="1100023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Assignment Service  —  مدیریت تکالیف درسی — ارسال توسط معلم، تحویل توسط دانش‌آموز</a:t>
            </a:r>
          </a:p>
        </p:txBody>
      </p:sp>
      <p:sp>
        <p:nvSpPr>
          <p:cNvPr id="283" name="Text 34"/>
          <p:cNvSpPr txBox="1"/>
          <p:nvPr/>
        </p:nvSpPr>
        <p:spPr>
          <a:xfrm>
            <a:off x="594360" y="5737097"/>
            <a:ext cx="1100023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Notification Service  —  ارسال اعلان از طریق Email/SMS Gateway خارجی</a:t>
            </a:r>
          </a:p>
        </p:txBody>
      </p:sp>
      <p:sp>
        <p:nvSpPr>
          <p:cNvPr id="284" name="Text 35"/>
          <p:cNvSpPr txBox="1"/>
          <p:nvPr/>
        </p:nvSpPr>
        <p:spPr>
          <a:xfrm>
            <a:off x="594360" y="6084569"/>
            <a:ext cx="11000232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Reporting Service  —  تولید گزارش‌های آماری از عملکرد دانش‌آموزان و کلاس‌ها</a:t>
            </a:r>
          </a:p>
        </p:txBody>
      </p:sp>
      <p:sp>
        <p:nvSpPr>
          <p:cNvPr id="285" name="Text 36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نمودار استقرار</a:t>
            </a:r>
          </a:p>
        </p:txBody>
      </p:sp>
      <p:sp>
        <p:nvSpPr>
          <p:cNvPr id="288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معماری فیزیکی و توزیع روی سرورها</a:t>
            </a:r>
          </a:p>
        </p:txBody>
      </p:sp>
      <p:sp>
        <p:nvSpPr>
          <p:cNvPr id="289" name="Shape 2"/>
          <p:cNvSpPr/>
          <p:nvPr/>
        </p:nvSpPr>
        <p:spPr>
          <a:xfrm>
            <a:off x="548640" y="1691639"/>
            <a:ext cx="2377440" cy="1005841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" name="Text 3"/>
          <p:cNvSpPr txBox="1"/>
          <p:nvPr/>
        </p:nvSpPr>
        <p:spPr>
          <a:xfrm>
            <a:off x="594360" y="1998724"/>
            <a:ext cx="2286000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«device»</a:t>
            </a:r>
          </a:p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User Device</a:t>
            </a:r>
          </a:p>
        </p:txBody>
      </p:sp>
      <p:sp>
        <p:nvSpPr>
          <p:cNvPr id="291" name="Shape 4"/>
          <p:cNvSpPr/>
          <p:nvPr/>
        </p:nvSpPr>
        <p:spPr>
          <a:xfrm>
            <a:off x="4389120" y="1371600"/>
            <a:ext cx="3657601" cy="2377440"/>
          </a:xfrm>
          <a:prstGeom prst="roundRect">
            <a:avLst>
              <a:gd name="adj" fmla="val 4615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" name="Text 5"/>
          <p:cNvSpPr txBox="1"/>
          <p:nvPr/>
        </p:nvSpPr>
        <p:spPr>
          <a:xfrm>
            <a:off x="4434840" y="1503425"/>
            <a:ext cx="356616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«node» Application Server</a:t>
            </a:r>
          </a:p>
        </p:txBody>
      </p:sp>
      <p:sp>
        <p:nvSpPr>
          <p:cNvPr id="293" name="Shape 6"/>
          <p:cNvSpPr/>
          <p:nvPr/>
        </p:nvSpPr>
        <p:spPr>
          <a:xfrm>
            <a:off x="4617720" y="1874520"/>
            <a:ext cx="3200401" cy="502921"/>
          </a:xfrm>
          <a:prstGeom prst="roundRect">
            <a:avLst>
              <a:gd name="adj" fmla="val 21818"/>
            </a:avLst>
          </a:prstGeom>
          <a:solidFill>
            <a:srgbClr val="6D28D9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" name="Text 7"/>
          <p:cNvSpPr txBox="1"/>
          <p:nvPr/>
        </p:nvSpPr>
        <p:spPr>
          <a:xfrm>
            <a:off x="4663440" y="2018629"/>
            <a:ext cx="310896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 Application</a:t>
            </a:r>
          </a:p>
        </p:txBody>
      </p:sp>
      <p:sp>
        <p:nvSpPr>
          <p:cNvPr id="295" name="Shape 8"/>
          <p:cNvSpPr/>
          <p:nvPr/>
        </p:nvSpPr>
        <p:spPr>
          <a:xfrm>
            <a:off x="4617720" y="2468879"/>
            <a:ext cx="3200401" cy="502921"/>
          </a:xfrm>
          <a:prstGeom prst="roundRect">
            <a:avLst>
              <a:gd name="adj" fmla="val 21818"/>
            </a:avLst>
          </a:prstGeom>
          <a:solidFill>
            <a:srgbClr val="6D28D9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" name="Text 9"/>
          <p:cNvSpPr txBox="1"/>
          <p:nvPr/>
        </p:nvSpPr>
        <p:spPr>
          <a:xfrm>
            <a:off x="4663440" y="2612989"/>
            <a:ext cx="310896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Application API</a:t>
            </a:r>
          </a:p>
        </p:txBody>
      </p:sp>
      <p:sp>
        <p:nvSpPr>
          <p:cNvPr id="297" name="Shape 10"/>
          <p:cNvSpPr/>
          <p:nvPr/>
        </p:nvSpPr>
        <p:spPr>
          <a:xfrm>
            <a:off x="4617720" y="3063239"/>
            <a:ext cx="3200401" cy="502921"/>
          </a:xfrm>
          <a:prstGeom prst="roundRect">
            <a:avLst>
              <a:gd name="adj" fmla="val 21818"/>
            </a:avLst>
          </a:prstGeom>
          <a:solidFill>
            <a:srgbClr val="6D28D9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" name="Text 11"/>
          <p:cNvSpPr txBox="1"/>
          <p:nvPr/>
        </p:nvSpPr>
        <p:spPr>
          <a:xfrm>
            <a:off x="4663440" y="3143849"/>
            <a:ext cx="3108961" cy="3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Online School Services</a:t>
            </a:r>
          </a:p>
          <a:p>
            <a: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(Auth, Class, Exam, Grading…)</a:t>
            </a:r>
          </a:p>
        </p:txBody>
      </p:sp>
      <p:sp>
        <p:nvSpPr>
          <p:cNvPr id="299" name="Shape 12"/>
          <p:cNvSpPr/>
          <p:nvPr/>
        </p:nvSpPr>
        <p:spPr>
          <a:xfrm>
            <a:off x="9235440" y="1691639"/>
            <a:ext cx="2377441" cy="1005841"/>
          </a:xfrm>
          <a:prstGeom prst="roundRect">
            <a:avLst>
              <a:gd name="adj" fmla="val 10909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" name="Text 13"/>
          <p:cNvSpPr txBox="1"/>
          <p:nvPr/>
        </p:nvSpPr>
        <p:spPr>
          <a:xfrm>
            <a:off x="9281160" y="1998724"/>
            <a:ext cx="228600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«node»</a:t>
            </a:r>
          </a:p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Email/SMS Provider</a:t>
            </a:r>
          </a:p>
        </p:txBody>
      </p:sp>
      <p:sp>
        <p:nvSpPr>
          <p:cNvPr id="301" name="Shape 14"/>
          <p:cNvSpPr/>
          <p:nvPr/>
        </p:nvSpPr>
        <p:spPr>
          <a:xfrm>
            <a:off x="3017520" y="4206240"/>
            <a:ext cx="2651761" cy="1005841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" name="Text 15"/>
          <p:cNvSpPr txBox="1"/>
          <p:nvPr/>
        </p:nvSpPr>
        <p:spPr>
          <a:xfrm>
            <a:off x="3063240" y="4437124"/>
            <a:ext cx="2560321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«server»</a:t>
            </a:r>
          </a:p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Database Server</a:t>
            </a:r>
          </a:p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(School DB)</a:t>
            </a:r>
          </a:p>
        </p:txBody>
      </p:sp>
      <p:sp>
        <p:nvSpPr>
          <p:cNvPr id="303" name="Shape 16"/>
          <p:cNvSpPr/>
          <p:nvPr/>
        </p:nvSpPr>
        <p:spPr>
          <a:xfrm>
            <a:off x="6309359" y="4206240"/>
            <a:ext cx="2651761" cy="1005841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" name="Text 17"/>
          <p:cNvSpPr txBox="1"/>
          <p:nvPr/>
        </p:nvSpPr>
        <p:spPr>
          <a:xfrm>
            <a:off x="6355079" y="4437124"/>
            <a:ext cx="2560321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«server»</a:t>
            </a:r>
          </a:p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File Storage Server</a:t>
            </a:r>
          </a:p>
          <a:p>
            <a:pPr algn="ctr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(Educational Files)</a:t>
            </a:r>
          </a:p>
        </p:txBody>
      </p:sp>
      <p:sp>
        <p:nvSpPr>
          <p:cNvPr id="305" name="Shape 18"/>
          <p:cNvSpPr/>
          <p:nvPr/>
        </p:nvSpPr>
        <p:spPr>
          <a:xfrm>
            <a:off x="2926079" y="2148839"/>
            <a:ext cx="1463041" cy="1"/>
          </a:xfrm>
          <a:prstGeom prst="line">
            <a:avLst/>
          </a:prstGeom>
          <a:ln w="19050">
            <a:solidFill>
              <a:srgbClr val="5B587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19"/>
          <p:cNvSpPr txBox="1"/>
          <p:nvPr/>
        </p:nvSpPr>
        <p:spPr>
          <a:xfrm>
            <a:off x="2926080" y="1840321"/>
            <a:ext cx="146304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HTTPS</a:t>
            </a:r>
          </a:p>
        </p:txBody>
      </p:sp>
      <p:sp>
        <p:nvSpPr>
          <p:cNvPr id="307" name="Shape 20"/>
          <p:cNvSpPr/>
          <p:nvPr/>
        </p:nvSpPr>
        <p:spPr>
          <a:xfrm>
            <a:off x="8046719" y="2148839"/>
            <a:ext cx="1188721" cy="1"/>
          </a:xfrm>
          <a:prstGeom prst="line">
            <a:avLst/>
          </a:prstGeom>
          <a:ln w="19050">
            <a:solidFill>
              <a:srgbClr val="5B587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21"/>
          <p:cNvSpPr txBox="1"/>
          <p:nvPr/>
        </p:nvSpPr>
        <p:spPr>
          <a:xfrm>
            <a:off x="8046719" y="1840321"/>
            <a:ext cx="118872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REST API</a:t>
            </a:r>
          </a:p>
        </p:txBody>
      </p:sp>
      <p:sp>
        <p:nvSpPr>
          <p:cNvPr id="309" name="Shape 22"/>
          <p:cNvSpPr/>
          <p:nvPr/>
        </p:nvSpPr>
        <p:spPr>
          <a:xfrm>
            <a:off x="4434840" y="3749040"/>
            <a:ext cx="1" cy="457201"/>
          </a:xfrm>
          <a:prstGeom prst="line">
            <a:avLst/>
          </a:prstGeom>
          <a:ln w="19050">
            <a:solidFill>
              <a:srgbClr val="5B587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23"/>
          <p:cNvSpPr txBox="1"/>
          <p:nvPr/>
        </p:nvSpPr>
        <p:spPr>
          <a:xfrm>
            <a:off x="3977640" y="3824569"/>
            <a:ext cx="91440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SQL/JDBC</a:t>
            </a:r>
          </a:p>
        </p:txBody>
      </p:sp>
      <p:sp>
        <p:nvSpPr>
          <p:cNvPr id="311" name="Shape 24"/>
          <p:cNvSpPr/>
          <p:nvPr/>
        </p:nvSpPr>
        <p:spPr>
          <a:xfrm>
            <a:off x="7635240" y="3749040"/>
            <a:ext cx="1" cy="457201"/>
          </a:xfrm>
          <a:prstGeom prst="line">
            <a:avLst/>
          </a:prstGeom>
          <a:ln w="19050">
            <a:solidFill>
              <a:srgbClr val="5B5876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25"/>
          <p:cNvSpPr txBox="1"/>
          <p:nvPr/>
        </p:nvSpPr>
        <p:spPr>
          <a:xfrm>
            <a:off x="7223760" y="3824569"/>
            <a:ext cx="91440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File API</a:t>
            </a:r>
          </a:p>
        </p:txBody>
      </p:sp>
      <p:sp>
        <p:nvSpPr>
          <p:cNvPr id="313" name="Text 26"/>
          <p:cNvSpPr txBox="1"/>
          <p:nvPr/>
        </p:nvSpPr>
        <p:spPr>
          <a:xfrm>
            <a:off x="594360" y="5628592"/>
            <a:ext cx="1100023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sz="12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جداسازی مسئولیت‌ها: سرور برنامه (منطق) ، سرور پایگاه‌داده (داده ساختاری) ، سرور فایل (محتوای حجیم) و سرویس خارجی پیام‌رسانی.</a:t>
            </a:r>
          </a:p>
        </p:txBody>
      </p:sp>
      <p:sp>
        <p:nvSpPr>
          <p:cNvPr id="314" name="Text 27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مدیریت نیازمندی‌ها</a:t>
            </a:r>
          </a:p>
        </p:txBody>
      </p:sp>
      <p:sp>
        <p:nvSpPr>
          <p:cNvPr id="317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رویکرد سنتی در برابر رویکرد مدرن</a:t>
            </a:r>
          </a:p>
        </p:txBody>
      </p:sp>
      <p:sp>
        <p:nvSpPr>
          <p:cNvPr id="318" name="Shape 2"/>
          <p:cNvSpPr/>
          <p:nvPr/>
        </p:nvSpPr>
        <p:spPr>
          <a:xfrm>
            <a:off x="548640" y="1600200"/>
            <a:ext cx="5349241" cy="4297680"/>
          </a:xfrm>
          <a:prstGeom prst="roundRect">
            <a:avLst>
              <a:gd name="adj" fmla="val 2553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Text 3"/>
          <p:cNvSpPr txBox="1"/>
          <p:nvPr/>
        </p:nvSpPr>
        <p:spPr>
          <a:xfrm>
            <a:off x="868680" y="1854983"/>
            <a:ext cx="47091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6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رویکرد سنتی</a:t>
            </a:r>
          </a:p>
        </p:txBody>
      </p:sp>
      <p:sp>
        <p:nvSpPr>
          <p:cNvPr id="320" name="Text 4"/>
          <p:cNvSpPr txBox="1"/>
          <p:nvPr/>
        </p:nvSpPr>
        <p:spPr>
          <a:xfrm>
            <a:off x="868680" y="3488281"/>
            <a:ext cx="4709161" cy="1070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r" rtl="1">
              <a:lnSpc>
                <a:spcPct val="140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نیازمندی‌ها در ابتدای پروژه کامل مستند می‌شوند</a:t>
            </a:r>
          </a:p>
          <a:p>
            <a:pPr algn="r" rtl="1">
              <a:lnSpc>
                <a:spcPct val="140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هر تغییر نیازمند بازنگری رسمی اسناد و طراحی</a:t>
            </a:r>
          </a:p>
          <a:p>
            <a:pPr algn="r" rtl="1">
              <a:lnSpc>
                <a:spcPct val="140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فاصله زیاد بین سند SRS و نیاز واقعی کاربران</a:t>
            </a:r>
          </a:p>
          <a:p>
            <a:pPr algn="r" rtl="1">
              <a:lnSpc>
                <a:spcPct val="140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افزایش هزینه و تأخیر در تحویل پروژه</a:t>
            </a:r>
          </a:p>
        </p:txBody>
      </p:sp>
      <p:sp>
        <p:nvSpPr>
          <p:cNvPr id="321" name="Shape 5"/>
          <p:cNvSpPr/>
          <p:nvPr/>
        </p:nvSpPr>
        <p:spPr>
          <a:xfrm>
            <a:off x="6263640" y="1600200"/>
            <a:ext cx="5349241" cy="4297680"/>
          </a:xfrm>
          <a:prstGeom prst="roundRect">
            <a:avLst>
              <a:gd name="adj" fmla="val 2553"/>
            </a:avLst>
          </a:prstGeom>
          <a:solidFill>
            <a:srgbClr val="F0FDF4"/>
          </a:solidFill>
          <a:ln w="12700">
            <a:solidFill>
              <a:srgbClr val="86EFAC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" name="Text 6"/>
          <p:cNvSpPr txBox="1"/>
          <p:nvPr/>
        </p:nvSpPr>
        <p:spPr>
          <a:xfrm>
            <a:off x="6583679" y="1854983"/>
            <a:ext cx="47091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60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رویکرد مدرن (Agile)</a:t>
            </a:r>
          </a:p>
        </p:txBody>
      </p:sp>
      <p:sp>
        <p:nvSpPr>
          <p:cNvPr id="323" name="Text 7"/>
          <p:cNvSpPr txBox="1"/>
          <p:nvPr/>
        </p:nvSpPr>
        <p:spPr>
          <a:xfrm>
            <a:off x="6583679" y="3488281"/>
            <a:ext cx="4709161" cy="1070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r" rtl="1">
              <a:lnSpc>
                <a:spcPct val="140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نیازمندی‌ها به‌تدریج و بر اساس بازخورد تکامل می‌یابند</a:t>
            </a:r>
          </a:p>
          <a:p>
            <a:pPr algn="r" rtl="1">
              <a:lnSpc>
                <a:spcPct val="140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تغییرات بخش طبیعی فرآیند توسعه هستند</a:t>
            </a:r>
          </a:p>
          <a:p>
            <a:pPr algn="r" rtl="1">
              <a:lnSpc>
                <a:spcPct val="140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قابلیت ردیابی بالاتر بین نیاز، طراحی و آزمون</a:t>
            </a:r>
          </a:p>
          <a:p>
            <a:pPr algn="r" rtl="1">
              <a:lnSpc>
                <a:spcPct val="140000"/>
              </a:lnSpc>
              <a:defRPr sz="13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هماهنگی مستمر با نیاز واقعی ذی‌نفعان (دانش‌آموز، معلم، والدین)</a:t>
            </a:r>
          </a:p>
        </p:txBody>
      </p:sp>
      <p:sp>
        <p:nvSpPr>
          <p:cNvPr id="324" name="Text 8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 txBox="1"/>
          <p:nvPr/>
        </p:nvSpPr>
        <p:spPr>
          <a:xfrm>
            <a:off x="594360" y="36465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pc="100" sz="130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نمودار همکاری سرویس‌ها</a:t>
            </a:r>
          </a:p>
        </p:txBody>
      </p:sp>
      <p:sp>
        <p:nvSpPr>
          <p:cNvPr id="327" name="Text 1"/>
          <p:cNvSpPr txBox="1"/>
          <p:nvPr/>
        </p:nvSpPr>
        <p:spPr>
          <a:xfrm>
            <a:off x="594360" y="735304"/>
            <a:ext cx="11000232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28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سناریو: برگزاری یک کلاس آنلاین</a:t>
            </a:r>
          </a:p>
        </p:txBody>
      </p:sp>
      <p:sp>
        <p:nvSpPr>
          <p:cNvPr id="328" name="Shape 2"/>
          <p:cNvSpPr/>
          <p:nvPr/>
        </p:nvSpPr>
        <p:spPr>
          <a:xfrm>
            <a:off x="8046719" y="1691639"/>
            <a:ext cx="3520441" cy="914401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" name="Shape 3"/>
          <p:cNvSpPr/>
          <p:nvPr/>
        </p:nvSpPr>
        <p:spPr>
          <a:xfrm>
            <a:off x="10927080" y="1920239"/>
            <a:ext cx="457201" cy="457201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4"/>
          <p:cNvSpPr txBox="1"/>
          <p:nvPr/>
        </p:nvSpPr>
        <p:spPr>
          <a:xfrm>
            <a:off x="10972800" y="2004428"/>
            <a:ext cx="3657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1" name="Text 5"/>
          <p:cNvSpPr txBox="1"/>
          <p:nvPr/>
        </p:nvSpPr>
        <p:spPr>
          <a:xfrm>
            <a:off x="8275319" y="2029205"/>
            <a:ext cx="256032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ورود کاربر  →  Authentication Service</a:t>
            </a:r>
          </a:p>
        </p:txBody>
      </p:sp>
      <p:sp>
        <p:nvSpPr>
          <p:cNvPr id="332" name="Shape 6"/>
          <p:cNvSpPr/>
          <p:nvPr/>
        </p:nvSpPr>
        <p:spPr>
          <a:xfrm flipH="1">
            <a:off x="7845552" y="2057400"/>
            <a:ext cx="173737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Shape 7"/>
          <p:cNvSpPr/>
          <p:nvPr/>
        </p:nvSpPr>
        <p:spPr>
          <a:xfrm>
            <a:off x="4297679" y="1691639"/>
            <a:ext cx="3520442" cy="914401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" name="Shape 8"/>
          <p:cNvSpPr/>
          <p:nvPr/>
        </p:nvSpPr>
        <p:spPr>
          <a:xfrm>
            <a:off x="7178040" y="1920239"/>
            <a:ext cx="457201" cy="457201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9"/>
          <p:cNvSpPr txBox="1"/>
          <p:nvPr/>
        </p:nvSpPr>
        <p:spPr>
          <a:xfrm>
            <a:off x="7223760" y="2004428"/>
            <a:ext cx="3657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6" name="Text 10"/>
          <p:cNvSpPr txBox="1"/>
          <p:nvPr/>
        </p:nvSpPr>
        <p:spPr>
          <a:xfrm>
            <a:off x="4526279" y="1953005"/>
            <a:ext cx="256032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ایجاد/فعال‌سازی کلاس  →  Class Management Service</a:t>
            </a:r>
          </a:p>
        </p:txBody>
      </p:sp>
      <p:sp>
        <p:nvSpPr>
          <p:cNvPr id="337" name="Shape 11"/>
          <p:cNvSpPr/>
          <p:nvPr/>
        </p:nvSpPr>
        <p:spPr>
          <a:xfrm flipH="1">
            <a:off x="4096511" y="2057400"/>
            <a:ext cx="173737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Shape 12"/>
          <p:cNvSpPr/>
          <p:nvPr/>
        </p:nvSpPr>
        <p:spPr>
          <a:xfrm>
            <a:off x="548640" y="1691639"/>
            <a:ext cx="3520441" cy="914401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" name="Shape 13"/>
          <p:cNvSpPr/>
          <p:nvPr/>
        </p:nvSpPr>
        <p:spPr>
          <a:xfrm>
            <a:off x="3429000" y="1920239"/>
            <a:ext cx="457200" cy="457201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14"/>
          <p:cNvSpPr txBox="1"/>
          <p:nvPr/>
        </p:nvSpPr>
        <p:spPr>
          <a:xfrm>
            <a:off x="3474719" y="2004428"/>
            <a:ext cx="36576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1" name="Text 15"/>
          <p:cNvSpPr txBox="1"/>
          <p:nvPr/>
        </p:nvSpPr>
        <p:spPr>
          <a:xfrm>
            <a:off x="777239" y="1953005"/>
            <a:ext cx="2560322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اطلاع‌رسانی شروع کلاس  →  Notification Service</a:t>
            </a:r>
          </a:p>
        </p:txBody>
      </p:sp>
      <p:sp>
        <p:nvSpPr>
          <p:cNvPr id="342" name="Shape 16"/>
          <p:cNvSpPr/>
          <p:nvPr/>
        </p:nvSpPr>
        <p:spPr>
          <a:xfrm>
            <a:off x="8046719" y="2926079"/>
            <a:ext cx="3520441" cy="914401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" name="Shape 17"/>
          <p:cNvSpPr/>
          <p:nvPr/>
        </p:nvSpPr>
        <p:spPr>
          <a:xfrm>
            <a:off x="10927080" y="3154679"/>
            <a:ext cx="457201" cy="457201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18"/>
          <p:cNvSpPr txBox="1"/>
          <p:nvPr/>
        </p:nvSpPr>
        <p:spPr>
          <a:xfrm>
            <a:off x="10972800" y="3238868"/>
            <a:ext cx="3657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5" name="Text 19"/>
          <p:cNvSpPr txBox="1"/>
          <p:nvPr/>
        </p:nvSpPr>
        <p:spPr>
          <a:xfrm>
            <a:off x="8275319" y="3187445"/>
            <a:ext cx="2560322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تعامل زنده (چت، فایل)  →  Messaging Service</a:t>
            </a:r>
          </a:p>
        </p:txBody>
      </p:sp>
      <p:sp>
        <p:nvSpPr>
          <p:cNvPr id="346" name="Shape 20"/>
          <p:cNvSpPr/>
          <p:nvPr/>
        </p:nvSpPr>
        <p:spPr>
          <a:xfrm flipH="1">
            <a:off x="7845552" y="3291840"/>
            <a:ext cx="173737" cy="1828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Shape 21"/>
          <p:cNvSpPr/>
          <p:nvPr/>
        </p:nvSpPr>
        <p:spPr>
          <a:xfrm>
            <a:off x="4297679" y="2926079"/>
            <a:ext cx="3520442" cy="914401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8" name="Shape 22"/>
          <p:cNvSpPr/>
          <p:nvPr/>
        </p:nvSpPr>
        <p:spPr>
          <a:xfrm>
            <a:off x="7178040" y="3154679"/>
            <a:ext cx="457201" cy="457201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Text 23"/>
          <p:cNvSpPr txBox="1"/>
          <p:nvPr/>
        </p:nvSpPr>
        <p:spPr>
          <a:xfrm>
            <a:off x="7223760" y="3238868"/>
            <a:ext cx="3657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50" name="Text 24"/>
          <p:cNvSpPr txBox="1"/>
          <p:nvPr/>
        </p:nvSpPr>
        <p:spPr>
          <a:xfrm>
            <a:off x="4526279" y="3263645"/>
            <a:ext cx="256032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ارائه محتوای آموزشی  →  Content Service</a:t>
            </a:r>
          </a:p>
        </p:txBody>
      </p:sp>
      <p:sp>
        <p:nvSpPr>
          <p:cNvPr id="351" name="Shape 25"/>
          <p:cNvSpPr/>
          <p:nvPr/>
        </p:nvSpPr>
        <p:spPr>
          <a:xfrm flipH="1">
            <a:off x="4096511" y="3291840"/>
            <a:ext cx="173737" cy="1828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Shape 26"/>
          <p:cNvSpPr/>
          <p:nvPr/>
        </p:nvSpPr>
        <p:spPr>
          <a:xfrm>
            <a:off x="548640" y="2926079"/>
            <a:ext cx="3520441" cy="914401"/>
          </a:xfrm>
          <a:prstGeom prst="roundRect">
            <a:avLst>
              <a:gd name="adj" fmla="val 12000"/>
            </a:avLst>
          </a:prstGeom>
          <a:solidFill>
            <a:srgbClr val="F3E8FF"/>
          </a:solidFill>
          <a:ln w="12700">
            <a:solidFill>
              <a:srgbClr val="D8D4F0"/>
            </a:solidFill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3" name="Shape 27"/>
          <p:cNvSpPr/>
          <p:nvPr/>
        </p:nvSpPr>
        <p:spPr>
          <a:xfrm>
            <a:off x="3429000" y="3154679"/>
            <a:ext cx="457200" cy="457201"/>
          </a:xfrm>
          <a:prstGeom prst="ellipse">
            <a:avLst/>
          </a:prstGeom>
          <a:solidFill>
            <a:srgbClr val="4338C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28"/>
          <p:cNvSpPr txBox="1"/>
          <p:nvPr/>
        </p:nvSpPr>
        <p:spPr>
          <a:xfrm>
            <a:off x="3474719" y="3238868"/>
            <a:ext cx="36576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55" name="Text 29"/>
          <p:cNvSpPr txBox="1"/>
          <p:nvPr/>
        </p:nvSpPr>
        <p:spPr>
          <a:xfrm>
            <a:off x="777239" y="3187445"/>
            <a:ext cx="2560322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b="1" sz="1100">
                <a:solidFill>
                  <a:srgbClr val="1E1B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آزمون و تکلیف پایانی  →  Assessment Service</a:t>
            </a:r>
          </a:p>
        </p:txBody>
      </p:sp>
      <p:sp>
        <p:nvSpPr>
          <p:cNvPr id="356" name="Shape 30"/>
          <p:cNvSpPr/>
          <p:nvPr/>
        </p:nvSpPr>
        <p:spPr>
          <a:xfrm>
            <a:off x="548640" y="4206240"/>
            <a:ext cx="11091672" cy="548641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7" name="Text 31"/>
          <p:cNvSpPr txBox="1"/>
          <p:nvPr/>
        </p:nvSpPr>
        <p:spPr>
          <a:xfrm>
            <a:off x="594360" y="4342290"/>
            <a:ext cx="1100023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استقلال سرویس‌ها + ارتباط رویدادمحور  →  در صورت اختلال یک سرویس، سایر سرویس‌ها همچنان فعال باقی می‌مانند.</a:t>
            </a:r>
          </a:p>
        </p:txBody>
      </p:sp>
      <p:sp>
        <p:nvSpPr>
          <p:cNvPr id="358" name="Text 32"/>
          <p:cNvSpPr txBox="1"/>
          <p:nvPr/>
        </p:nvSpPr>
        <p:spPr>
          <a:xfrm>
            <a:off x="11475719" y="6491477"/>
            <a:ext cx="3657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5B58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0"/>
          <p:cNvSpPr/>
          <p:nvPr/>
        </p:nvSpPr>
        <p:spPr>
          <a:xfrm>
            <a:off x="-1828800" y="-2286001"/>
            <a:ext cx="5486400" cy="5486401"/>
          </a:xfrm>
          <a:prstGeom prst="ellipse">
            <a:avLst/>
          </a:prstGeom>
          <a:solidFill>
            <a:srgbClr val="6D28D9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 1"/>
          <p:cNvSpPr txBox="1"/>
          <p:nvPr/>
        </p:nvSpPr>
        <p:spPr>
          <a:xfrm>
            <a:off x="777239" y="704732"/>
            <a:ext cx="10634473" cy="510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جمع‌بندی نهایی</a:t>
            </a:r>
          </a:p>
        </p:txBody>
      </p:sp>
      <p:sp>
        <p:nvSpPr>
          <p:cNvPr id="362" name="Shape 2"/>
          <p:cNvSpPr/>
          <p:nvPr/>
        </p:nvSpPr>
        <p:spPr>
          <a:xfrm>
            <a:off x="1371600" y="1828800"/>
            <a:ext cx="9445753" cy="868681"/>
          </a:xfrm>
          <a:prstGeom prst="roundRect">
            <a:avLst>
              <a:gd name="adj" fmla="val 12632"/>
            </a:avLst>
          </a:prstGeom>
          <a:solidFill>
            <a:srgbClr val="2B2470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3" name="Shape 3"/>
          <p:cNvSpPr/>
          <p:nvPr/>
        </p:nvSpPr>
        <p:spPr>
          <a:xfrm>
            <a:off x="1600200" y="2048255"/>
            <a:ext cx="420624" cy="42062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4"/>
          <p:cNvSpPr txBox="1"/>
          <p:nvPr/>
        </p:nvSpPr>
        <p:spPr>
          <a:xfrm>
            <a:off x="1645920" y="2114156"/>
            <a:ext cx="32918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5" name="Text 5"/>
          <p:cNvSpPr txBox="1"/>
          <p:nvPr/>
        </p:nvSpPr>
        <p:spPr>
          <a:xfrm>
            <a:off x="2240279" y="2124870"/>
            <a:ext cx="832104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معماری ترکیبی (کلاینت–سرور + لایه‌ای + SOA + رویدادمحور) انتخاب اصلی سامانه است</a:t>
            </a:r>
          </a:p>
        </p:txBody>
      </p:sp>
      <p:sp>
        <p:nvSpPr>
          <p:cNvPr id="366" name="Shape 6"/>
          <p:cNvSpPr/>
          <p:nvPr/>
        </p:nvSpPr>
        <p:spPr>
          <a:xfrm>
            <a:off x="1371600" y="2862072"/>
            <a:ext cx="9445753" cy="868681"/>
          </a:xfrm>
          <a:prstGeom prst="roundRect">
            <a:avLst>
              <a:gd name="adj" fmla="val 12632"/>
            </a:avLst>
          </a:prstGeom>
          <a:solidFill>
            <a:srgbClr val="2B2470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" name="Shape 7"/>
          <p:cNvSpPr/>
          <p:nvPr/>
        </p:nvSpPr>
        <p:spPr>
          <a:xfrm>
            <a:off x="1600200" y="3081527"/>
            <a:ext cx="420624" cy="42062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8"/>
          <p:cNvSpPr txBox="1"/>
          <p:nvPr/>
        </p:nvSpPr>
        <p:spPr>
          <a:xfrm>
            <a:off x="1645920" y="3147428"/>
            <a:ext cx="32918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9" name="Text 9"/>
          <p:cNvSpPr txBox="1"/>
          <p:nvPr/>
        </p:nvSpPr>
        <p:spPr>
          <a:xfrm>
            <a:off x="2240279" y="3158142"/>
            <a:ext cx="832104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توسعه بر پایه Agile، Scrum و DevOps برای سازگاری با تغییرات مداوم آموزشی</a:t>
            </a:r>
          </a:p>
        </p:txBody>
      </p:sp>
      <p:sp>
        <p:nvSpPr>
          <p:cNvPr id="370" name="Shape 10"/>
          <p:cNvSpPr/>
          <p:nvPr/>
        </p:nvSpPr>
        <p:spPr>
          <a:xfrm>
            <a:off x="1371600" y="3895344"/>
            <a:ext cx="9445753" cy="868681"/>
          </a:xfrm>
          <a:prstGeom prst="roundRect">
            <a:avLst>
              <a:gd name="adj" fmla="val 12632"/>
            </a:avLst>
          </a:prstGeom>
          <a:solidFill>
            <a:srgbClr val="2B2470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1" name="Shape 11"/>
          <p:cNvSpPr/>
          <p:nvPr/>
        </p:nvSpPr>
        <p:spPr>
          <a:xfrm>
            <a:off x="1600200" y="4114800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12"/>
          <p:cNvSpPr txBox="1"/>
          <p:nvPr/>
        </p:nvSpPr>
        <p:spPr>
          <a:xfrm>
            <a:off x="1645920" y="4180700"/>
            <a:ext cx="32918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3" name="Text 13"/>
          <p:cNvSpPr txBox="1"/>
          <p:nvPr/>
        </p:nvSpPr>
        <p:spPr>
          <a:xfrm>
            <a:off x="2240279" y="4191414"/>
            <a:ext cx="832104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استقرار روی زیرساخت ابری (Cloud Native) برای مقیاس‌پذیری و دسترس‌پذیری بالا</a:t>
            </a:r>
          </a:p>
        </p:txBody>
      </p:sp>
      <p:sp>
        <p:nvSpPr>
          <p:cNvPr id="374" name="Shape 14"/>
          <p:cNvSpPr/>
          <p:nvPr/>
        </p:nvSpPr>
        <p:spPr>
          <a:xfrm>
            <a:off x="1371600" y="4928615"/>
            <a:ext cx="9445753" cy="868681"/>
          </a:xfrm>
          <a:prstGeom prst="roundRect">
            <a:avLst>
              <a:gd name="adj" fmla="val 12632"/>
            </a:avLst>
          </a:prstGeom>
          <a:solidFill>
            <a:srgbClr val="2B2470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4338CA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5" name="Shape 15"/>
          <p:cNvSpPr/>
          <p:nvPr/>
        </p:nvSpPr>
        <p:spPr>
          <a:xfrm>
            <a:off x="1600200" y="5148071"/>
            <a:ext cx="420624" cy="420625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16"/>
          <p:cNvSpPr txBox="1"/>
          <p:nvPr/>
        </p:nvSpPr>
        <p:spPr>
          <a:xfrm>
            <a:off x="1645920" y="5213972"/>
            <a:ext cx="32918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E1B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77" name="Text 17"/>
          <p:cNvSpPr txBox="1"/>
          <p:nvPr/>
        </p:nvSpPr>
        <p:spPr>
          <a:xfrm>
            <a:off x="2240279" y="5224686"/>
            <a:ext cx="832104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 rtl="1"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۱۰ سرویس مستقل با پایگاه‌داده اختصاصی، مطابق اصول SOA</a:t>
            </a:r>
          </a:p>
        </p:txBody>
      </p:sp>
      <p:sp>
        <p:nvSpPr>
          <p:cNvPr id="378" name="Text 18"/>
          <p:cNvSpPr txBox="1"/>
          <p:nvPr/>
        </p:nvSpPr>
        <p:spPr>
          <a:xfrm>
            <a:off x="777239" y="6160535"/>
            <a:ext cx="10634473" cy="29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rtl="1">
              <a:defRPr i="1" sz="13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نتیجه: سامانه‌ای پایدار، مقیاس‌پذیر و آماده برای توسعه‌های آینده آموزش الکترونیکی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